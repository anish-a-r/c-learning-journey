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75" r:id="rId31"/>
    <p:sldId id="27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notesMaster" Target="notesMasters/notesMaster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tags" Target="../tags/tag3.xml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>
            <p:custDataLst>
              <p:tags r:id="rId2"/>
            </p:custDataLst>
          </p:nvPr>
        </p:nvSpPr>
        <p:spPr>
          <a:xfrm>
            <a:off x="635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 descr="背景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lum bright="18000" contrast="24000"/>
          </a:blip>
          <a:stretch>
            <a:fillRect/>
          </a:stretch>
        </p:blipFill>
        <p:spPr>
          <a:xfrm>
            <a:off x="0" y="-56069"/>
            <a:ext cx="12192000" cy="691343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bright="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6069"/>
            <a:ext cx="12192000" cy="6913434"/>
          </a:xfrm>
          <a:prstGeom prst="rect">
            <a:avLst/>
          </a:prstGeom>
        </p:spPr>
      </p:pic>
      <p:cxnSp>
        <p:nvCxnSpPr>
          <p:cNvPr id="32" name="直接连接符 31"/>
          <p:cNvCxnSpPr/>
          <p:nvPr userDrawn="1">
            <p:custDataLst>
              <p:tags r:id="rId7"/>
            </p:custDataLst>
          </p:nvPr>
        </p:nvCxnSpPr>
        <p:spPr>
          <a:xfrm>
            <a:off x="721895" y="5955632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" name="直接连接符 33"/>
          <p:cNvCxnSpPr/>
          <p:nvPr userDrawn="1">
            <p:custDataLst>
              <p:tags r:id="rId8"/>
            </p:custDataLst>
          </p:nvPr>
        </p:nvCxnSpPr>
        <p:spPr>
          <a:xfrm flipH="1">
            <a:off x="6902116" y="5987716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燕尾形 56"/>
          <p:cNvSpPr/>
          <p:nvPr userDrawn="1">
            <p:custDataLst>
              <p:tags r:id="rId9"/>
            </p:custDataLst>
          </p:nvPr>
        </p:nvSpPr>
        <p:spPr>
          <a:xfrm>
            <a:off x="1123823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8" name="燕尾形 57"/>
          <p:cNvSpPr/>
          <p:nvPr userDrawn="1">
            <p:custDataLst>
              <p:tags r:id="rId10"/>
            </p:custDataLst>
          </p:nvPr>
        </p:nvSpPr>
        <p:spPr>
          <a:xfrm>
            <a:off x="1139190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11"/>
            </p:custDataLst>
          </p:nvPr>
        </p:nvSpPr>
        <p:spPr>
          <a:xfrm>
            <a:off x="5291323" y="5744812"/>
            <a:ext cx="1609354" cy="421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n-lt"/>
              </a:defRPr>
            </a:lvl1pPr>
          </a:lstStyle>
          <a:p>
            <a:pPr lvl="0" algn="ctr"/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type="body" idx="2" hasCustomPrompt="1"/>
            <p:custDataLst>
              <p:tags r:id="rId12"/>
            </p:custDataLst>
          </p:nvPr>
        </p:nvSpPr>
        <p:spPr>
          <a:xfrm>
            <a:off x="1929130" y="3429000"/>
            <a:ext cx="8334375" cy="4329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800" b="0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3"/>
            </p:custDataLst>
          </p:nvPr>
        </p:nvSpPr>
        <p:spPr>
          <a:xfrm>
            <a:off x="1266825" y="136525"/>
            <a:ext cx="9679940" cy="31261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800" b="0" i="1" u="none" strike="noStrike" kern="1200" cap="none" spc="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lt"/>
              </a:defRPr>
            </a:lvl1pPr>
          </a:lstStyle>
          <a:p>
            <a:pPr lvl="0" algn="ctr">
              <a:lnSpc>
                <a:spcPct val="100000"/>
              </a:lnSpc>
            </a:pPr>
            <a:r>
              <a:rPr>
                <a:sym typeface="+mn-ea"/>
              </a:rPr>
              <a:t>Click to add title</a:t>
            </a:r>
            <a:endParaRPr lang="en-US" dirty="0">
              <a:latin typeface="+mj-lt"/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3"/>
            </p:custDataLst>
          </p:nvPr>
        </p:nvSpPr>
        <p:spPr>
          <a:xfrm>
            <a:off x="0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cxnSp>
        <p:nvCxnSpPr>
          <p:cNvPr id="7" name="直接连接符 6"/>
          <p:cNvCxnSpPr/>
          <p:nvPr userDrawn="1">
            <p:custDataLst>
              <p:tags r:id="rId4"/>
            </p:custDataLst>
          </p:nvPr>
        </p:nvCxnSpPr>
        <p:spPr>
          <a:xfrm flipV="1">
            <a:off x="583974" y="0"/>
            <a:ext cx="0" cy="644044"/>
          </a:xfrm>
          <a:prstGeom prst="line">
            <a:avLst/>
          </a:prstGeom>
          <a:noFill/>
          <a:ln w="184150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直接连接符 8"/>
          <p:cNvCxnSpPr/>
          <p:nvPr userDrawn="1">
            <p:custDataLst>
              <p:tags r:id="rId5"/>
            </p:custDataLst>
          </p:nvPr>
        </p:nvCxnSpPr>
        <p:spPr>
          <a:xfrm flipV="1">
            <a:off x="405554" y="0"/>
            <a:ext cx="0" cy="805603"/>
          </a:xfrm>
          <a:prstGeom prst="line">
            <a:avLst/>
          </a:prstGeom>
          <a:noFill/>
          <a:ln w="184150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13" name="标题占位符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"/>
            <p:custDataLst>
              <p:tags r:id="rId10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bg1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en-US" sz="1800" b="0" i="0" u="none" strike="noStrike" kern="1200" cap="none" spc="0" normalizeH="0" baseline="0" dirty="0">
          <a:ln>
            <a:noFill/>
            <a:prstDash val="sysDot"/>
          </a:ln>
          <a:solidFill>
            <a:srgbClr val="FFFFFF"/>
          </a:solidFill>
          <a:uFillTx/>
          <a:latin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>
          <a:xfrm>
            <a:off x="5291323" y="5744812"/>
            <a:ext cx="1609354" cy="421640"/>
          </a:xfrm>
        </p:spPr>
        <p:txBody>
          <a:bodyPr/>
          <a:lstStyle/>
          <a:p>
            <a:r>
              <a:rPr lang="en-US"/>
              <a:t>ANISH A R</a:t>
            </a:r>
            <a:endParaRPr lang="en-US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1266825" y="1866265"/>
            <a:ext cx="9679940" cy="3126105"/>
          </a:xfrm>
        </p:spPr>
        <p:txBody>
          <a:bodyPr anchor="t" anchorCtr="0"/>
          <a:lstStyle/>
          <a:p>
            <a:r>
              <a:rPr lang="en-US" dirty="0"/>
              <a:t>PRINTF STATEMENT</a:t>
            </a:r>
            <a:endParaRPr lang="en-US" dirty="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PRINTF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The printf function in C uses a format string and format specifiers (placeholders starting with %) to output structured text.</a:t>
            </a:r>
            <a:endParaRPr lang="en-US" altLang="en-US" sz="2400"/>
          </a:p>
          <a:p>
            <a:r>
              <a:rPr lang="en-US" altLang="en-US" sz="2400"/>
              <a:t>Syntax: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200"/>
              <a:t>        </a:t>
            </a:r>
            <a:r>
              <a:rPr lang="en-US" altLang="en-US"/>
              <a:t> printf("literal_text %[flags][width][.precision][length_modifier]specifier literal_text", variable1,...);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</a:t>
            </a:r>
            <a:endParaRPr lang="en-US" altLang="en-US" sz="2400"/>
          </a:p>
          <a:p>
            <a:pPr marL="0" indent="457200">
              <a:buNone/>
            </a:pP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 The Core Container Elements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printf(...);: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This is a function call. It must always end with a semicolon in C.</a:t>
            </a:r>
            <a:endParaRPr lang="en-US" altLang="en-US" sz="2400"/>
          </a:p>
          <a:p>
            <a:r>
              <a:rPr lang="en-US" altLang="en-US" sz="2400"/>
              <a:t>Double Quotes "":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Everything inside the double quotes is the Format String. It tells printf exactly how the output should look</a:t>
            </a:r>
            <a:endParaRPr lang="en-US" altLang="en-US" sz="2400"/>
          </a:p>
          <a:p>
            <a:r>
              <a:rPr lang="en-US" altLang="en-US" sz="2400"/>
              <a:t>.Commas ,: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 Commas separate the format string from the variables (attributes) you want to print.</a:t>
            </a:r>
            <a:endParaRPr lang="en-US" altLang="en-US" sz="2400"/>
          </a:p>
          <a:p>
            <a:r>
              <a:rPr lang="en-US" altLang="en-US" sz="2400"/>
              <a:t>Variables/Attributes: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 These are the actual values, expressions, or variables passed into the placeholders in sequential order from left to right.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Inside the Format Specifier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sz="2400"/>
              <a:t>The format specifiers are </a:t>
            </a:r>
            <a:r>
              <a:rPr lang="en-US" altLang="en-US" sz="2400"/>
              <a:t>%[flags][width][.precision][length]specifier.</a:t>
            </a:r>
            <a:endParaRPr lang="en-US" altLang="en-US" sz="2400"/>
          </a:p>
          <a:p>
            <a:r>
              <a:rPr lang="en-US" altLang="en-US" sz="2400"/>
              <a:t>Any placeholder must start with % and must end with a specifier. Everything in between is optional but must follow this exact order.</a:t>
            </a:r>
            <a:endParaRPr lang="en-US" altLang="en-US" sz="2400"/>
          </a:p>
          <a:p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Flags (Alters Layout Style)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sz="2400"/>
              <a:t>There are many types of flags some are listed below.</a:t>
            </a:r>
            <a:endParaRPr lang="en-US" sz="2400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The - (Minus) Flag: Left-Alignment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By default, printf() right-aligns output and pads empty space to the left. The - flag forces the output to be glued to the left edge of your designated width field.</a:t>
            </a:r>
            <a:endParaRPr lang="en-US" altLang="en-US" sz="2400"/>
          </a:p>
          <a:p>
            <a:r>
              <a:rPr lang="en-US" altLang="en-US" sz="2400"/>
              <a:t>Mechanical Action: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Pads spaces ( ) to the right of the value instead of the left.</a:t>
            </a:r>
            <a:endParaRPr lang="en-US" altLang="en-US" sz="2400"/>
          </a:p>
          <a:p>
            <a:r>
              <a:rPr lang="en-US" altLang="en-US" sz="2400"/>
              <a:t>Prerequisite: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It requires a defined field width to have any visible effect. If the data is wider than the width, no padding occurs.</a:t>
            </a:r>
            <a:endParaRPr lang="en-US" altLang="en-US" sz="2400"/>
          </a:p>
          <a:p>
            <a:r>
              <a:rPr lang="en-US" altLang="en-US" sz="2400"/>
              <a:t>Override Power: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It completely deactivates and overrides the 0 (zero-pad) flag if both are present.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anchor="ctr" anchorCtr="0"/>
          <a:p>
            <a:pPr marL="0" indent="457200">
              <a:buNone/>
            </a:pPr>
            <a:r>
              <a:rPr lang="en-US" altLang="en-US" sz="2400"/>
              <a:t>printf("|%10d|\n", 85);   // Default:  |        85|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printf("|%-10d|\n", 85);  // Flagged:  |85        |</a:t>
            </a:r>
            <a:endParaRPr lang="en-US" altLang="en-US" sz="2400"/>
          </a:p>
          <a:p>
            <a:pPr marL="0" indent="457200">
              <a:buNone/>
            </a:pP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The + (Plus) Flag: Forced Sign Display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By default, C only prints a sign symbol for negative numbers (-). Positive numbers get no sign symbol. </a:t>
            </a:r>
            <a:endParaRPr lang="en-US" altLang="en-US" sz="2400"/>
          </a:p>
          <a:p>
            <a:r>
              <a:rPr lang="en-US" altLang="en-US" sz="2400"/>
              <a:t>The + flag forces a sign to appear no matter what.</a:t>
            </a:r>
            <a:endParaRPr lang="en-US" altLang="en-US" sz="2400"/>
          </a:p>
          <a:p>
            <a:r>
              <a:rPr lang="en-US" altLang="en-US" sz="2400"/>
              <a:t>Mechanical Action: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 Attaches a + prefix to positive numbers and a - prefix to negative numbers.</a:t>
            </a:r>
            <a:endParaRPr lang="en-US" altLang="en-US" sz="2400"/>
          </a:p>
          <a:p>
            <a:r>
              <a:rPr lang="en-US" altLang="en-US" sz="2400"/>
              <a:t>Supported Specifiers: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 Works with signed numeric types: %d, %i, %f, %e, %E, %g, %G.</a:t>
            </a:r>
            <a:endParaRPr lang="en-US" altLang="en-US" sz="2400"/>
          </a:p>
          <a:p>
            <a:r>
              <a:rPr lang="en-US" altLang="en-US" sz="2400"/>
              <a:t>Override Power: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  It completely deactivates and overrides the   (space) flag if both are present.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anchor="ctr" anchorCtr="0"/>
          <a:p>
            <a:pPr marL="0" indent="0" algn="ctr">
              <a:buNone/>
            </a:pPr>
            <a:r>
              <a:rPr lang="en-US" altLang="en-US" sz="2400"/>
              <a:t>printf("|%+d|\n", 42);   // Positive: |+42|</a:t>
            </a:r>
            <a:endParaRPr lang="en-US" altLang="en-US" sz="2400"/>
          </a:p>
          <a:p>
            <a:pPr marL="0" indent="0" algn="ctr">
              <a:buNone/>
            </a:pPr>
            <a:r>
              <a:rPr lang="en-US" altLang="en-US" sz="2400"/>
              <a:t>printf("|%+d|\n", -42);  // Negative: |-42|</a:t>
            </a:r>
            <a:endParaRPr lang="en-US" altLang="en-US" sz="2400"/>
          </a:p>
          <a:p>
            <a:pPr marL="0" indent="0" algn="ctr">
              <a:buNone/>
            </a:pP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The “ ”  (Space) Flag: Balanced Sign Alignment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This flag reserves a blank space for positive numbers where a minus sign would normally go. It is designed to keep columns of positive and negative numbers perfectly aligned in math tables.</a:t>
            </a:r>
            <a:endParaRPr lang="en-US" altLang="en-US" sz="2400"/>
          </a:p>
          <a:p>
            <a:r>
              <a:rPr lang="en-US" altLang="en-US" sz="2400"/>
              <a:t>Mechanical Action: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  Prepend a single blank space ( ) to positive numbers. Negative numbers receive their normal minus sign (-) and ignore this space.</a:t>
            </a:r>
            <a:endParaRPr lang="en-US" altLang="en-US" sz="2400"/>
          </a:p>
          <a:p>
            <a:r>
              <a:rPr lang="en-US" altLang="en-US" sz="2400"/>
              <a:t>Conflict Rule: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  Ignored if the + flag is also specified in the same token.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anchor="ctr" anchorCtr="0"/>
          <a:p>
            <a:pPr marL="0" indent="0" algn="ctr">
              <a:buNone/>
            </a:pPr>
            <a:r>
              <a:rPr lang="en-US" altLang="en-US"/>
              <a:t>printf("|% d|\n", 55);   // Positive: | 55| (Notice the hidden space anchor)</a:t>
            </a:r>
            <a:endParaRPr lang="en-US" altLang="en-US"/>
          </a:p>
          <a:p>
            <a:pPr marL="0" indent="0" algn="ctr">
              <a:buNone/>
            </a:pPr>
            <a:r>
              <a:rPr lang="en-US" altLang="en-US"/>
              <a:t>printf("|% d|\n", -55);               // Negative: |-55| (No extra space added)                                                               </a:t>
            </a:r>
            <a:endParaRPr lang="en-US" altLang="en-US"/>
          </a:p>
          <a:p>
            <a:pPr marL="0" indent="0" algn="ctr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The 0 (Zero) Flag: Leading Zero Padding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Instead of padding empty space with standard blank characters, this flag fills the field width with zeros.</a:t>
            </a:r>
            <a:endParaRPr lang="en-US" altLang="en-US" sz="2400"/>
          </a:p>
          <a:p>
            <a:r>
              <a:rPr lang="en-US" altLang="en-US" sz="2400"/>
              <a:t>Mechanical Action: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Intercepts the empty padding field and fills it with 0.</a:t>
            </a:r>
            <a:endParaRPr lang="en-US" altLang="en-US" sz="2400"/>
          </a:p>
          <a:p>
            <a:r>
              <a:rPr lang="en-US" altLang="en-US" sz="2400"/>
              <a:t>Placement Rule: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The zeros are intelligently placed after any sign symbol (- or +) or base prefix (0x), right before the actual digits.</a:t>
            </a:r>
            <a:endParaRPr lang="en-US" altLang="en-US" sz="2400"/>
          </a:p>
          <a:p>
            <a:r>
              <a:rPr lang="en-US" altLang="en-US" sz="2400"/>
              <a:t>Deactivation Rules: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   Deactivated if the - flag is present.Deactivated for integer specifiers (%d, %i, %x, etc.) if an explicit precision parameter is defined (e.g., %05.3d).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anchor="ctr" anchorCtr="0"/>
          <a:p>
            <a:pPr marL="0" indent="0" algn="ctr">
              <a:buNone/>
            </a:pPr>
            <a:r>
              <a:rPr lang="en-US" altLang="en-US" sz="2400"/>
              <a:t>printf("|%06d|\n", 7);                                                           // Standard: |000007|</a:t>
            </a:r>
            <a:endParaRPr lang="en-US" altLang="en-US" sz="2400"/>
          </a:p>
          <a:p>
            <a:pPr marL="0" indent="0" algn="ctr">
              <a:buNone/>
            </a:pPr>
            <a:r>
              <a:rPr lang="en-US" altLang="en-US" sz="2400"/>
              <a:t>printf("|%+06d|\n", 7);    // Packed:   |+00007| (Sign comes BEFORE the zeros)</a:t>
            </a:r>
            <a:endParaRPr lang="en-US" altLang="en-US" sz="2400"/>
          </a:p>
          <a:p>
            <a:pPr marL="0" indent="0" algn="ctr">
              <a:buNone/>
            </a:pP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The # (Hash/Alternative) Flag: Base Context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This flag modifies the output structure based on the specific type specifier being evaluated. It is a chameleon flag that behaves differently depending on the data type.</a:t>
            </a:r>
            <a:endParaRPr lang="en-US" altLang="en-US" sz="2400"/>
          </a:p>
          <a:p>
            <a:r>
              <a:rPr lang="en-US" altLang="en-US" sz="2400"/>
              <a:t>With %o (Octal):</a:t>
            </a:r>
            <a:endParaRPr lang="en-US" altLang="en-US" sz="2400"/>
          </a:p>
          <a:p>
            <a:pPr marL="457200" lvl="1" indent="457200">
              <a:buNone/>
            </a:pPr>
            <a:r>
              <a:rPr lang="en-US" altLang="en-US" sz="2400"/>
              <a:t>Forces the output string to begin with a leading zero (0) if it doesn't already have one.</a:t>
            </a:r>
            <a:endParaRPr lang="en-US" altLang="en-US" sz="2400"/>
          </a:p>
          <a:p>
            <a:r>
              <a:rPr lang="en-US" altLang="en-US" sz="2400"/>
              <a:t>With %x or %X (Hexadecimal): </a:t>
            </a:r>
            <a:endParaRPr lang="en-US" altLang="en-US" sz="2400"/>
          </a:p>
          <a:p>
            <a:pPr marL="457200" lvl="1" indent="457200">
              <a:buNone/>
            </a:pPr>
            <a:r>
              <a:rPr lang="en-US" altLang="en-US" sz="2400"/>
              <a:t>Prepends 0x or 0X to non-zero values.</a:t>
            </a:r>
            <a:endParaRPr lang="en-US" altLang="en-US" sz="2400"/>
          </a:p>
          <a:p>
            <a:r>
              <a:rPr lang="en-US" altLang="en-US" sz="2400"/>
              <a:t>With Floating Points (%f, %e, %E, %g): </a:t>
            </a:r>
            <a:endParaRPr lang="en-US" altLang="en-US" sz="2400"/>
          </a:p>
          <a:p>
            <a:pPr marL="457200" lvl="1" indent="457200">
              <a:buNone/>
            </a:pPr>
            <a:r>
              <a:rPr lang="en-US" altLang="en-US" sz="2400"/>
              <a:t>Forces a decimal point (.) to display even if no fractional digits exist. It also prevents trailing zeros from being stripped away when using %g.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anchor="ctr" anchorCtr="0"/>
          <a:p>
            <a:pPr marL="0" indent="0" algn="ctr">
              <a:buNone/>
            </a:pPr>
            <a:r>
              <a:rPr lang="en-US" altLang="en-US" sz="2400"/>
              <a:t>printf("%x\n", 255);                                                        // Output: ff</a:t>
            </a:r>
            <a:endParaRPr lang="en-US" altLang="en-US" sz="2400"/>
          </a:p>
          <a:p>
            <a:pPr marL="0" indent="0" algn="ctr">
              <a:buNone/>
            </a:pPr>
            <a:r>
              <a:rPr lang="en-US" altLang="en-US" sz="2400"/>
              <a:t>printf("%#x\n", 255);                                                   // Output: 0xff</a:t>
            </a:r>
            <a:endParaRPr lang="en-US" altLang="en-US" sz="2400"/>
          </a:p>
          <a:p>
            <a:pPr marL="0" indent="0" algn="ctr">
              <a:buNone/>
            </a:pPr>
            <a:r>
              <a:rPr lang="en-US" altLang="en-US" sz="2400"/>
              <a:t>printf("%.0f\n", 3.0);                                                        // Output: 3</a:t>
            </a:r>
            <a:endParaRPr lang="en-US" altLang="en-US" sz="2400"/>
          </a:p>
          <a:p>
            <a:pPr marL="0" indent="0" algn="ctr">
              <a:buNone/>
            </a:pPr>
            <a:r>
              <a:rPr lang="en-US" altLang="en-US" sz="2400"/>
              <a:t>printf("%#.0f\n", 3.0); // Output: 3. (Decimal point is forced to stay)</a:t>
            </a:r>
            <a:endParaRPr lang="en-US" altLang="en-US" sz="2400"/>
          </a:p>
          <a:p>
            <a:pPr marL="0" indent="0" algn="ctr">
              <a:buNone/>
            </a:pP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The ' (Apostrophe) Flag: Thousands Separator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This flag is a POSIX extension standard on GCC, Clang, and Linux/UNIX targets.</a:t>
            </a:r>
            <a:endParaRPr lang="en-US" altLang="en-US" sz="2400"/>
          </a:p>
          <a:p>
            <a:r>
              <a:rPr lang="en-US" altLang="en-US" sz="2400"/>
              <a:t>Mechanical Action: </a:t>
            </a:r>
            <a:endParaRPr lang="en-US" altLang="en-US" sz="2400"/>
          </a:p>
          <a:p>
            <a:pPr marL="457200" lvl="1" indent="457200">
              <a:buNone/>
            </a:pPr>
            <a:r>
              <a:rPr lang="en-US" altLang="en-US" sz="2400"/>
              <a:t>Parses the numeric value and divides digits into thousands groups using your system's current geographic locale setting (e.g., placing commas every 3 digits).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anchor="ctr" anchorCtr="0"/>
          <a:p>
            <a:pPr marL="0" indent="0" algn="ctr">
              <a:buNone/>
            </a:pPr>
            <a:r>
              <a:rPr lang="en-US" altLang="en-US" sz="2400"/>
              <a:t>// Assumes a US/UK locale system configuration</a:t>
            </a:r>
            <a:endParaRPr lang="en-US" altLang="en-US" sz="2400"/>
          </a:p>
          <a:p>
            <a:pPr marL="0" indent="0" algn="ctr">
              <a:buNone/>
            </a:pPr>
            <a:r>
              <a:rPr lang="en-US" altLang="en-US" sz="2400"/>
              <a:t>printf("%'d\n", 5000000);       // Output: 5,000,000</a:t>
            </a:r>
            <a:endParaRPr lang="en-US" altLang="en-US" sz="2400"/>
          </a:p>
          <a:p>
            <a:pPr marL="0" indent="0" algn="ctr">
              <a:buNone/>
            </a:pP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The Dynamic Wildcard Flag	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sz="2400"/>
              <a:t>This </a:t>
            </a:r>
            <a:r>
              <a:rPr lang="en-US" altLang="en-US" sz="2400"/>
              <a:t>is a feature in printf() that lets you change the width (spacing) or precision (decimal places) of your output on the fly using variables, rather than hardcoding numbers into the format string.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The Core Problem It Solves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anchor="ctr" anchorCtr="0">
            <a:normAutofit lnSpcReduction="20000"/>
          </a:bodyPr>
          <a:p>
            <a:r>
              <a:rPr lang="en-US" altLang="en-US" sz="2400"/>
              <a:t>Think you are printing a table of high scores. If you hardcode the width, your code looks like this: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pPr marL="457200" lvl="1" indent="457200">
              <a:buNone/>
            </a:pPr>
            <a:r>
              <a:rPr lang="en-US" altLang="en-US" sz="2400"/>
              <a:t>printf("%10s %5d\n", name, score); </a:t>
            </a:r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This works fine, but </a:t>
            </a:r>
            <a:endParaRPr lang="en-US" altLang="en-US" sz="2400"/>
          </a:p>
          <a:p>
            <a:r>
              <a:rPr lang="en-US" altLang="en-US" sz="2400"/>
              <a:t>what if the player names are much longer next time? Or </a:t>
            </a:r>
            <a:endParaRPr lang="en-US" altLang="en-US" sz="2400"/>
          </a:p>
          <a:p>
            <a:r>
              <a:rPr lang="en-US" altLang="en-US" sz="2400"/>
              <a:t>what if the user wants to choose how many decimal places to see? </a:t>
            </a:r>
            <a:endParaRPr lang="en-US" altLang="en-US" sz="2400"/>
          </a:p>
          <a:p>
            <a:r>
              <a:rPr lang="en-US" altLang="en-US" sz="2400"/>
              <a:t>To change 10 or 5, you would have to rewrite the string itself.</a:t>
            </a:r>
            <a:endParaRPr lang="en-US" altLang="en-US" sz="2400"/>
          </a:p>
          <a:p>
            <a:r>
              <a:rPr lang="en-US" altLang="en-US" sz="2400"/>
              <a:t>The asterisk * solves this by acting as a placeholder for a variable.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 Dynamic Width (*)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Instead of writing %10d (which forces a width of 10), you write %*d.</a:t>
            </a:r>
            <a:endParaRPr lang="en-US" altLang="en-US" sz="2400"/>
          </a:p>
          <a:p>
            <a:r>
              <a:rPr lang="en-US" altLang="en-US" sz="2400"/>
              <a:t>When printf sees the *, it looks at the very next argument in your function call to figure out what the width number should be.</a:t>
            </a:r>
            <a:endParaRPr lang="en-US" altLang="en-US" sz="2400"/>
          </a:p>
          <a:p>
            <a:pPr marL="0" indent="457200">
              <a:buNone/>
            </a:pP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anchor="ctr" anchorCtr="0"/>
          <a:p>
            <a:pPr marL="0" indent="457200">
              <a:buNone/>
            </a:pPr>
            <a:r>
              <a:rPr altLang="en-US" sz="2400">
                <a:sym typeface="+mn-ea"/>
              </a:rPr>
              <a:t>int dynamic_width = 8;</a:t>
            </a:r>
            <a:endParaRPr lang="en-US" altLang="en-US" sz="2400"/>
          </a:p>
          <a:p>
            <a:pPr marL="0" indent="457200">
              <a:buNone/>
            </a:pPr>
            <a:r>
              <a:rPr altLang="en-US" sz="2400">
                <a:sym typeface="+mn-ea"/>
              </a:rPr>
              <a:t>int score = 450;</a:t>
            </a:r>
            <a:endParaRPr lang="en-US" altLang="en-US" sz="2400"/>
          </a:p>
          <a:p>
            <a:pPr marL="0" indent="457200">
              <a:buNone/>
            </a:pPr>
            <a:endParaRPr lang="en-US" altLang="en-US" sz="2400"/>
          </a:p>
          <a:p>
            <a:pPr marL="0" indent="457200">
              <a:buNone/>
            </a:pPr>
            <a:r>
              <a:rPr altLang="en-US" sz="2400">
                <a:sym typeface="+mn-ea"/>
              </a:rPr>
              <a:t>// The first argument after the string fills the '*'</a:t>
            </a:r>
            <a:endParaRPr lang="en-US" altLang="en-US" sz="2400"/>
          </a:p>
          <a:p>
            <a:pPr marL="0" indent="457200">
              <a:buNone/>
            </a:pPr>
            <a:r>
              <a:rPr altLang="en-US" sz="2400">
                <a:sym typeface="+mn-ea"/>
              </a:rPr>
              <a:t>// The second argument fills the 'd'</a:t>
            </a:r>
            <a:endParaRPr lang="en-US" altLang="en-US" sz="2400"/>
          </a:p>
          <a:p>
            <a:pPr marL="0" indent="457200">
              <a:buNone/>
            </a:pPr>
            <a:r>
              <a:rPr altLang="en-US" sz="2400">
                <a:sym typeface="+mn-ea"/>
              </a:rPr>
              <a:t>printf("|%*d|\n", dynamic_width, score); </a:t>
            </a:r>
            <a:endParaRPr lang="en-US" altLang="en-US" sz="2400"/>
          </a:p>
          <a:p>
            <a:pPr marL="0" indent="457200">
              <a:buNone/>
            </a:pPr>
            <a:endParaRPr lang="en-US" sz="2400"/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What happens behind the scenes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457200" indent="-457200">
              <a:buAutoNum type="arabicPeriod"/>
            </a:pPr>
            <a:r>
              <a:rPr lang="en-US" altLang="en-US" sz="2400"/>
              <a:t>printf reads %*d.</a:t>
            </a:r>
            <a:endParaRPr lang="en-US" altLang="en-US" sz="2400"/>
          </a:p>
          <a:p>
            <a:pPr marL="457200" indent="-457200">
              <a:buAutoNum type="arabicPeriod"/>
            </a:pPr>
            <a:r>
              <a:rPr lang="en-US" altLang="en-US" sz="2400"/>
              <a:t>It grabs dynamic_width (which is 8) and replaces the * with it internally.</a:t>
            </a:r>
            <a:endParaRPr lang="en-US" altLang="en-US" sz="2400"/>
          </a:p>
          <a:p>
            <a:pPr marL="457200" indent="-457200">
              <a:buAutoNum type="arabicPeriod"/>
            </a:pPr>
            <a:r>
              <a:rPr lang="en-US" altLang="en-US" sz="2400"/>
              <a:t>The format effectively becomes %8d.</a:t>
            </a:r>
            <a:endParaRPr lang="en-US" altLang="en-US" sz="2400"/>
          </a:p>
          <a:p>
            <a:pPr marL="457200" indent="-457200">
              <a:buAutoNum type="arabicPeriod"/>
            </a:pPr>
            <a:r>
              <a:rPr lang="en-US" altLang="en-US" sz="2400"/>
              <a:t>It then grabs score (450) and prints it.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Output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anchor="ctr" anchorCtr="0"/>
          <a:p>
            <a:pPr marL="0" indent="0" algn="ctr">
              <a:buNone/>
            </a:pPr>
            <a:endParaRPr lang="en-US" altLang="en-US" sz="2400"/>
          </a:p>
          <a:p>
            <a:pPr marL="0" indent="0" algn="ctr">
              <a:buNone/>
            </a:pPr>
            <a:r>
              <a:rPr lang="en-US" altLang="en-US" sz="2400"/>
              <a:t>|     450|   (Total of 8 characters wide)</a:t>
            </a:r>
            <a:endParaRPr lang="en-US" altLang="en-US" sz="2400"/>
          </a:p>
          <a:p>
            <a:pPr marL="0" indent="0" algn="ctr">
              <a:buNone/>
            </a:pP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Dynamic Precision (.*)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You can do the exact same trick with decimal places for floating-point numbers (%f). Instead of writing %.2f (hardcoded 2 decimal places), you write %.*f.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anchor="t" anchorCtr="0"/>
          <a:p>
            <a:pPr marL="0" indent="457200">
              <a:buNone/>
            </a:pPr>
            <a:r>
              <a:rPr lang="en-US" altLang="en-US" sz="2400"/>
              <a:t>int decimals = 4;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double pi = 3.14159265;</a:t>
            </a:r>
            <a:endParaRPr lang="en-US" altLang="en-US" sz="2400"/>
          </a:p>
          <a:p>
            <a:pPr marL="0" indent="457200">
              <a:buNone/>
            </a:pP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// The 'decimals' variable fills the '*'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// The 'pi' variable fills the 'f'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printf("%.*f\n", decimals, pi); </a:t>
            </a:r>
            <a:endParaRPr lang="en-US" altLang="en-US" sz="2400"/>
          </a:p>
          <a:p>
            <a:pPr marL="0" indent="457200">
              <a:buNone/>
            </a:pPr>
            <a:endParaRPr lang="en-US" altLang="en-US" sz="2400"/>
          </a:p>
          <a:p>
            <a:pPr marL="342900" indent="-342900"/>
            <a:r>
              <a:rPr lang="en-US" altLang="en-US" sz="2400"/>
              <a:t>Output:</a:t>
            </a:r>
            <a:endParaRPr lang="en-US" altLang="en-US" sz="2400"/>
          </a:p>
          <a:p>
            <a:pPr marL="457200" lvl="1" indent="457200">
              <a:buNone/>
            </a:pPr>
            <a:r>
              <a:rPr lang="en-US" altLang="en-US" sz="2400"/>
              <a:t>3.1416       (Rounded to exactly 4 decimal places)</a:t>
            </a:r>
            <a:endParaRPr lang="en-US" altLang="en-US" sz="2400"/>
          </a:p>
          <a:p>
            <a:pPr marL="0" indent="457200">
              <a:buNone/>
            </a:pP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Putting It All Together (Both at Once)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You can even use two wildcards in a single format token to control both the total width and the decimal precision at the same time: %*.*f</a:t>
            </a:r>
            <a:endParaRPr lang="en-US" altLang="en-US" sz="2400"/>
          </a:p>
          <a:p>
            <a:r>
              <a:rPr lang="en-US" altLang="en-US" sz="2400"/>
              <a:t>When you do this, the arguments must be passed in the exact order they appear from left to right:</a:t>
            </a:r>
            <a:endParaRPr lang="en-US" altLang="en-US" sz="2400"/>
          </a:p>
          <a:p>
            <a:pPr marL="457200" indent="-457200">
              <a:buAutoNum type="arabicPeriod"/>
            </a:pPr>
            <a:r>
              <a:rPr lang="en-US" altLang="en-US" sz="2400"/>
              <a:t>First * (Width integer)</a:t>
            </a:r>
            <a:endParaRPr lang="en-US" altLang="en-US" sz="2400"/>
          </a:p>
          <a:p>
            <a:pPr marL="457200" indent="-457200">
              <a:buAutoNum type="arabicPeriod"/>
            </a:pPr>
            <a:r>
              <a:rPr lang="en-US" altLang="en-US" sz="2400"/>
              <a:t>Second * (Precision integer)</a:t>
            </a:r>
            <a:endParaRPr lang="en-US" altLang="en-US" sz="2400"/>
          </a:p>
          <a:p>
            <a:pPr marL="457200" indent="-457200">
              <a:buAutoNum type="arabicPeriod"/>
            </a:pPr>
            <a:r>
              <a:rPr lang="en-US" altLang="en-US" sz="2400"/>
              <a:t>The actual data value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1301750"/>
            <a:ext cx="10800080" cy="542099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/>
              <a:t>#include &lt;stdio.h&gt;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int main() {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double price = 19.95;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int total_width = 12;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int decimal_places = 1;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// Order of arguments: Width -&gt; Precision -&gt; Value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printf("|%*.*f|\n", total_width, decimal_places, price);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// Now let's dynamically change them without changing the text string!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total_width = 6;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decimal_places = 3;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printf("|%*.*f|\n", total_width, decimal_places, price);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return 0;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Output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1960880" y="1301749"/>
            <a:ext cx="10800000" cy="4873625"/>
          </a:xfrm>
        </p:spPr>
        <p:txBody>
          <a:bodyPr anchor="ctr" anchorCtr="0"/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|        20.0|   (12 characters wide, 1 decimal place)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|19.950|         (6 characters wide, 3 decimal places)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Revision:(</a:t>
            </a:r>
            <a:r>
              <a:rPr lang="en-US" altLang="en-US"/>
              <a:t>The Complete Anatomy of a Specifier)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anchor="ctr" anchorCtr="0"/>
          <a:p>
            <a:pPr marL="0" indent="0" algn="l">
              <a:buNone/>
            </a:pPr>
            <a:r>
              <a:rPr lang="en-US" altLang="en-US" sz="2400"/>
              <a:t>printf("%-+15.4ld", 12345L);</a:t>
            </a:r>
            <a:endParaRPr lang="en-US" altLang="en-US" sz="2400"/>
          </a:p>
          <a:p>
            <a:pPr marL="0" indent="0" algn="l">
              <a:buNone/>
            </a:pPr>
            <a:r>
              <a:rPr lang="en-US" altLang="en-US" sz="2400"/>
              <a:t>//  │││  │  ││└─ Specifier: Signed Decimal</a:t>
            </a:r>
            <a:endParaRPr lang="en-US" altLang="en-US" sz="2400"/>
          </a:p>
          <a:p>
            <a:pPr marL="0" indent="0" algn="l">
              <a:buNone/>
            </a:pPr>
            <a:r>
              <a:rPr lang="en-US" altLang="en-US" sz="2400"/>
              <a:t>//  │││  │  │└── Length Flag: Long integer type</a:t>
            </a:r>
            <a:endParaRPr lang="en-US" altLang="en-US" sz="2400"/>
          </a:p>
          <a:p>
            <a:pPr marL="0" indent="0" algn="l">
              <a:buNone/>
            </a:pPr>
            <a:r>
              <a:rPr lang="en-US" altLang="en-US" sz="2400"/>
              <a:t>//  │││  │  └─── Precision: Force exactly 4 digits minimum</a:t>
            </a:r>
            <a:endParaRPr lang="en-US" altLang="en-US" sz="2400"/>
          </a:p>
          <a:p>
            <a:pPr marL="0" indent="0" algn="l">
              <a:buNone/>
            </a:pPr>
            <a:r>
              <a:rPr lang="en-US" altLang="en-US" sz="2400"/>
              <a:t>//  │││  └────── Width: Minimum block size of 15 character slots</a:t>
            </a:r>
            <a:endParaRPr lang="en-US" altLang="en-US" sz="2400"/>
          </a:p>
          <a:p>
            <a:pPr marL="0" indent="0" algn="l">
              <a:buNone/>
            </a:pPr>
            <a:r>
              <a:rPr lang="en-US" altLang="en-US" sz="2400"/>
              <a:t>//  ││└───────── Sign Flag (+): Force showing explicit '+' symbol</a:t>
            </a:r>
            <a:endParaRPr lang="en-US" altLang="en-US" sz="2400"/>
          </a:p>
          <a:p>
            <a:pPr marL="0" indent="0" algn="l">
              <a:buNone/>
            </a:pPr>
            <a:r>
              <a:rPr lang="en-US" altLang="en-US" sz="2400"/>
              <a:t>//  │└────────── Alignment Flag (-): Left-align within the 15 slots</a:t>
            </a:r>
            <a:endParaRPr lang="en-US" altLang="en-US" sz="2400"/>
          </a:p>
          <a:p>
            <a:pPr marL="0" indent="0" algn="l">
              <a:buNone/>
            </a:pPr>
            <a:r>
              <a:rPr lang="en-US" altLang="en-US" sz="2400"/>
              <a:t>//  └────────── Start Identifier</a:t>
            </a:r>
            <a:endParaRPr lang="en-US" altLang="en-US" sz="2400"/>
          </a:p>
          <a:p>
            <a:pPr marL="0" indent="0" algn="l">
              <a:buNone/>
            </a:pP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991869"/>
            <a:ext cx="10800000" cy="4873625"/>
          </a:xfrm>
        </p:spPr>
        <p:txBody>
          <a:bodyPr anchor="ctr" anchorCtr="0"/>
          <a:p>
            <a:pPr marL="0" indent="0" algn="ctr">
              <a:buNone/>
            </a:pPr>
            <a:r>
              <a:rPr lang="en-US" sz="8000"/>
              <a:t>THANK YOU</a:t>
            </a:r>
            <a:endParaRPr lang="en-US" sz="80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3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7982"/>
</p:tagLst>
</file>

<file path=ppt/tags/tag2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7982"/>
</p:tagLst>
</file>

<file path=ppt/tags/tag22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7982"/>
</p:tagLst>
</file>

<file path=ppt/tags/tag23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7982_1*f*1"/>
  <p:tag name="KSO_WM_TEMPLATE_CATEGORY" val="custom"/>
  <p:tag name="KSO_WM_TEMPLATE_INDEX" val="20237982"/>
  <p:tag name="KSO_WM_UNIT_LAYERLEVEL" val="1"/>
  <p:tag name="KSO_WM_TAG_VERSION" val="3.0"/>
  <p:tag name="KSO_WM_BEAUTIFY_FLAG" val="#wm#"/>
  <p:tag name="KSO_WM_UNIT_PRESET_TEXT" val="Name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7982_1*a*1"/>
  <p:tag name="KSO_WM_TEMPLATE_CATEGORY" val="custom"/>
  <p:tag name="KSO_WM_TEMPLATE_INDEX" val="20237982"/>
  <p:tag name="KSO_WM_UNIT_LAYERLEVEL" val="1"/>
  <p:tag name="KSO_WM_TAG_VERSION" val="3.0"/>
  <p:tag name="KSO_WM_BEAUTIFY_FLAG" val="#wm#"/>
  <p:tag name="KSO_WM_UNIT_PRESET_TEXT" val="Your title here"/>
</p:tagLst>
</file>

<file path=ppt/tags/tag25.xml><?xml version="1.0" encoding="utf-8"?>
<p:tagLst xmlns:p="http://schemas.openxmlformats.org/presentationml/2006/main">
  <p:tag name="KSO_WM_TEMPLATE_THUMBS_INDEX" val="1、9"/>
  <p:tag name="KSO_WM_SLIDE_CONTENT_AREA" val="{&quot;left&quot;:&quot;140.25&quot;,&quot;top&quot;:&quot;121.15&quot;,&quot;width&quot;:&quot;679.5&quot;,&quot;height&quot;:&quot;208.75&quot;}"/>
  <p:tag name="KSO_WM_SPECIAL_SOURCE" val="bdnull"/>
  <p:tag name="KSO_WM_SLIDE_ID" val="custom20237982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7982"/>
  <p:tag name="KSO_WM_SLIDE_LAYOUT" val="a_b_f"/>
  <p:tag name="KSO_WM_SLIDE_LAYOUT_CNT" val="1_1_1"/>
</p:tagLst>
</file>

<file path=ppt/tags/tag26.xml><?xml version="1.0" encoding="utf-8"?>
<p:tagLst xmlns:p="http://schemas.openxmlformats.org/presentationml/2006/main">
  <p:tag name="KSO_WM_BEAUTIFY_FLAG" val="#wm#"/>
  <p:tag name="KSO_WM_TEMPLATE_CATEGORY" val="custom"/>
  <p:tag name="KSO_WM_TEMPLATE_INDEX" val="20237982"/>
</p:tagLst>
</file>

<file path=ppt/tags/tag27.xml><?xml version="1.0" encoding="utf-8"?>
<p:tagLst xmlns:p="http://schemas.openxmlformats.org/presentationml/2006/main">
  <p:tag name="KSO_WM_BEAUTIFY_FLAG" val="#wm#"/>
  <p:tag name="KSO_WM_TEMPLATE_CATEGORY" val="custom"/>
  <p:tag name="KSO_WM_TEMPLATE_INDEX" val="20237982"/>
</p:tagLst>
</file>

<file path=ppt/tags/tag28.xml><?xml version="1.0" encoding="utf-8"?>
<p:tagLst xmlns:p="http://schemas.openxmlformats.org/presentationml/2006/main">
  <p:tag name="KSO_WM_BEAUTIFY_FLAG" val="#wm#"/>
  <p:tag name="KSO_WM_TEMPLATE_CATEGORY" val="custom"/>
  <p:tag name="KSO_WM_TEMPLATE_INDEX" val="20237982"/>
</p:tagLst>
</file>

<file path=ppt/tags/tag29.xml><?xml version="1.0" encoding="utf-8"?>
<p:tagLst xmlns:p="http://schemas.openxmlformats.org/presentationml/2006/main">
  <p:tag name="KSO_WM_BEAUTIFY_FLAG" val="#wm#"/>
  <p:tag name="KSO_WM_TEMPLATE_CATEGORY" val="custom"/>
  <p:tag name="KSO_WM_TEMPLATE_INDEX" val="20237982"/>
</p:tagLst>
</file>

<file path=ppt/tags/tag30.xml><?xml version="1.0" encoding="utf-8"?>
<p:tagLst xmlns:p="http://schemas.openxmlformats.org/presentationml/2006/main">
  <p:tag name="KSO_WM_BEAUTIFY_FLAG" val="#wm#"/>
  <p:tag name="KSO_WM_TEMPLATE_CATEGORY" val="custom"/>
  <p:tag name="KSO_WM_TEMPLATE_INDEX" val="20237982"/>
</p:tagLst>
</file>

<file path=ppt/tags/tag31.xml><?xml version="1.0" encoding="utf-8"?>
<p:tagLst xmlns:p="http://schemas.openxmlformats.org/presentationml/2006/main">
  <p:tag name="KSO_WM_BEAUTIFY_FLAG" val="#wm#"/>
  <p:tag name="KSO_WM_TEMPLATE_CATEGORY" val="custom"/>
  <p:tag name="KSO_WM_TEMPLATE_INDEX" val="20237982"/>
</p:tagLst>
</file>

<file path=ppt/tags/tag32.xml><?xml version="1.0" encoding="utf-8"?>
<p:tagLst xmlns:p="http://schemas.openxmlformats.org/presentationml/2006/main">
  <p:tag name="KSO_WM_BEAUTIFY_FLAG" val="#wm#"/>
  <p:tag name="KSO_WM_TEMPLATE_CATEGORY" val="custom"/>
  <p:tag name="KSO_WM_TEMPLATE_INDEX" val="20237982"/>
</p:tagLst>
</file>

<file path=ppt/tags/tag33.xml><?xml version="1.0" encoding="utf-8"?>
<p:tagLst xmlns:p="http://schemas.openxmlformats.org/presentationml/2006/main">
  <p:tag name="KSO_WM_BEAUTIFY_FLAG" val="#wm#"/>
  <p:tag name="KSO_WM_TEMPLATE_CATEGORY" val="custom"/>
  <p:tag name="KSO_WM_TEMPLATE_INDEX" val="20237982"/>
</p:tagLst>
</file>

<file path=ppt/tags/tag34.xml><?xml version="1.0" encoding="utf-8"?>
<p:tagLst xmlns:p="http://schemas.openxmlformats.org/presentationml/2006/main">
  <p:tag name="KSO_WM_BEAUTIFY_FLAG" val="#wm#"/>
  <p:tag name="KSO_WM_TEMPLATE_CATEGORY" val="custom"/>
  <p:tag name="KSO_WM_TEMPLATE_INDEX" val="20237982"/>
</p:tagLst>
</file>

<file path=ppt/tags/tag35.xml><?xml version="1.0" encoding="utf-8"?>
<p:tagLst xmlns:p="http://schemas.openxmlformats.org/presentationml/2006/main">
  <p:tag name="KSO_WM_BEAUTIFY_FLAG" val="#wm#"/>
  <p:tag name="KSO_WM_TEMPLATE_CATEGORY" val="custom"/>
  <p:tag name="KSO_WM_TEMPLATE_INDEX" val="20237982"/>
</p:tagLst>
</file>

<file path=ppt/tags/tag36.xml><?xml version="1.0" encoding="utf-8"?>
<p:tagLst xmlns:p="http://schemas.openxmlformats.org/presentationml/2006/main">
  <p:tag name="KSO_WM_BEAUTIFY_FLAG" val="#wm#"/>
  <p:tag name="KSO_WM_TEMPLATE_CATEGORY" val="custom"/>
  <p:tag name="KSO_WM_TEMPLATE_INDEX" val="20237982"/>
</p:tagLst>
</file>

<file path=ppt/tags/tag37.xml><?xml version="1.0" encoding="utf-8"?>
<p:tagLst xmlns:p="http://schemas.openxmlformats.org/presentationml/2006/main">
  <p:tag name="KSO_WM_BEAUTIFY_FLAG" val="#wm#"/>
  <p:tag name="KSO_WM_TEMPLATE_CATEGORY" val="custom"/>
  <p:tag name="KSO_WM_TEMPLATE_INDEX" val="20237982"/>
</p:tagLst>
</file>

<file path=ppt/tags/tag38.xml><?xml version="1.0" encoding="utf-8"?>
<p:tagLst xmlns:p="http://schemas.openxmlformats.org/presentationml/2006/main">
  <p:tag name="KSO_WM_BEAUTIFY_FLAG" val="#wm#"/>
  <p:tag name="KSO_WM_TEMPLATE_CATEGORY" val="custom"/>
  <p:tag name="KSO_WM_TEMPLATE_INDEX" val="20237982"/>
</p:tagLst>
</file>

<file path=ppt/tags/tag39.xml><?xml version="1.0" encoding="utf-8"?>
<p:tagLst xmlns:p="http://schemas.openxmlformats.org/presentationml/2006/main">
  <p:tag name="KSO_WM_BEAUTIFY_FLAG" val="#wm#"/>
  <p:tag name="KSO_WM_TEMPLATE_CATEGORY" val="custom"/>
  <p:tag name="KSO_WM_TEMPLATE_INDEX" val="20237982"/>
</p:tagLst>
</file>

<file path=ppt/tags/tag40.xml><?xml version="1.0" encoding="utf-8"?>
<p:tagLst xmlns:p="http://schemas.openxmlformats.org/presentationml/2006/main">
  <p:tag name="KSO_WM_BEAUTIFY_FLAG" val="#wm#"/>
  <p:tag name="KSO_WM_TEMPLATE_CATEGORY" val="custom"/>
  <p:tag name="KSO_WM_TEMPLATE_INDEX" val="20237982"/>
</p:tagLst>
</file>

<file path=ppt/tags/tag41.xml><?xml version="1.0" encoding="utf-8"?>
<p:tagLst xmlns:p="http://schemas.openxmlformats.org/presentationml/2006/main">
  <p:tag name="KSO_WM_BEAUTIFY_FLAG" val="#wm#"/>
  <p:tag name="KSO_WM_TEMPLATE_CATEGORY" val="custom"/>
  <p:tag name="KSO_WM_TEMPLATE_INDEX" val="20237982"/>
</p:tagLst>
</file>

<file path=ppt/tags/tag42.xml><?xml version="1.0" encoding="utf-8"?>
<p:tagLst xmlns:p="http://schemas.openxmlformats.org/presentationml/2006/main">
  <p:tag name="KSO_WM_BEAUTIFY_FLAG" val="#wm#"/>
  <p:tag name="KSO_WM_TEMPLATE_CATEGORY" val="custom"/>
  <p:tag name="KSO_WM_TEMPLATE_INDEX" val="20237982"/>
</p:tagLst>
</file>

<file path=ppt/tags/tag43.xml><?xml version="1.0" encoding="utf-8"?>
<p:tagLst xmlns:p="http://schemas.openxmlformats.org/presentationml/2006/main">
  <p:tag name="KSO_WM_BEAUTIFY_FLAG" val="#wm#"/>
  <p:tag name="KSO_WM_TEMPLATE_CATEGORY" val="custom"/>
  <p:tag name="KSO_WM_TEMPLATE_INDEX" val="20237982"/>
</p:tagLst>
</file>

<file path=ppt/tags/tag44.xml><?xml version="1.0" encoding="utf-8"?>
<p:tagLst xmlns:p="http://schemas.openxmlformats.org/presentationml/2006/main">
  <p:tag name="KSO_WM_BEAUTIFY_FLAG" val="#wm#"/>
  <p:tag name="KSO_WM_TEMPLATE_CATEGORY" val="custom"/>
  <p:tag name="KSO_WM_TEMPLATE_INDEX" val="20237982"/>
</p:tagLst>
</file>

<file path=ppt/tags/tag45.xml><?xml version="1.0" encoding="utf-8"?>
<p:tagLst xmlns:p="http://schemas.openxmlformats.org/presentationml/2006/main">
  <p:tag name="KSO_WM_BEAUTIFY_FLAG" val="#wm#"/>
  <p:tag name="KSO_WM_TEMPLATE_CATEGORY" val="custom"/>
  <p:tag name="KSO_WM_TEMPLATE_INDEX" val="20237982"/>
</p:tagLst>
</file>

<file path=ppt/tags/tag46.xml><?xml version="1.0" encoding="utf-8"?>
<p:tagLst xmlns:p="http://schemas.openxmlformats.org/presentationml/2006/main">
  <p:tag name="KSO_WM_BEAUTIFY_FLAG" val="#wm#"/>
  <p:tag name="KSO_WM_TEMPLATE_CATEGORY" val="custom"/>
  <p:tag name="KSO_WM_TEMPLATE_INDEX" val="20237982"/>
</p:tagLst>
</file>

<file path=ppt/tags/tag47.xml><?xml version="1.0" encoding="utf-8"?>
<p:tagLst xmlns:p="http://schemas.openxmlformats.org/presentationml/2006/main">
  <p:tag name="KSO_WM_BEAUTIFY_FLAG" val="#wm#"/>
  <p:tag name="KSO_WM_TEMPLATE_CATEGORY" val="custom"/>
  <p:tag name="KSO_WM_TEMPLATE_INDEX" val="20237982"/>
</p:tagLst>
</file>

<file path=ppt/tags/tag48.xml><?xml version="1.0" encoding="utf-8"?>
<p:tagLst xmlns:p="http://schemas.openxmlformats.org/presentationml/2006/main">
  <p:tag name="KSO_WM_BEAUTIFY_FLAG" val="#wm#"/>
  <p:tag name="KSO_WM_TEMPLATE_CATEGORY" val="custom"/>
  <p:tag name="KSO_WM_TEMPLATE_INDEX" val="20237982"/>
</p:tagLst>
</file>

<file path=ppt/tags/tag49.xml><?xml version="1.0" encoding="utf-8"?>
<p:tagLst xmlns:p="http://schemas.openxmlformats.org/presentationml/2006/main">
  <p:tag name="KSO_WM_BEAUTIFY_FLAG" val="#wm#"/>
  <p:tag name="KSO_WM_TEMPLATE_CATEGORY" val="custom"/>
  <p:tag name="KSO_WM_TEMPLATE_INDEX" val="20237982"/>
</p:tagLst>
</file>

<file path=ppt/tags/tag50.xml><?xml version="1.0" encoding="utf-8"?>
<p:tagLst xmlns:p="http://schemas.openxmlformats.org/presentationml/2006/main">
  <p:tag name="KSO_WM_BEAUTIFY_FLAG" val="#wm#"/>
  <p:tag name="KSO_WM_TEMPLATE_CATEGORY" val="custom"/>
  <p:tag name="KSO_WM_TEMPLATE_INDEX" val="20237982"/>
</p:tagLst>
</file>

<file path=ppt/tags/tag51.xml><?xml version="1.0" encoding="utf-8"?>
<p:tagLst xmlns:p="http://schemas.openxmlformats.org/presentationml/2006/main">
  <p:tag name="KSO_WM_BEAUTIFY_FLAG" val="#wm#"/>
  <p:tag name="KSO_WM_TEMPLATE_CATEGORY" val="custom"/>
  <p:tag name="KSO_WM_TEMPLATE_INDEX" val="20237982"/>
</p:tagLst>
</file>

<file path=ppt/tags/tag52.xml><?xml version="1.0" encoding="utf-8"?>
<p:tagLst xmlns:p="http://schemas.openxmlformats.org/presentationml/2006/main">
  <p:tag name="KSO_WM_BEAUTIFY_FLAG" val="#wm#"/>
  <p:tag name="KSO_WM_TEMPLATE_CATEGORY" val="custom"/>
  <p:tag name="KSO_WM_TEMPLATE_INDEX" val="20237982"/>
</p:tagLst>
</file>

<file path=ppt/tags/tag53.xml><?xml version="1.0" encoding="utf-8"?>
<p:tagLst xmlns:p="http://schemas.openxmlformats.org/presentationml/2006/main">
  <p:tag name="KSO_WM_BEAUTIFY_FLAG" val="#wm#"/>
  <p:tag name="KSO_WM_TEMPLATE_CATEGORY" val="custom"/>
  <p:tag name="KSO_WM_TEMPLATE_INDEX" val="20237982"/>
</p:tagLst>
</file>

<file path=ppt/tags/tag54.xml><?xml version="1.0" encoding="utf-8"?>
<p:tagLst xmlns:p="http://schemas.openxmlformats.org/presentationml/2006/main">
  <p:tag name="KSO_WM_BEAUTIFY_FLAG" val="#wm#"/>
  <p:tag name="KSO_WM_TEMPLATE_CATEGORY" val="custom"/>
  <p:tag name="KSO_WM_TEMPLATE_INDEX" val="20237982"/>
</p:tagLst>
</file>

<file path=ppt/theme/theme1.xml><?xml version="1.0" encoding="utf-8"?>
<a:theme xmlns:a="http://schemas.openxmlformats.org/drawingml/2006/main" name="Office Theme">
  <a:themeElements>
    <a:clrScheme name="自定义 57">
      <a:dk1>
        <a:srgbClr val="000000"/>
      </a:dk1>
      <a:lt1>
        <a:srgbClr val="FFFFFF"/>
      </a:lt1>
      <a:dk2>
        <a:srgbClr val="043460"/>
      </a:dk2>
      <a:lt2>
        <a:srgbClr val="EFFFFF"/>
      </a:lt2>
      <a:accent1>
        <a:srgbClr val="09FFFF"/>
      </a:accent1>
      <a:accent2>
        <a:srgbClr val="1ADCFF"/>
      </a:accent2>
      <a:accent3>
        <a:srgbClr val="0F54FF"/>
      </a:accent3>
      <a:accent4>
        <a:srgbClr val="3D97FF"/>
      </a:accent4>
      <a:accent5>
        <a:srgbClr val="4F74FF"/>
      </a:accent5>
      <a:accent6>
        <a:srgbClr val="6051FF"/>
      </a:accent6>
      <a:hlink>
        <a:srgbClr val="4472C4"/>
      </a:hlink>
      <a:folHlink>
        <a:srgbClr val="BFBFBF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DCD6CA"/>
          </a:solidFill>
          <a:prstDash val="soli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8049</Words>
  <Application>WPS Presentation</Application>
  <PresentationFormat>Widescreen</PresentationFormat>
  <Paragraphs>237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9" baseType="lpstr">
      <vt:lpstr>Arial</vt:lpstr>
      <vt:lpstr>SimSun</vt:lpstr>
      <vt:lpstr>Wingdings</vt:lpstr>
      <vt:lpstr>Inter</vt:lpstr>
      <vt:lpstr>Inter Bold</vt:lpstr>
      <vt:lpstr>Microsoft YaHei</vt:lpstr>
      <vt:lpstr>Arial Unicode MS</vt:lpstr>
      <vt:lpstr>Calibri</vt:lpstr>
      <vt:lpstr>Office Theme</vt:lpstr>
      <vt:lpstr>PRINTF STATEMENT</vt:lpstr>
      <vt:lpstr>PRINTF</vt:lpstr>
      <vt:lpstr> The Core Container Elements</vt:lpstr>
      <vt:lpstr>Inside the Format Specifier</vt:lpstr>
      <vt:lpstr>Flags (Alters Layout Style)</vt:lpstr>
      <vt:lpstr>The - (Minus) Flag: Left-Alignment</vt:lpstr>
      <vt:lpstr>Example</vt:lpstr>
      <vt:lpstr>The + (Plus) Flag: Forced Sign Display</vt:lpstr>
      <vt:lpstr>Example</vt:lpstr>
      <vt:lpstr>The “ ”  (Space) Flag: Balanced Sign Alignment</vt:lpstr>
      <vt:lpstr>Example</vt:lpstr>
      <vt:lpstr>The 0 (Zero) Flag: Leading Zero Padding</vt:lpstr>
      <vt:lpstr>Example</vt:lpstr>
      <vt:lpstr>The # (Hash/Alternative) Flag: Base Context</vt:lpstr>
      <vt:lpstr>Example</vt:lpstr>
      <vt:lpstr>The ' (Apostrophe) Flag: Thousands Separator</vt:lpstr>
      <vt:lpstr>Example</vt:lpstr>
      <vt:lpstr>The Dynamic Wildcard Flag	</vt:lpstr>
      <vt:lpstr>The Core Problem It Solves</vt:lpstr>
      <vt:lpstr> Dynamic Width (*)</vt:lpstr>
      <vt:lpstr>Example</vt:lpstr>
      <vt:lpstr>What happens behind the scenes</vt:lpstr>
      <vt:lpstr>Output</vt:lpstr>
      <vt:lpstr>Dynamic Precision (.*)</vt:lpstr>
      <vt:lpstr>Example</vt:lpstr>
      <vt:lpstr>Putting It All Together (Both at Once)</vt:lpstr>
      <vt:lpstr>Example</vt:lpstr>
      <vt:lpstr>Output</vt:lpstr>
      <vt:lpstr>Revision:(The Complete Anatomy of a Specifier)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PRINTF STATEMENT</dc:title>
  <dc:creator/>
  <cp:lastModifiedBy>chatbotislive</cp:lastModifiedBy>
  <cp:revision>10</cp:revision>
  <dcterms:created xsi:type="dcterms:W3CDTF">2026-06-22T19:01:00Z</dcterms:created>
  <dcterms:modified xsi:type="dcterms:W3CDTF">2026-06-23T19:01:36Z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3FBC4F3B04A44AE0ACCAF60F8C48E7FD_12</vt:lpwstr>
  </property>
</Properties>
</file>