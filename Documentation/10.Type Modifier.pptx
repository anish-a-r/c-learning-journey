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8" r:id="rId3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0"/>
            <a:ext cx="12172950" cy="6858000"/>
          </a:xfrm>
          <a:prstGeom prst="rect">
            <a:avLst/>
          </a:prstGeom>
        </p:spPr>
      </p:pic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1028065" y="474345"/>
            <a:ext cx="8657590" cy="28486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latin typeface="+mj-lt"/>
                <a:sym typeface="+mn-ea"/>
              </a:rPr>
              <a:t>Click to add title</a:t>
            </a:r>
            <a:endParaRPr>
              <a:latin typeface="+mj-lt"/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1028700" y="3373755"/>
            <a:ext cx="7196455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>
              <a:buClrTx/>
              <a:buSzTx/>
              <a:buFontTx/>
            </a:pPr>
            <a:r>
              <a:rPr>
                <a:latin typeface="+mj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028700" y="4257675"/>
            <a:ext cx="4262120" cy="624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solidFill>
                  <a:schemeClr val="accent6"/>
                </a:solidFill>
                <a:latin typeface="+mn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tags" Target="../tags/tag14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2pPr>
            <a:lvl3pPr marR="0" lvl="2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3pPr>
            <a:lvl4pPr marR="0" lvl="3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4pPr>
            <a:lvl5pPr marR="0" lvl="4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0"/>
            <a:ext cx="12172950" cy="6858000"/>
          </a:xfrm>
          <a:prstGeom prst="rect">
            <a:avLst/>
          </a:prstGeom>
        </p:spPr>
      </p:pic>
      <p:sp>
        <p:nvSpPr>
          <p:cNvPr id="2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TYPE MODIFIER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ANISH A R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 Modifiers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2400"/>
              <a:t>Modifiers are keywords added to basic data types (mostly int and char) to alter how much memory they use or change the range of numbers they can hold.</a:t>
            </a:r>
            <a:endParaRPr lang="en-US" altLang="en-US" sz="2400"/>
          </a:p>
          <a:p>
            <a:r>
              <a:rPr lang="en-US" altLang="en-US" sz="2400"/>
              <a:t>There are two types of type modifiers: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Sign Modifiers (signed vs unsigned).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Size Modifiers (short vs long).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Sign Modifier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Sign modifiers do not change the amount of memory a variable uses. Instead, they change how the computer interprets the very first bit of that memory space (the Sign Bit).</a:t>
            </a:r>
            <a:endParaRPr lang="en-US" altLang="en-US" sz="2400"/>
          </a:p>
          <a:p>
            <a:r>
              <a:rPr lang="en-US" altLang="en-US" sz="2400"/>
              <a:t>There are two types of sign modifiers: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Signed .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Unsigned.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Signed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The Behavior: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Tells the compiler that the variable can hold both positive and negative numbers.</a:t>
            </a:r>
            <a:endParaRPr lang="en-US" altLang="en-US" sz="2400"/>
          </a:p>
          <a:p>
            <a:r>
              <a:rPr lang="en-US" altLang="en-US" sz="2400"/>
              <a:t>How it Works: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The computer splits the number range right down the middle. Half goes to negative numbers, and half goes to positive numbers.</a:t>
            </a:r>
            <a:endParaRPr lang="en-US" altLang="en-US" sz="2400"/>
          </a:p>
          <a:p>
            <a:r>
              <a:rPr lang="en-US" altLang="en-US" sz="2400"/>
              <a:t>Note: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Writing signed int x; is exactly the same as writing int x;. C assumes everything is signed by default.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Unsigned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The Behavior: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Strips away the negative spectrum completely, forcing the variable to hold only positive numbers and zero.</a:t>
            </a:r>
            <a:endParaRPr lang="en-US" altLang="en-US" sz="2400"/>
          </a:p>
          <a:p>
            <a:r>
              <a:rPr lang="en-US" altLang="en-US" sz="2400"/>
              <a:t>The Superpower: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	Because you throw away the negative scale, you free up the sign bit. This doubles the maximum positive number the variable can reach.</a:t>
            </a:r>
            <a:endParaRPr lang="en-US" altLang="en-US" sz="2400"/>
          </a:p>
          <a:p>
            <a:r>
              <a:rPr lang="en-US" altLang="en-US" sz="2400"/>
              <a:t>Format Specifier: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	 You must use %u instead of %d when printing unsigned values.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185" y="494665"/>
            <a:ext cx="9646920" cy="56826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Size Modifiers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Size modifiers change the physical size—the exact number of bytes of RAM—allocated for your data.</a:t>
            </a:r>
            <a:endParaRPr lang="en-US" altLang="en-US" sz="2400"/>
          </a:p>
          <a:p>
            <a:r>
              <a:rPr lang="en-US" altLang="en-US" sz="2400"/>
              <a:t>There are three types of size modifiers: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Short.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Long.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Long Long.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Short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The Behavior: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	Shrinks the variable to use less memory.</a:t>
            </a:r>
            <a:endParaRPr lang="en-US" altLang="en-US" sz="2400"/>
          </a:p>
          <a:p>
            <a:r>
              <a:rPr lang="en-US" altLang="en-US" sz="2400"/>
              <a:t>The Footprint: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Reduces an integer from 4 bytes down to 2 bytes (16 bits) of RAM.</a:t>
            </a:r>
            <a:endParaRPr lang="en-US" altLang="en-US" sz="2400"/>
          </a:p>
          <a:p>
            <a:r>
              <a:rPr lang="en-US" altLang="en-US" sz="2400"/>
              <a:t>Format Specifier: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Use %hd to print.</a:t>
            </a:r>
            <a:endParaRPr lang="en-US" altLang="en-US" sz="2400"/>
          </a:p>
          <a:p>
            <a:r>
              <a:rPr lang="en-US" altLang="en-US" sz="2400"/>
              <a:t>Range: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Can only hold numbers from -32,768 to 32,767.</a:t>
            </a:r>
            <a:endParaRPr lang="en-US" altLang="en-US" sz="2400"/>
          </a:p>
          <a:p>
            <a:r>
              <a:rPr lang="en-US" altLang="en-US" sz="2400"/>
              <a:t>Best For: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	  Low-spec embedded hardware or huge datasets where saving every single byte of RAM matters.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Long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The Behavior: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Guarantees the variable will have at least as much space as a standard integer, often expanding it on 64-bit systems.</a:t>
            </a:r>
            <a:endParaRPr lang="en-US" altLang="en-US" sz="2400"/>
          </a:p>
          <a:p>
            <a:r>
              <a:rPr lang="en-US" altLang="en-US" sz="2400"/>
              <a:t>The Footprint: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Allocates 4 or 8 bytes of RAM.</a:t>
            </a:r>
            <a:endParaRPr lang="en-US" altLang="en-US" sz="2400"/>
          </a:p>
          <a:p>
            <a:r>
              <a:rPr lang="en-US" altLang="en-US" sz="2400"/>
              <a:t>Format Specifier: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Use %ld to print.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Long Long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The Behavior: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Forces the absolute maximum integer container possible.</a:t>
            </a:r>
            <a:endParaRPr lang="en-US" altLang="en-US" sz="2400"/>
          </a:p>
          <a:p>
            <a:r>
              <a:rPr lang="en-US" altLang="en-US" sz="2400"/>
              <a:t>The Footprint: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	 Allocates a full 8 bytes (64 bits) of memory.</a:t>
            </a:r>
            <a:endParaRPr lang="en-US" altLang="en-US" sz="2400"/>
          </a:p>
          <a:p>
            <a:r>
              <a:rPr lang="en-US" altLang="en-US" sz="2400"/>
              <a:t>Format Specifier: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	  Use %lld to print.</a:t>
            </a:r>
            <a:endParaRPr lang="en-US" altLang="en-US" sz="2400"/>
          </a:p>
          <a:p>
            <a:r>
              <a:rPr lang="en-US" altLang="en-US" sz="2400"/>
              <a:t>Range: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Holds giant numbers up to 9 quintillion (approx 9 X 10^{18}).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Modification With int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6" name="Table 5"/>
          <p:cNvGraphicFramePr/>
          <p:nvPr/>
        </p:nvGraphicFramePr>
        <p:xfrm>
          <a:off x="693420" y="1299845"/>
          <a:ext cx="11145520" cy="5381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380"/>
                <a:gridCol w="2786380"/>
                <a:gridCol w="2786380"/>
                <a:gridCol w="2786380"/>
              </a:tblGrid>
              <a:tr h="696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Exact Variable Declaration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Byte Size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Format Specifier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Absolute Numerical Range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696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 int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%hd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-32,768 to 32,767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696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unsigned short int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%hu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to 65,535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696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 (or signed int)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%d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-2.1 Billion to +2.1 Billion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696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unsigned int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%u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to 4.2 Billion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696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 long int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%lld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 Quintillion to +9 Quintillion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696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unsigned long long int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%llu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to 18 Quintillion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Modifiers with Char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Characters are fundamentally small 1-byte integers under the hood, so they respond perfectly to sign modifiers but reject size modifiers.</a:t>
            </a:r>
            <a:endParaRPr lang="en-US" altLang="en-US" sz="2400"/>
          </a:p>
          <a:p>
            <a:r>
              <a:rPr lang="en-US" altLang="en-US" sz="2400"/>
              <a:t>signed char: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 	  Holds small numbers from -128 to 127. This is the standard behavior on most systems when you type char.</a:t>
            </a:r>
            <a:endParaRPr lang="en-US" altLang="en-US" sz="2400"/>
          </a:p>
          <a:p>
            <a:r>
              <a:rPr lang="en-US" altLang="en-US" sz="2400"/>
              <a:t>unsigned char: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Strips negative capabilities. The range shifts from 0 to 255.</a:t>
            </a:r>
            <a:endParaRPr lang="en-US" altLang="en-US" sz="2400"/>
          </a:p>
          <a:p>
            <a:r>
              <a:rPr lang="en-US" altLang="en-US" sz="2400"/>
              <a:t>short char or long char: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	   Compilation Error! A character is locked at exactly 1 byte. You cannot shrink it or expand it.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Modifiers with Floating-Point Types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 sz="2400"/>
              <a:t>Sign Modifiers (signed / unsigned)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</a:t>
            </a:r>
            <a:r>
              <a:rPr lang="en-US" altLang="en-US" sz="2400" b="1"/>
              <a:t>  	   unsigned float or unsigned double:</a:t>
            </a:r>
            <a:endParaRPr lang="en-US" altLang="en-US" sz="2400" b="1"/>
          </a:p>
          <a:p>
            <a:pPr marL="0" indent="457200">
              <a:buNone/>
            </a:pPr>
            <a:r>
              <a:rPr lang="en-US" altLang="en-US" sz="2400"/>
              <a:t>                 Compilation Error! Floating-point numbers are structurally required to support both positive and negative values. The unsigned keyword cannot be applied to them.</a:t>
            </a:r>
            <a:endParaRPr lang="en-US" altLang="en-US" sz="2400"/>
          </a:p>
          <a:p>
            <a:pPr marL="342900" indent="-342900"/>
            <a:r>
              <a:rPr lang="en-US" altLang="en-US" sz="2400"/>
              <a:t>Size Modifiers (short / long)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</a:t>
            </a:r>
            <a:r>
              <a:rPr lang="en-US" altLang="en-US" sz="2400" b="1"/>
              <a:t>short float or long float</a:t>
            </a:r>
            <a:r>
              <a:rPr lang="en-US" altLang="en-US" sz="2400"/>
              <a:t>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         Compilation Error! These do not exist in the C standard. 	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 </a:t>
            </a:r>
            <a:r>
              <a:rPr lang="en-US" altLang="en-US" sz="2400" b="1"/>
              <a:t>short double</a:t>
            </a:r>
            <a:r>
              <a:rPr lang="en-US" altLang="en-US" sz="2400"/>
              <a:t>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          Compilation Error! If you want a smaller fraction container, you simply use a regular float.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  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>
                <a:sym typeface="+mn-ea"/>
              </a:rPr>
              <a:t>Modifiers with Floating-Point Types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 b="1">
                <a:sym typeface="+mn-ea"/>
              </a:rPr>
              <a:t>long double</a:t>
            </a:r>
            <a:r>
              <a:rPr lang="en-US" altLang="en-US" sz="2400">
                <a:sym typeface="+mn-ea"/>
              </a:rPr>
              <a:t>: </a:t>
            </a:r>
            <a:endParaRPr lang="en-US" altLang="en-US" sz="2400">
              <a:sym typeface="+mn-ea"/>
            </a:endParaRPr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            Perfectly Valid! This is a highly critical type that expands a standard 8-byte double into a 12 to 16-byte ultra-precision storage tank. It handles hyper-detailed scientific computations without accumulating rounding errors. Use the %Lf format specifier to display it.</a:t>
            </a:r>
            <a:endParaRPr lang="en-US" altLang="en-US" sz="2400"/>
          </a:p>
          <a:p>
            <a:endParaRPr lang="en-US" sz="240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992504"/>
            <a:ext cx="10800000" cy="487362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副标题内容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CONTENT_GROUP_TYPE" val="contentchip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460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3460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0"/>
  <p:tag name="KSO_WM_SPECIAL_SOURCE" val="bdnull"/>
  <p:tag name="KSO_WM_TEMPLATE_THUMBS_INDEX" val="1、11"/>
</p:tagLst>
</file>

<file path=ppt/tags/tag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60_1*a*1"/>
  <p:tag name="KSO_WM_TEMPLATE_CATEGORY" val="custom"/>
  <p:tag name="KSO_WM_TEMPLATE_INDEX" val="20233460"/>
  <p:tag name="KSO_WM_UNIT_LAYERLEVEL" val="1"/>
  <p:tag name="KSO_WM_TAG_VERSION" val="3.0"/>
  <p:tag name="KSO_WM_BEAUTIFY_FLAG" val="#wm#"/>
  <p:tag name="KSO_WM_UNIT_CONTENT_GROUP_TYPE" val="contentchip"/>
  <p:tag name="KSO_WM_UNIT_PRESET_TEXT" val="Your title here"/>
</p:tagLst>
</file>

<file path=ppt/tags/tag16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60_1*f*1"/>
  <p:tag name="KSO_WM_TEMPLATE_CATEGORY" val="custom"/>
  <p:tag name="KSO_WM_TEMPLATE_INDEX" val="20233460"/>
  <p:tag name="KSO_WM_UNIT_LAYERLEVEL" val="1"/>
  <p:tag name="KSO_WM_TAG_VERSION" val="3.0"/>
  <p:tag name="KSO_WM_BEAUTIFY_FLAG" val="#wm#"/>
  <p:tag name="KSO_WM_UNIT_CONTENT_GROUP_TYPE" val="contentchip"/>
  <p:tag name="KSO_WM_UNIT_PRESET_TEXT" val="Name"/>
</p:tagLst>
</file>

<file path=ppt/tags/tag17.xml><?xml version="1.0" encoding="utf-8"?>
<p:tagLst xmlns:p="http://schemas.openxmlformats.org/presentationml/2006/main">
  <p:tag name="KSO_WM_SLIDE_ID" val="custom20233460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60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11"/>
  <p:tag name="KSO_WM_SLIDE_CONTENT_AREA" val="{&quot;left&quot;:&quot;52.2&quot;,&quot;top&quot;:&quot;111.9&quot;,&quot;width&quot;:&quot;620.7&quot;,&quot;height&quot;:&quot;260.55&quot;}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0"/>
</p:tagLst>
</file>

<file path=ppt/theme/theme1.xml><?xml version="1.0" encoding="utf-8"?>
<a:theme xmlns:a="http://schemas.openxmlformats.org/drawingml/2006/main" name="Office Theme">
  <a:themeElements>
    <a:clrScheme name="自定义 66">
      <a:dk1>
        <a:sysClr val="windowText" lastClr="000000"/>
      </a:dk1>
      <a:lt1>
        <a:sysClr val="window" lastClr="FFFFFF"/>
      </a:lt1>
      <a:dk2>
        <a:srgbClr val="3D4842"/>
      </a:dk2>
      <a:lt2>
        <a:srgbClr val="E5E8E6"/>
      </a:lt2>
      <a:accent1>
        <a:srgbClr val="7D9085"/>
      </a:accent1>
      <a:accent2>
        <a:srgbClr val="8B7D74"/>
      </a:accent2>
      <a:accent3>
        <a:srgbClr val="996A64"/>
      </a:accent3>
      <a:accent4>
        <a:srgbClr val="A75853"/>
      </a:accent4>
      <a:accent5>
        <a:srgbClr val="B54543"/>
      </a:accent5>
      <a:accent6>
        <a:srgbClr val="C33232"/>
      </a:accent6>
      <a:hlink>
        <a:srgbClr val="658BD5"/>
      </a:hlink>
      <a:folHlink>
        <a:srgbClr val="A16AA5"/>
      </a:folHlink>
    </a:clrScheme>
    <a:fontScheme name="Crimson Text SemiBold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4019</Words>
  <Application>WPS Presentation</Application>
  <PresentationFormat>Widescreen</PresentationFormat>
  <Paragraphs>165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Crimson Text SemiBold</vt:lpstr>
      <vt:lpstr>Charis SIL</vt:lpstr>
      <vt:lpstr>Microsoft YaHei</vt:lpstr>
      <vt:lpstr>Arial Unicode MS</vt:lpstr>
      <vt:lpstr>Calibri</vt:lpstr>
      <vt:lpstr>Office Theme</vt:lpstr>
      <vt:lpstr>TYPE MODIFIER</vt:lpstr>
      <vt:lpstr>Type Modifiers</vt:lpstr>
      <vt:lpstr>Sign Modifier</vt:lpstr>
      <vt:lpstr>Signed</vt:lpstr>
      <vt:lpstr>Unsigned</vt:lpstr>
      <vt:lpstr>PowerPoint 演示文稿</vt:lpstr>
      <vt:lpstr>Size Modifiers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 MODIFIER</dc:title>
  <dc:creator/>
  <cp:lastModifiedBy>chatbotislive</cp:lastModifiedBy>
  <cp:revision>15</cp:revision>
  <dcterms:created xsi:type="dcterms:W3CDTF">2026-06-21T11:49:00Z</dcterms:created>
  <dcterms:modified xsi:type="dcterms:W3CDTF">2026-06-21T18:31:29Z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B6CA750BB8E84654A614C34B1EBF11DA_12</vt:lpwstr>
  </property>
</Properties>
</file>