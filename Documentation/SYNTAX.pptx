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4" r:id="rId4"/>
  </p:sldMasterIdLst>
  <p:notesMasterIdLst>
    <p:notesMasterId r:id="rId16"/>
  </p:notesMasterIdLst>
  <p:handoutMasterIdLst>
    <p:handoutMasterId r:id="rId17"/>
  </p:handoutMasterIdLst>
  <p:sldIdLst>
    <p:sldId id="27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image" Target="../media/image1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image" Target="../media/image2.png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image" Target="../media/image3.png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187.xml"/><Relationship Id="rId8" Type="http://schemas.openxmlformats.org/officeDocument/2006/relationships/tags" Target="../tags/tag186.xml"/><Relationship Id="rId7" Type="http://schemas.openxmlformats.org/officeDocument/2006/relationships/tags" Target="../tags/tag185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4" Type="http://schemas.openxmlformats.org/officeDocument/2006/relationships/image" Target="../media/image4.png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8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4956" y="100584"/>
            <a:ext cx="9875520" cy="675741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5"/>
            </p:custDataLst>
          </p:nvPr>
        </p:nvSpPr>
        <p:spPr>
          <a:xfrm>
            <a:off x="838200" y="304165"/>
            <a:ext cx="7412355" cy="315214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3" name="副标题 2"/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838200" y="3600000"/>
            <a:ext cx="6443749" cy="972000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文本占位符 23"/>
          <p:cNvSpPr>
            <a:spLocks noGrp="1"/>
          </p:cNvSpPr>
          <p:nvPr userDrawn="1">
            <p:ph type="body" sz="quarter" idx="17" hasCustomPrompt="1"/>
            <p:custDataLst>
              <p:tags r:id="rId7"/>
            </p:custDataLst>
          </p:nvPr>
        </p:nvSpPr>
        <p:spPr>
          <a:xfrm>
            <a:off x="838200" y="4580116"/>
            <a:ext cx="2743200" cy="504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9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10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5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24" y="941832"/>
            <a:ext cx="7854696" cy="59161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07440" y="659130"/>
            <a:ext cx="9991725" cy="1081405"/>
          </a:xfrm>
        </p:spPr>
        <p:txBody>
          <a:bodyPr anchor="t">
            <a:normAutofit/>
          </a:bodyPr>
          <a:lstStyle>
            <a:lvl1pPr algn="l">
              <a:defRPr sz="42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-1270" y="-635"/>
            <a:ext cx="12192000" cy="6858635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9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314956" y="2395728"/>
            <a:ext cx="7013448" cy="44622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057775" y="413385"/>
            <a:ext cx="6657975" cy="2251710"/>
          </a:xfrm>
        </p:spPr>
        <p:txBody>
          <a:bodyPr lIns="0" bIns="71755" anchor="b" anchorCtr="0"/>
          <a:lstStyle>
            <a:lvl1pPr algn="l">
              <a:defRPr sz="40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>
              <a:latin typeface="+mj-lt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2425602" y="1459058"/>
            <a:ext cx="2538632" cy="1152000"/>
          </a:xfrm>
        </p:spPr>
        <p:txBody>
          <a:bodyPr wrap="none" bIns="0" anchor="b" anchorCtr="0">
            <a:normAutofit/>
          </a:bodyPr>
          <a:lstStyle>
            <a:lvl1pPr marL="0" indent="0" algn="r">
              <a:buNone/>
              <a:defRPr sz="4400" b="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 lang="en-US" dirty="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  <a:lvl2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2pPr>
            <a:lvl3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3pPr>
            <a:lvl4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4pPr>
            <a:lvl5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800715" cy="864235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b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325" y="360045"/>
            <a:ext cx="10799445" cy="864235"/>
          </a:xfrm>
        </p:spPr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anchor="t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2"/>
            </p:custDataLst>
          </p:nvPr>
        </p:nvSpPr>
        <p:spPr>
          <a:xfrm>
            <a:off x="-1270" y="0"/>
            <a:ext cx="12192000" cy="6858000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dirty="0">
              <a:sym typeface="+mn-lt"/>
            </a:endParaRPr>
          </a:p>
        </p:txBody>
      </p:sp>
      <p:pic>
        <p:nvPicPr>
          <p:cNvPr id="8" name="@png2x_0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39925" y="100330"/>
            <a:ext cx="10250170" cy="67576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127125" y="927735"/>
            <a:ext cx="6409055" cy="2729865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1194435" y="4054787"/>
            <a:ext cx="2743200" cy="59303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lt1">
                    <a:lumMod val="10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9"/>
            <p:custDataLst>
              <p:tags r:id="rId8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0"/>
            <p:custDataLst>
              <p:tags r:id="rId9"/>
            </p:custDataLst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9" Type="http://schemas.openxmlformats.org/officeDocument/2006/relationships/theme" Target="../theme/theme2.xml"/><Relationship Id="rId18" Type="http://schemas.openxmlformats.org/officeDocument/2006/relationships/tags" Target="../tags/tag124.xml"/><Relationship Id="rId17" Type="http://schemas.openxmlformats.org/officeDocument/2006/relationships/tags" Target="../tags/tag123.xml"/><Relationship Id="rId16" Type="http://schemas.openxmlformats.org/officeDocument/2006/relationships/tags" Target="../tags/tag122.xml"/><Relationship Id="rId15" Type="http://schemas.openxmlformats.org/officeDocument/2006/relationships/tags" Target="../tags/tag121.xml"/><Relationship Id="rId14" Type="http://schemas.openxmlformats.org/officeDocument/2006/relationships/tags" Target="../tags/tag120.xml"/><Relationship Id="rId13" Type="http://schemas.openxmlformats.org/officeDocument/2006/relationships/tags" Target="../tags/tag119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9" Type="http://schemas.openxmlformats.org/officeDocument/2006/relationships/theme" Target="../theme/theme3.xml"/><Relationship Id="rId18" Type="http://schemas.openxmlformats.org/officeDocument/2006/relationships/tags" Target="../tags/tag194.xml"/><Relationship Id="rId17" Type="http://schemas.openxmlformats.org/officeDocument/2006/relationships/tags" Target="../tags/tag193.xml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2"/>
            </p:custDataLst>
          </p:nvPr>
        </p:nvSpPr>
        <p:spPr>
          <a:xfrm>
            <a:off x="-1270" y="-635"/>
            <a:ext cx="12192000" cy="6858635"/>
          </a:xfrm>
          <a:prstGeom prst="rect">
            <a:avLst/>
          </a:prstGeom>
          <a:gradFill flip="none" rotWithShape="1">
            <a:gsLst>
              <a:gs pos="36000">
                <a:schemeClr val="bg1">
                  <a:alpha val="57000"/>
                </a:schemeClr>
              </a:gs>
              <a:gs pos="100000">
                <a:schemeClr val="bg2">
                  <a:alpha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90000"/>
              <a:lumOff val="10000"/>
            </a:schemeClr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10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050" kern="1200">
          <a:solidFill>
            <a:schemeClr val="tx2">
              <a:lumMod val="90000"/>
              <a:lumOff val="10000"/>
            </a:schemeClr>
          </a:solidFill>
          <a:latin typeface="汉仪书宋二简" panose="020206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5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tags" Target="../tags/tag20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07.xml"/><Relationship Id="rId2" Type="http://schemas.openxmlformats.org/officeDocument/2006/relationships/tags" Target="../tags/tag206.xml"/><Relationship Id="rId1" Type="http://schemas.openxmlformats.org/officeDocument/2006/relationships/tags" Target="../tags/tag205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3.xml"/><Relationship Id="rId2" Type="http://schemas.openxmlformats.org/officeDocument/2006/relationships/tags" Target="../tags/tag212.xml"/><Relationship Id="rId1" Type="http://schemas.openxmlformats.org/officeDocument/2006/relationships/tags" Target="../tags/tag21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tags" Target="../tags/tag2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tags" Target="../tags/tag2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STRUCTURE OF C</a:t>
            </a:r>
            <a:endParaRPr lang="en-US" dirty="0">
              <a:latin typeface="+mj-lt"/>
            </a:endParaRPr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UNDERSTANDING THE BASIC SYNTAX OF C</a:t>
            </a:r>
            <a:endParaRPr lang="en-US">
              <a:latin typeface="+mj-lt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ANISH A R</a:t>
            </a: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CODE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6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#include&lt;stdio.h&gt;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int main()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{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printf(“HELLO WORLD”);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return 0;</a:t>
            </a:r>
            <a:endParaRPr lang="en-US" sz="32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3200">
                <a:solidFill>
                  <a:schemeClr val="tx1"/>
                </a:solidFill>
              </a:rPr>
              <a:t>}</a:t>
            </a:r>
            <a:endParaRPr lang="en-US" sz="3200">
              <a:solidFill>
                <a:schemeClr val="tx1"/>
              </a:solidFill>
            </a:endParaRPr>
          </a:p>
        </p:txBody>
      </p:sp>
      <p:sp>
        <p:nvSpPr>
          <p:cNvPr id="12" name="Cloud Callout 11"/>
          <p:cNvSpPr/>
          <p:nvPr/>
        </p:nvSpPr>
        <p:spPr>
          <a:xfrm>
            <a:off x="7084695" y="360045"/>
            <a:ext cx="4411345" cy="2496820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2400" b="1">
                <a:solidFill>
                  <a:schemeClr val="bg1"/>
                </a:solidFill>
              </a:rPr>
              <a:t>TRY EXECUTING... </a:t>
            </a:r>
            <a:endParaRPr lang="en-US" sz="2400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#include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A preprocessor command</a:t>
            </a:r>
            <a:r>
              <a:rPr lang="en-US" altLang="en-US" sz="2800">
                <a:solidFill>
                  <a:schemeClr val="tx1"/>
                </a:solidFill>
                <a:sym typeface="+mn-ea"/>
              </a:rPr>
              <a:t>.</a:t>
            </a:r>
            <a:endParaRPr lang="en-US" altLang="en-US" sz="2800">
              <a:solidFill>
                <a:schemeClr val="tx1"/>
              </a:solidFill>
              <a:sym typeface="+mn-ea"/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tells the computer to copy and paste text from an external source file before doing anything else.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&lt;stdio.h&gt;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Standard Input/Output header file.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This file contains the definitions for reading and writing data. You must include it so your program understands what</a:t>
            </a:r>
            <a:r>
              <a:rPr lang="en-US" altLang="en-US" sz="2800" b="1">
                <a:solidFill>
                  <a:schemeClr val="tx1"/>
                </a:solidFill>
              </a:rPr>
              <a:t> “printf” </a:t>
            </a:r>
            <a:r>
              <a:rPr lang="en-US" altLang="en-US" sz="2800">
                <a:solidFill>
                  <a:schemeClr val="tx1"/>
                </a:solidFill>
              </a:rPr>
              <a:t>means.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int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Integer data type.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tells the Operating System that when this program finishes running, it will hand back a whole number (an integer) as a final status report.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main()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The entry point function.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This is the mandatory starting point. No matter how massive a C program is, the computer always searches for the word main and starts executing instructions from there.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{ and }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Curly braces / Block delimiters.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These act like a box. Everything written inside these braces belongs strictly to the main function.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printf()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Standard library printing function.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Short for "print formatted." It takes whatever text is passed inside its parentheses and displays it on your screen.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HELLO WORLD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Text string literal.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 exact text characters you want to display. (Note: Ensure you use standard straight quotes "" instead of curly smart quotes “” when typing this into an editor, or the compiler will throw a syntax error).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3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Semicolon / Statement terminator.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The grammatical "period" of the C language. It tells the compiler that this specific instruction line is complete.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>
              <a:defRPr>
                <a:solidFill>
                  <a:schemeClr val="tx2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cs typeface="+mn-ea"/>
                <a:sym typeface="+mn-ea"/>
              </a:rPr>
              <a:t>return 0;</a:t>
            </a:r>
            <a:endParaRPr lang="en-US" dirty="0">
              <a:cs typeface="+mn-ea"/>
              <a:sym typeface="+mn-ea"/>
            </a:endParaRPr>
          </a:p>
        </p:txBody>
      </p:sp>
      <p:sp>
        <p:nvSpPr>
          <p:cNvPr id="2" name="Content Placeholder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08013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800">
                <a:solidFill>
                  <a:schemeClr val="tx1"/>
                </a:solidFill>
              </a:rPr>
              <a:t>Role: Exit status statement.</a:t>
            </a:r>
            <a:endParaRPr lang="en-US" altLang="en-US" sz="2800">
              <a:solidFill>
                <a:schemeClr val="tx1"/>
              </a:solidFill>
            </a:endParaRPr>
          </a:p>
          <a:p>
            <a:r>
              <a:rPr lang="en-US" altLang="en-US" sz="2800">
                <a:solidFill>
                  <a:schemeClr val="tx1"/>
                </a:solidFill>
              </a:rPr>
              <a:t>Meaning: It sends the number 0 back to the Operating System. In computer programming, a return value of 0 universally means "Everything ran perfectly with zero errors."</a:t>
            </a:r>
            <a:endParaRPr lang="en-US" altLang="en-US" sz="28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5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8004"/>
</p:tagLst>
</file>

<file path=ppt/tags/tag1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765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8004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4"/>
</p:tagLst>
</file>

<file path=ppt/tags/tag1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单击此处编辑母版标题样式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单击此处编辑母版副标题样式"/>
</p:tagLst>
</file>

<file path=ppt/tags/tag197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TEMPLATE_CATEGORY" val="custom"/>
  <p:tag name="KSO_WM_TEMPLATE_INDEX" val="20238004"/>
  <p:tag name="KSO_WM_UNIT_LAYERLEVEL" val="1"/>
  <p:tag name="KSO_WM_TAG_VERSION" val="3.0"/>
  <p:tag name="KSO_WM_BEAUTIFY_FLAG" val="#wm#"/>
  <p:tag name="KSO_WM_UNIT_PRESET_TEXT" val="署名占位符"/>
</p:tagLst>
</file>

<file path=ppt/tags/tag198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800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4"/>
  <p:tag name="KSO_WM_SLIDE_LAYOUT" val="a_b_f"/>
  <p:tag name="KSO_WM_SLIDE_LAYOUT_CNT" val="1_1_1"/>
</p:tagLst>
</file>

<file path=ppt/tags/tag1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2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2.xml><?xml version="1.0" encoding="utf-8"?>
<p:tagLst xmlns:p="http://schemas.openxmlformats.org/presentationml/2006/main">
  <p:tag name="KSO_WM_UNIT_TEXT" val="COD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5.xml><?xml version="1.0" encoding="utf-8"?>
<p:tagLst xmlns:p="http://schemas.openxmlformats.org/presentationml/2006/main">
  <p:tag name="KSO_WM_UNIT_TEXT" val="#include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08.xml><?xml version="1.0" encoding="utf-8"?>
<p:tagLst xmlns:p="http://schemas.openxmlformats.org/presentationml/2006/main">
  <p:tag name="KSO_WM_UNIT_TEXT" val="&lt;stdio.h&gt;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1.xml><?xml version="1.0" encoding="utf-8"?>
<p:tagLst xmlns:p="http://schemas.openxmlformats.org/presentationml/2006/main">
  <p:tag name="KSO_WM_UNIT_TEXT" val="in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4.xml><?xml version="1.0" encoding="utf-8"?>
<p:tagLst xmlns:p="http://schemas.openxmlformats.org/presentationml/2006/main">
  <p:tag name="KSO_WM_UNIT_TEXT" val="main(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17.xml><?xml version="1.0" encoding="utf-8"?>
<p:tagLst xmlns:p="http://schemas.openxmlformats.org/presentationml/2006/main">
  <p:tag name="KSO_WM_UNIT_TEXT" val="{ and }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0.xml><?xml version="1.0" encoding="utf-8"?>
<p:tagLst xmlns:p="http://schemas.openxmlformats.org/presentationml/2006/main">
  <p:tag name="KSO_WM_UNIT_TEXT" val="printf()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3"/>
  <p:tag name="KSO_WM_UNIT_TYPE" val="f"/>
  <p:tag name="KSO_WM_UNIT_SUBTYPE" val="a"/>
</p:tagLst>
</file>

<file path=ppt/tags/tag2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3.xml><?xml version="1.0" encoding="utf-8"?>
<p:tagLst xmlns:p="http://schemas.openxmlformats.org/presentationml/2006/main">
  <p:tag name="KSO_WM_UNIT_TEXT" val="HELLO WORLD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226.xml><?xml version="1.0" encoding="utf-8"?>
<p:tagLst xmlns:p="http://schemas.openxmlformats.org/presentationml/2006/main">
  <p:tag name="KSO_WM_UNIT_TEXT" val=";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5"/>
  <p:tag name="KSO_WM_UNIT_TYPE" val="f"/>
  <p:tag name="KSO_WM_UNIT_SUBTYPE" val="a"/>
</p:tagLst>
</file>

<file path=ppt/tags/tag2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自定义 17">
      <a:dk1>
        <a:srgbClr val="000000"/>
      </a:dk1>
      <a:lt1>
        <a:srgbClr val="FFFFFF"/>
      </a:lt1>
      <a:dk2>
        <a:srgbClr val="00480C"/>
      </a:dk2>
      <a:lt2>
        <a:srgbClr val="DAFF7C"/>
      </a:lt2>
      <a:accent1>
        <a:srgbClr val="55D228"/>
      </a:accent1>
      <a:accent2>
        <a:srgbClr val="60A873"/>
      </a:accent2>
      <a:accent3>
        <a:srgbClr val="55A59A"/>
      </a:accent3>
      <a:accent4>
        <a:srgbClr val="9CDA00"/>
      </a:accent4>
      <a:accent5>
        <a:srgbClr val="F84949"/>
      </a:accent5>
      <a:accent6>
        <a:srgbClr val="FFC000"/>
      </a:accent6>
      <a:hlink>
        <a:srgbClr val="304FFE"/>
      </a:hlink>
      <a:folHlink>
        <a:srgbClr val="492067"/>
      </a:folHlink>
    </a:clrScheme>
    <a:fontScheme name="Manrope ExtraBold +Lato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1816</Words>
  <Application>WPS Presentation</Application>
  <PresentationFormat>Widescreen</PresentationFormat>
  <Paragraphs>62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Arial</vt:lpstr>
      <vt:lpstr>汉仪书宋二简</vt:lpstr>
      <vt:lpstr>Manrope ExtraBold</vt:lpstr>
      <vt:lpstr>Lato</vt:lpstr>
      <vt:lpstr>WPS</vt:lpstr>
      <vt:lpstr>1_WPS</vt:lpstr>
      <vt:lpstr>Office Theme</vt:lpstr>
      <vt:lpstr>STRUCTURE OF C</vt:lpstr>
      <vt:lpstr>CODE</vt:lpstr>
      <vt:lpstr>#include</vt:lpstr>
      <vt:lpstr>&lt;stdio.h&gt;</vt:lpstr>
      <vt:lpstr>int</vt:lpstr>
      <vt:lpstr>main()</vt:lpstr>
      <vt:lpstr>{ and }</vt:lpstr>
      <vt:lpstr>printf()</vt:lpstr>
      <vt:lpstr>HELLO WORLD</vt:lpstr>
      <vt:lpstr>;</vt:lpstr>
      <vt:lpstr>return 0;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 OF C</dc:title>
  <dc:creator/>
  <cp:lastModifiedBy>chatbotislive</cp:lastModifiedBy>
  <cp:revision>3</cp:revision>
  <dcterms:created xsi:type="dcterms:W3CDTF">2026-06-19T14:55:02Z</dcterms:created>
  <dcterms:modified xsi:type="dcterms:W3CDTF">2026-06-19T15:03:06Z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1E33E2B4042C4CFDAA1754FC36E88A23_12</vt:lpwstr>
  </property>
</Properties>
</file>