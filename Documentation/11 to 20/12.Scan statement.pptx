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0"/>
  </p:notesMasterIdLst>
  <p:handoutMasterIdLst>
    <p:handoutMasterId r:id="rId45"/>
  </p:handoutMasterIdLst>
  <p:sldIdLst>
    <p:sldId id="257" r:id="rId3"/>
    <p:sldId id="259" r:id="rId4"/>
    <p:sldId id="263" r:id="rId5"/>
    <p:sldId id="264" r:id="rId6"/>
    <p:sldId id="265" r:id="rId7"/>
    <p:sldId id="266" r:id="rId8"/>
    <p:sldId id="267" r:id="rId9"/>
    <p:sldId id="268" r:id="rId10"/>
    <p:sldId id="269" r:id="rId11"/>
    <p:sldId id="270" r:id="rId12"/>
    <p:sldId id="271" r:id="rId13"/>
    <p:sldId id="272" r:id="rId14"/>
    <p:sldId id="273" r:id="rId15"/>
    <p:sldId id="274" r:id="rId16"/>
    <p:sldId id="275" r:id="rId17"/>
    <p:sldId id="276" r:id="rId18"/>
    <p:sldId id="277" r:id="rId19"/>
    <p:sldId id="278" r:id="rId20"/>
    <p:sldId id="279" r:id="rId21"/>
    <p:sldId id="280" r:id="rId22"/>
    <p:sldId id="281" r:id="rId23"/>
    <p:sldId id="282" r:id="rId24"/>
    <p:sldId id="283" r:id="rId25"/>
    <p:sldId id="284" r:id="rId26"/>
    <p:sldId id="285" r:id="rId27"/>
    <p:sldId id="286" r:id="rId28"/>
    <p:sldId id="287" r:id="rId29"/>
    <p:sldId id="288" r:id="rId31"/>
    <p:sldId id="289" r:id="rId32"/>
    <p:sldId id="290" r:id="rId33"/>
    <p:sldId id="291" r:id="rId34"/>
    <p:sldId id="292" r:id="rId35"/>
    <p:sldId id="293" r:id="rId36"/>
    <p:sldId id="294" r:id="rId37"/>
    <p:sldId id="295" r:id="rId38"/>
    <p:sldId id="296" r:id="rId39"/>
    <p:sldId id="297" r:id="rId40"/>
    <p:sldId id="298" r:id="rId41"/>
    <p:sldId id="299" r:id="rId42"/>
    <p:sldId id="300" r:id="rId43"/>
    <p:sldId id="301" r:id="rId4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60"/>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8" Type="http://schemas.openxmlformats.org/officeDocument/2006/relationships/tableStyles" Target="tableStyles.xml"/><Relationship Id="rId47" Type="http://schemas.openxmlformats.org/officeDocument/2006/relationships/viewProps" Target="viewProps.xml"/><Relationship Id="rId46" Type="http://schemas.openxmlformats.org/officeDocument/2006/relationships/presProps" Target="presProps.xml"/><Relationship Id="rId45" Type="http://schemas.openxmlformats.org/officeDocument/2006/relationships/handoutMaster" Target="handoutMasters/handoutMaster1.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notesMaster" Target="notesMasters/notesMaster1.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96C064A-D61B-4B21-B757-51A9B82445B8}" type="datetimeFigureOut">
              <a:rPr lang="en-US" smtClean="0"/>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0305E07-67EA-4042-A3F6-853A8AD8D209}" type="slidenum">
              <a:rPr lang="en-US" smtClean="0"/>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9" Type="http://schemas.openxmlformats.org/officeDocument/2006/relationships/tags" Target="../tags/tag7.xml"/><Relationship Id="rId8" Type="http://schemas.openxmlformats.org/officeDocument/2006/relationships/tags" Target="../tags/tag6.xml"/><Relationship Id="rId7" Type="http://schemas.openxmlformats.org/officeDocument/2006/relationships/tags" Target="../tags/tag5.xml"/><Relationship Id="rId6" Type="http://schemas.openxmlformats.org/officeDocument/2006/relationships/tags" Target="../tags/tag4.xml"/><Relationship Id="rId5" Type="http://schemas.openxmlformats.org/officeDocument/2006/relationships/tags" Target="../tags/tag3.xml"/><Relationship Id="rId4" Type="http://schemas.openxmlformats.org/officeDocument/2006/relationships/image" Target="../media/image1.png"/><Relationship Id="rId3" Type="http://schemas.openxmlformats.org/officeDocument/2006/relationships/tags" Target="../tags/tag2.xml"/><Relationship Id="rId2" Type="http://schemas.openxmlformats.org/officeDocument/2006/relationships/tags" Target="../tags/tag1.xml"/><Relationship Id="rId10" Type="http://schemas.openxmlformats.org/officeDocument/2006/relationships/tags" Target="../tags/tag8.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showMasterSp="0" userDrawn="1">
  <p:cSld name="Title Slide">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0" y="0"/>
            <a:ext cx="12192000" cy="6858000"/>
          </a:xfrm>
          <a:prstGeom prst="rect">
            <a:avLst/>
          </a:prstGeom>
          <a:gradFill>
            <a:gsLst>
              <a:gs pos="20000">
                <a:schemeClr val="bg2">
                  <a:lumMod val="75000"/>
                </a:schemeClr>
              </a:gs>
              <a:gs pos="100000">
                <a:schemeClr val="bg2"/>
              </a:gs>
            </a:gsLst>
            <a:lin ang="132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pic>
        <p:nvPicPr>
          <p:cNvPr id="8" name="图片 7" descr="VCG41N1407069154-[转换]"/>
          <p:cNvPicPr>
            <a:picLocks noChangeAspect="1"/>
          </p:cNvPicPr>
          <p:nvPr userDrawn="1">
            <p:custDataLst>
              <p:tags r:id="rId3"/>
            </p:custDataLst>
          </p:nvPr>
        </p:nvPicPr>
        <p:blipFill>
          <a:blip r:embed="rId4"/>
          <a:srcRect l="23975"/>
          <a:stretch>
            <a:fillRect/>
          </a:stretch>
        </p:blipFill>
        <p:spPr>
          <a:xfrm>
            <a:off x="0" y="0"/>
            <a:ext cx="12192000" cy="6858000"/>
          </a:xfrm>
          <a:prstGeom prst="rect">
            <a:avLst/>
          </a:prstGeom>
          <a:effectLst/>
        </p:spPr>
      </p:pic>
      <p:sp>
        <p:nvSpPr>
          <p:cNvPr id="2" name="标题 1"/>
          <p:cNvSpPr>
            <a:spLocks noGrp="1"/>
          </p:cNvSpPr>
          <p:nvPr>
            <p:ph type="ctrTitle" hasCustomPrompt="1"/>
            <p:custDataLst>
              <p:tags r:id="rId5"/>
            </p:custDataLst>
          </p:nvPr>
        </p:nvSpPr>
        <p:spPr>
          <a:xfrm>
            <a:off x="953770" y="1409065"/>
            <a:ext cx="6779260" cy="2950845"/>
          </a:xfrm>
          <a:effectLst>
            <a:outerShdw dist="101600" dir="5400000" algn="ctr" rotWithShape="0">
              <a:schemeClr val="accent1">
                <a:lumMod val="50000"/>
                <a:alpha val="5000"/>
              </a:schemeClr>
            </a:outerShdw>
          </a:effectLst>
        </p:spPr>
        <p:txBody>
          <a:bodyPr wrap="square" lIns="90000" tIns="46800" rIns="90000" bIns="46800" anchor="t" anchorCtr="0">
            <a:normAutofit/>
          </a:bodyPr>
          <a:lstStyle>
            <a:lvl1pPr algn="l">
              <a:lnSpc>
                <a:spcPct val="100000"/>
              </a:lnSpc>
              <a:defRPr sz="5000" u="none" strike="noStrike" kern="1200" cap="none" spc="0" normalizeH="0" baseline="0">
                <a:solidFill>
                  <a:srgbClr val="FFFFFF"/>
                </a:solidFill>
                <a:latin typeface="+mj-lt"/>
              </a:defRPr>
            </a:lvl1pPr>
          </a:lstStyle>
          <a:p>
            <a:r>
              <a:rPr lang="en-US" dirty="0">
                <a:latin typeface="+mj-lt"/>
              </a:rPr>
              <a:t>Click to add title</a:t>
            </a:r>
            <a:endParaRPr lang="en-US" dirty="0">
              <a:latin typeface="+mj-lt"/>
            </a:endParaRPr>
          </a:p>
        </p:txBody>
      </p:sp>
      <p:sp>
        <p:nvSpPr>
          <p:cNvPr id="3" name="副标题 2"/>
          <p:cNvSpPr>
            <a:spLocks noGrp="1"/>
          </p:cNvSpPr>
          <p:nvPr>
            <p:ph type="subTitle" idx="1" hasCustomPrompt="1"/>
            <p:custDataLst>
              <p:tags r:id="rId6"/>
            </p:custDataLst>
          </p:nvPr>
        </p:nvSpPr>
        <p:spPr>
          <a:xfrm>
            <a:off x="982800" y="800455"/>
            <a:ext cx="6231600" cy="468000"/>
          </a:xfrm>
        </p:spPr>
        <p:txBody>
          <a:bodyPr wrap="square" lIns="90000" tIns="46800" rIns="90000" bIns="46800" anchor="b">
            <a:normAutofit/>
          </a:bodyPr>
          <a:lstStyle>
            <a:lvl1pPr marL="0" indent="0" algn="l">
              <a:lnSpc>
                <a:spcPct val="100000"/>
              </a:lnSpc>
              <a:buNone/>
              <a:defRPr sz="2000" b="1" u="none" strike="noStrike" kern="1200" cap="none" spc="0" normalizeH="0" baseline="0">
                <a:solidFill>
                  <a:schemeClr val="accent1">
                    <a:lumMod val="75000"/>
                    <a:alpha val="70000"/>
                  </a:schemeClr>
                </a:solidFill>
                <a:latin typeface="+mj-lt"/>
              </a:defRPr>
            </a:lvl1pPr>
            <a:lvl2pPr marL="457200" indent="0" algn="ctr">
              <a:buNone/>
              <a:defRPr sz="2000">
                <a:latin typeface="+mj-lt"/>
              </a:defRPr>
            </a:lvl2pPr>
            <a:lvl3pPr marL="914400" indent="0" algn="ctr">
              <a:buNone/>
              <a:defRPr sz="1800">
                <a:latin typeface="+mj-lt"/>
              </a:defRPr>
            </a:lvl3pPr>
            <a:lvl4pPr marL="1371600" indent="0" algn="ctr">
              <a:buNone/>
              <a:defRPr sz="1600">
                <a:latin typeface="+mj-lt"/>
              </a:defRPr>
            </a:lvl4pPr>
            <a:lvl5pPr marL="1828800" indent="0" algn="ctr">
              <a:buNone/>
              <a:defRPr sz="1600">
                <a:latin typeface="+mj-lt"/>
              </a:defRPr>
            </a:lvl5pPr>
            <a:lvl6pPr marL="2286000" indent="0" algn="ctr">
              <a:buNone/>
              <a:defRPr sz="1600">
                <a:latin typeface="+mj-lt"/>
              </a:defRPr>
            </a:lvl6pPr>
            <a:lvl7pPr marL="2743200" indent="0" algn="ctr">
              <a:buNone/>
              <a:defRPr sz="1600">
                <a:latin typeface="+mj-lt"/>
              </a:defRPr>
            </a:lvl7pPr>
            <a:lvl8pPr marL="3200400" indent="0" algn="ctr">
              <a:buNone/>
              <a:defRPr sz="1600">
                <a:latin typeface="+mj-lt"/>
              </a:defRPr>
            </a:lvl8pPr>
            <a:lvl9pPr marL="3657600" indent="0" algn="ctr">
              <a:buNone/>
              <a:defRPr sz="1600">
                <a:latin typeface="+mj-lt"/>
              </a:defRPr>
            </a:lvl9pPr>
          </a:lstStyle>
          <a:p>
            <a:r>
              <a:rPr lang="en-US" dirty="0">
                <a:latin typeface="+mj-lt"/>
              </a:rPr>
              <a:t>Click to add subtitle</a:t>
            </a:r>
            <a:endParaRPr lang="en-US" dirty="0"/>
          </a:p>
        </p:txBody>
      </p:sp>
      <p:sp>
        <p:nvSpPr>
          <p:cNvPr id="4" name="日期占位符 3"/>
          <p:cNvSpPr>
            <a:spLocks noGrp="1"/>
          </p:cNvSpPr>
          <p:nvPr>
            <p:ph type="dt" sz="half" idx="10"/>
            <p:custDataLst>
              <p:tags r:id="rId7"/>
            </p:custDataLst>
          </p:nvPr>
        </p:nvSpPr>
        <p:spPr/>
        <p:txBody>
          <a:bodyPr wrap="square">
            <a:normAutofit/>
          </a:bodyPr>
          <a:lstStyle/>
          <a:p>
            <a:r>
              <a:rPr lang="en-US"/>
              <a:t>Date Area</a:t>
            </a:r>
            <a:endParaRPr lang="en-US"/>
          </a:p>
        </p:txBody>
      </p:sp>
      <p:sp>
        <p:nvSpPr>
          <p:cNvPr id="5" name="页脚占位符 4"/>
          <p:cNvSpPr>
            <a:spLocks noGrp="1"/>
          </p:cNvSpPr>
          <p:nvPr>
            <p:ph type="ftr" sz="quarter" idx="11"/>
            <p:custDataLst>
              <p:tags r:id="rId8"/>
            </p:custDataLst>
          </p:nvPr>
        </p:nvSpPr>
        <p:spPr/>
        <p:txBody>
          <a:bodyPr>
            <a:normAutofit/>
          </a:bodyPr>
          <a:lstStyle/>
          <a:p>
            <a:endParaRPr lang="en-US" dirty="0"/>
          </a:p>
        </p:txBody>
      </p:sp>
      <p:sp>
        <p:nvSpPr>
          <p:cNvPr id="6" name="灯片编号占位符 5"/>
          <p:cNvSpPr>
            <a:spLocks noGrp="1"/>
          </p:cNvSpPr>
          <p:nvPr>
            <p:ph type="sldNum" sz="quarter" idx="12"/>
            <p:custDataLst>
              <p:tags r:id="rId9"/>
            </p:custDataLst>
          </p:nvPr>
        </p:nvSpPr>
        <p:spPr>
          <a:xfrm>
            <a:off x="8610600" y="6356350"/>
            <a:ext cx="2743200" cy="365125"/>
          </a:xfrm>
        </p:spPr>
        <p:txBody>
          <a:bodyPr wrap="square">
            <a:normAutofit/>
          </a:bodyPr>
          <a:lstStyle/>
          <a:p>
            <a:fld id="{BE5F26B5-172A-4DC2-B0B7-181CFC56B87C}" type="slidenum">
              <a:rPr lang="en-US" smtClean="0"/>
            </a:fld>
            <a:endParaRPr lang="en-US"/>
          </a:p>
        </p:txBody>
      </p:sp>
      <p:sp>
        <p:nvSpPr>
          <p:cNvPr id="24" name="署名占位符 10"/>
          <p:cNvSpPr>
            <a:spLocks noGrp="1"/>
          </p:cNvSpPr>
          <p:nvPr>
            <p:ph type="body" sz="quarter" idx="17" hasCustomPrompt="1"/>
            <p:custDataLst>
              <p:tags r:id="rId10"/>
            </p:custDataLst>
          </p:nvPr>
        </p:nvSpPr>
        <p:spPr>
          <a:xfrm>
            <a:off x="1080000" y="4590000"/>
            <a:ext cx="3646800" cy="540000"/>
          </a:xfrm>
          <a:prstGeom prst="roundRect">
            <a:avLst>
              <a:gd name="adj" fmla="val 50000"/>
            </a:avLst>
          </a:prstGeom>
          <a:ln w="25400">
            <a:solidFill>
              <a:srgbClr val="FFFFFF">
                <a:alpha val="80000"/>
              </a:srgbClr>
            </a:solidFill>
          </a:ln>
        </p:spPr>
        <p:txBody>
          <a:bodyPr wrap="square" lIns="90000" tIns="46800" rIns="90000" bIns="46800" anchor="t">
            <a:normAutofit/>
          </a:bodyPr>
          <a:lstStyle>
            <a:lvl1pPr marL="0" indent="0" algn="ctr">
              <a:lnSpc>
                <a:spcPct val="100000"/>
              </a:lnSpc>
              <a:buNone/>
              <a:defRPr sz="1800" u="none" strike="noStrike" kern="1200" cap="none" spc="0" normalizeH="0">
                <a:solidFill>
                  <a:srgbClr val="FFFFFF"/>
                </a:solidFill>
                <a:latin typeface="+mn-lt"/>
              </a:defRPr>
            </a:lvl1pPr>
          </a:lstStyle>
          <a:p>
            <a:pPr lvl="0"/>
            <a:r>
              <a:rPr lang="en-US" dirty="0">
                <a:latin typeface="+mn-lt"/>
              </a:rPr>
              <a:t>Click to add text</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r>
              <a:rPr lang="en-US"/>
              <a:t>Date Area</a:t>
            </a:r>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E5F26B5-172A-4DC2-B0B7-181CFC56B87C}"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tags" Target="../tags/tag14.xml"/><Relationship Id="rId8" Type="http://schemas.openxmlformats.org/officeDocument/2006/relationships/tags" Target="../tags/tag13.xml"/><Relationship Id="rId7" Type="http://schemas.openxmlformats.org/officeDocument/2006/relationships/tags" Target="../tags/tag12.xml"/><Relationship Id="rId6" Type="http://schemas.openxmlformats.org/officeDocument/2006/relationships/tags" Target="../tags/tag11.xml"/><Relationship Id="rId5" Type="http://schemas.openxmlformats.org/officeDocument/2006/relationships/image" Target="../media/image2.png"/><Relationship Id="rId4" Type="http://schemas.openxmlformats.org/officeDocument/2006/relationships/tags" Target="../tags/tag10.xml"/><Relationship Id="rId3" Type="http://schemas.openxmlformats.org/officeDocument/2006/relationships/tags" Target="../tags/tag9.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tags" Target="../tags/tag16.xml"/><Relationship Id="rId10" Type="http://schemas.openxmlformats.org/officeDocument/2006/relationships/tags" Target="../tags/tag15.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8" name="矩形 7"/>
          <p:cNvSpPr/>
          <p:nvPr userDrawn="1">
            <p:custDataLst>
              <p:tags r:id="rId3"/>
            </p:custDataLst>
          </p:nvPr>
        </p:nvSpPr>
        <p:spPr>
          <a:xfrm>
            <a:off x="0" y="0"/>
            <a:ext cx="12192000" cy="6858000"/>
          </a:xfrm>
          <a:prstGeom prst="rect">
            <a:avLst/>
          </a:prstGeom>
          <a:gradFill>
            <a:gsLst>
              <a:gs pos="0">
                <a:schemeClr val="accent1">
                  <a:lumMod val="40000"/>
                  <a:lumOff val="60000"/>
                </a:schemeClr>
              </a:gs>
              <a:gs pos="100000">
                <a:schemeClr val="accent1">
                  <a:lumMod val="20000"/>
                  <a:lumOff val="80000"/>
                </a:schemeClr>
              </a:gs>
            </a:gsLst>
            <a:lin ang="132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latin typeface="Arial" panose="020B0604020202020204" pitchFamily="34" charset="0"/>
            </a:endParaRPr>
          </a:p>
        </p:txBody>
      </p:sp>
      <p:pic>
        <p:nvPicPr>
          <p:cNvPr id="9" name="图片 8" descr="VCG41N1412454372-[目录]"/>
          <p:cNvPicPr>
            <a:picLocks noChangeAspect="1"/>
          </p:cNvPicPr>
          <p:nvPr userDrawn="1">
            <p:custDataLst>
              <p:tags r:id="rId4"/>
            </p:custDataLst>
          </p:nvPr>
        </p:nvPicPr>
        <p:blipFill>
          <a:blip r:embed="rId5">
            <a:alphaModFix amt="15000"/>
          </a:blip>
          <a:srcRect l="61899"/>
          <a:stretch>
            <a:fillRect/>
          </a:stretch>
        </p:blipFill>
        <p:spPr>
          <a:xfrm>
            <a:off x="6211570" y="422275"/>
            <a:ext cx="5589270" cy="6286500"/>
          </a:xfrm>
          <a:prstGeom prst="rect">
            <a:avLst/>
          </a:prstGeom>
        </p:spPr>
      </p:pic>
      <p:sp>
        <p:nvSpPr>
          <p:cNvPr id="2" name="标题占位符 1"/>
          <p:cNvSpPr>
            <a:spLocks noGrp="1"/>
          </p:cNvSpPr>
          <p:nvPr>
            <p:ph type="title"/>
            <p:custDataLst>
              <p:tags r:id="rId6"/>
            </p:custDataLst>
          </p:nvPr>
        </p:nvSpPr>
        <p:spPr>
          <a:xfrm>
            <a:off x="695960" y="360000"/>
            <a:ext cx="10800000" cy="720000"/>
          </a:xfrm>
          <a:prstGeom prst="rect">
            <a:avLst/>
          </a:prstGeom>
        </p:spPr>
        <p:txBody>
          <a:bodyPr vert="horz" wrap="square" lIns="0" tIns="0" rIns="0" bIns="0" rtlCol="0" anchor="b">
            <a:normAutofit/>
          </a:bodyPr>
          <a:lstStyle/>
          <a:p>
            <a:r>
              <a:rPr lang="en-US" dirty="0">
                <a:latin typeface="+mj-lt"/>
              </a:rPr>
              <a:t>Click to add title</a:t>
            </a:r>
            <a:endParaRPr lang="en-US" dirty="0"/>
          </a:p>
        </p:txBody>
      </p:sp>
      <p:sp>
        <p:nvSpPr>
          <p:cNvPr id="3" name="文本占位符 2"/>
          <p:cNvSpPr>
            <a:spLocks noGrp="1"/>
          </p:cNvSpPr>
          <p:nvPr>
            <p:ph type="body" idx="1"/>
            <p:custDataLst>
              <p:tags r:id="rId7"/>
            </p:custDataLst>
          </p:nvPr>
        </p:nvSpPr>
        <p:spPr>
          <a:xfrm>
            <a:off x="695960" y="1301749"/>
            <a:ext cx="10800000" cy="4873625"/>
          </a:xfrm>
          <a:prstGeom prst="rect">
            <a:avLst/>
          </a:prstGeom>
        </p:spPr>
        <p:txBody>
          <a:bodyPr vert="horz" wrap="square" lIns="0" tIns="0" rIns="0" bIns="0" rtlCol="0">
            <a:normAutofit/>
          </a:bodyPr>
          <a:lstStyle/>
          <a:p>
            <a:pPr lvl="0"/>
            <a:r>
              <a:rPr lang="en-US" dirty="0">
                <a:latin typeface="+mn-lt"/>
              </a:rPr>
              <a:t>Click to add text</a:t>
            </a:r>
            <a:endParaRPr lang="en-US" dirty="0"/>
          </a:p>
        </p:txBody>
      </p:sp>
      <p:sp>
        <p:nvSpPr>
          <p:cNvPr id="4" name="日期占位符 3"/>
          <p:cNvSpPr>
            <a:spLocks noGrp="1"/>
          </p:cNvSpPr>
          <p:nvPr>
            <p:ph type="dt" sz="half" idx="2"/>
            <p:custDataLst>
              <p:tags r:id="rId8"/>
            </p:custDataLst>
          </p:nvPr>
        </p:nvSpPr>
        <p:spPr>
          <a:xfrm>
            <a:off x="695960" y="6356350"/>
            <a:ext cx="2743200" cy="365125"/>
          </a:xfrm>
          <a:prstGeom prst="rect">
            <a:avLst/>
          </a:prstGeom>
        </p:spPr>
        <p:txBody>
          <a:bodyPr vert="horz" wrap="square" lIns="91440" tIns="45720" rIns="91440" bIns="45720" rtlCol="0" anchor="ctr">
            <a:normAutofit/>
          </a:bodyPr>
          <a:lstStyle>
            <a:lvl1pPr algn="l">
              <a:defRPr sz="1200">
                <a:solidFill>
                  <a:schemeClr val="tx1">
                    <a:tint val="75000"/>
                  </a:schemeClr>
                </a:solidFill>
                <a:latin typeface="Arial" panose="020B0604020202020204" pitchFamily="34" charset="0"/>
              </a:defRPr>
            </a:lvl1pPr>
          </a:lstStyle>
          <a:p>
            <a:r>
              <a:rPr lang="en-US"/>
              <a:t>Date Area</a:t>
            </a:r>
            <a:endParaRPr lang="en-US"/>
          </a:p>
        </p:txBody>
      </p:sp>
      <p:sp>
        <p:nvSpPr>
          <p:cNvPr id="5" name="页脚占位符 4"/>
          <p:cNvSpPr>
            <a:spLocks noGrp="1"/>
          </p:cNvSpPr>
          <p:nvPr>
            <p:ph type="ftr" sz="quarter" idx="3"/>
            <p:custDataLst>
              <p:tags r:id="rId9"/>
            </p:custDataLst>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latin typeface="Arial" panose="020B0604020202020204" pitchFamily="34" charset="0"/>
              </a:defRPr>
            </a:lvl1pPr>
          </a:lstStyle>
          <a:p>
            <a:endParaRPr lang="en-US" dirty="0"/>
          </a:p>
        </p:txBody>
      </p:sp>
      <p:sp>
        <p:nvSpPr>
          <p:cNvPr id="6" name="灯片编号占位符 5"/>
          <p:cNvSpPr>
            <a:spLocks noGrp="1"/>
          </p:cNvSpPr>
          <p:nvPr>
            <p:ph type="sldNum" sz="quarter" idx="4"/>
            <p:custDataLst>
              <p:tags r:id="rId10"/>
            </p:custDataLst>
          </p:nvPr>
        </p:nvSpPr>
        <p:spPr>
          <a:xfrm>
            <a:off x="8753983" y="6356350"/>
            <a:ext cx="2743200" cy="365125"/>
          </a:xfrm>
          <a:prstGeom prst="rect">
            <a:avLst/>
          </a:prstGeom>
        </p:spPr>
        <p:txBody>
          <a:bodyPr vert="horz" wrap="square" lIns="91440" tIns="45720" rIns="91440" bIns="45720" rtlCol="0" anchor="ctr">
            <a:normAutofit/>
          </a:bodyPr>
          <a:lstStyle>
            <a:lvl1pPr algn="r">
              <a:defRPr sz="1200">
                <a:solidFill>
                  <a:schemeClr val="tx1">
                    <a:tint val="75000"/>
                  </a:schemeClr>
                </a:solidFill>
                <a:latin typeface="Arial" panose="020B0604020202020204" pitchFamily="34" charset="0"/>
              </a:defRPr>
            </a:lvl1pPr>
          </a:lstStyle>
          <a:p>
            <a:fld id="{BE5F26B5-172A-4DC2-B0B7-181CFC56B87C}" type="slidenum">
              <a:rPr lang="en-US" smtClean="0"/>
            </a:fld>
            <a:endParaRPr lang="en-US"/>
          </a:p>
        </p:txBody>
      </p:sp>
      <p:sp>
        <p:nvSpPr>
          <p:cNvPr id="10" name="KSO_TEMPLATE" hidden="1"/>
          <p:cNvSpPr/>
          <p:nvPr userDrawn="1">
            <p:custDataLst>
              <p:tags r:id="rId11"/>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defTabSz="914400" rtl="0" eaLnBrk="1" latinLnBrk="0" hangingPunct="1">
        <a:lnSpc>
          <a:spcPct val="100000"/>
        </a:lnSpc>
        <a:spcBef>
          <a:spcPct val="0"/>
        </a:spcBef>
        <a:buNone/>
        <a:defRPr sz="3200" b="1" kern="1200">
          <a:solidFill>
            <a:schemeClr val="accent1"/>
          </a:solidFill>
          <a:latin typeface="Arial" panose="020B0604020202020204" pitchFamily="34" charset="0"/>
        </a:defRPr>
      </a:lvl1pPr>
    </p:titleStyle>
    <p:bodyStyle>
      <a:lvl1pPr marL="228600" indent="-228600" algn="l" defTabSz="914400" rtl="0" eaLnBrk="1" latinLnBrk="0" hangingPunct="1">
        <a:lnSpc>
          <a:spcPct val="130000"/>
        </a:lnSpc>
        <a:spcBef>
          <a:spcPts val="1000"/>
        </a:spcBef>
        <a:buFont typeface="Arial" panose="020B0604020202020204" pitchFamily="34" charset="0"/>
        <a:buChar char="•"/>
        <a:defRPr sz="2400" kern="1200">
          <a:solidFill>
            <a:srgbClr val="595959"/>
          </a:solidFill>
          <a:latin typeface="Arial" panose="020B0604020202020204" pitchFamily="34" charset="0"/>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rgbClr val="595959"/>
          </a:solidFill>
          <a:latin typeface="+mn-lt"/>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rgbClr val="595959"/>
          </a:solidFill>
          <a:latin typeface="+mn-lt"/>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rgbClr val="595959"/>
          </a:solidFill>
          <a:latin typeface="+mn-lt"/>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rgbClr val="595959"/>
          </a:solidFill>
          <a:latin typeface="+mn-lt"/>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defRPr>
      </a:lvl1pPr>
      <a:lvl2pPr marL="457200" algn="l" defTabSz="914400" rtl="0" eaLnBrk="1" latinLnBrk="0" hangingPunct="1">
        <a:defRPr sz="1800" kern="1200">
          <a:solidFill>
            <a:schemeClr val="tx1"/>
          </a:solidFill>
          <a:latin typeface="+mn-lt"/>
        </a:defRPr>
      </a:lvl2pPr>
      <a:lvl3pPr marL="914400" algn="l" defTabSz="914400" rtl="0" eaLnBrk="1" latinLnBrk="0" hangingPunct="1">
        <a:defRPr sz="1800" kern="1200">
          <a:solidFill>
            <a:schemeClr val="tx1"/>
          </a:solidFill>
          <a:latin typeface="+mn-lt"/>
        </a:defRPr>
      </a:lvl3pPr>
      <a:lvl4pPr marL="1371600" algn="l" defTabSz="914400" rtl="0" eaLnBrk="1" latinLnBrk="0" hangingPunct="1">
        <a:defRPr sz="1800" kern="1200">
          <a:solidFill>
            <a:schemeClr val="tx1"/>
          </a:solidFill>
          <a:latin typeface="+mn-lt"/>
        </a:defRPr>
      </a:lvl4pPr>
      <a:lvl5pPr marL="1828800" algn="l" defTabSz="914400" rtl="0" eaLnBrk="1" latinLnBrk="0" hangingPunct="1">
        <a:defRPr sz="1800" kern="1200">
          <a:solidFill>
            <a:schemeClr val="tx1"/>
          </a:solidFill>
          <a:latin typeface="+mn-lt"/>
        </a:defRPr>
      </a:lvl5pPr>
      <a:lvl6pPr marL="2286000" algn="l" defTabSz="914400" rtl="0" eaLnBrk="1" latinLnBrk="0" hangingPunct="1">
        <a:defRPr sz="1800" kern="1200">
          <a:solidFill>
            <a:schemeClr val="tx1"/>
          </a:solidFill>
          <a:latin typeface="+mn-lt"/>
        </a:defRPr>
      </a:lvl6pPr>
      <a:lvl7pPr marL="2743200" algn="l" defTabSz="914400" rtl="0" eaLnBrk="1" latinLnBrk="0" hangingPunct="1">
        <a:defRPr sz="1800" kern="1200">
          <a:solidFill>
            <a:schemeClr val="tx1"/>
          </a:solidFill>
          <a:latin typeface="+mn-lt"/>
        </a:defRPr>
      </a:lvl7pPr>
      <a:lvl8pPr marL="3200400" algn="l" defTabSz="914400" rtl="0" eaLnBrk="1" latinLnBrk="0" hangingPunct="1">
        <a:defRPr sz="1800" kern="1200">
          <a:solidFill>
            <a:schemeClr val="tx1"/>
          </a:solidFill>
          <a:latin typeface="+mn-lt"/>
        </a:defRPr>
      </a:lvl8pPr>
      <a:lvl9pPr marL="3657600" algn="l" defTabSz="914400" rtl="0" eaLnBrk="1" latinLnBrk="0" hangingPunct="1">
        <a:defRPr sz="1800" kern="1200">
          <a:solidFill>
            <a:schemeClr val="tx1"/>
          </a:solidFill>
          <a:latin typeface="+mn-lt"/>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19.xml"/><Relationship Id="rId2" Type="http://schemas.openxmlformats.org/officeDocument/2006/relationships/tags" Target="../tags/tag18.xml"/><Relationship Id="rId1" Type="http://schemas.openxmlformats.org/officeDocument/2006/relationships/tags" Target="../tags/tag17.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0.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1.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2.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3.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4.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5.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6.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7.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8.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9.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0.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1.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2.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3.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4.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5.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6.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7.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8.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9.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0.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1.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2.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3.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4.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45.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6.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7.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8.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9.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0.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1.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2.xml"/></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3.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4.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5.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6.xml"/></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7.xml"/></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8.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p:cNvSpPr>
            <a:spLocks noGrp="1"/>
          </p:cNvSpPr>
          <p:nvPr>
            <p:ph type="ctrTitle"/>
            <p:custDataLst>
              <p:tags r:id="rId1"/>
            </p:custDataLst>
          </p:nvPr>
        </p:nvSpPr>
        <p:spPr>
          <a:xfrm>
            <a:off x="-134620" y="2801620"/>
            <a:ext cx="6779260" cy="2950845"/>
          </a:xfrm>
        </p:spPr>
        <p:txBody>
          <a:bodyPr/>
          <a:lstStyle/>
          <a:p>
            <a:pPr algn="ctr"/>
            <a:r>
              <a:rPr lang="en-US"/>
              <a:t>DEEP DIVE INTO SCANF</a:t>
            </a:r>
            <a:endParaRPr lang="en-US"/>
          </a:p>
        </p:txBody>
      </p:sp>
      <p:sp>
        <p:nvSpPr>
          <p:cNvPr id="10" name="署名"/>
          <p:cNvSpPr>
            <a:spLocks noGrp="1"/>
          </p:cNvSpPr>
          <p:nvPr>
            <p:ph type="body" sz="quarter" idx="17"/>
            <p:custDataLst>
              <p:tags r:id="rId2"/>
            </p:custDataLst>
          </p:nvPr>
        </p:nvSpPr>
        <p:spPr>
          <a:xfrm>
            <a:off x="1431155" y="4590000"/>
            <a:ext cx="3646800" cy="540000"/>
          </a:xfrm>
        </p:spPr>
        <p:txBody>
          <a:bodyPr/>
          <a:lstStyle/>
          <a:p>
            <a:r>
              <a:rPr lang="en-US"/>
              <a:t>ANISH A R</a:t>
            </a:r>
            <a:endParaRPr lang="en-US"/>
          </a:p>
        </p:txBody>
      </p:sp>
    </p:spTree>
    <p:custDataLst>
      <p:tags r:id="rId3"/>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altLang="en-US"/>
              <a:t>Syntax and Usage</a:t>
            </a:r>
            <a:endParaRPr lang="en-US" altLang="en-US"/>
          </a:p>
        </p:txBody>
      </p:sp>
      <p:sp>
        <p:nvSpPr>
          <p:cNvPr id="5" name="Text Placeholder 4"/>
          <p:cNvSpPr>
            <a:spLocks noGrp="1"/>
          </p:cNvSpPr>
          <p:nvPr>
            <p:ph type="body" idx="1"/>
          </p:nvPr>
        </p:nvSpPr>
        <p:spPr/>
        <p:txBody>
          <a:bodyPr>
            <a:normAutofit lnSpcReduction="10000"/>
          </a:bodyPr>
          <a:p>
            <a:r>
              <a:rPr lang="en-US" altLang="en-US"/>
              <a:t>At its simplest, scanf looks for specific data types and stores them in memory locations.</a:t>
            </a:r>
            <a:endParaRPr lang="en-US" altLang="en-US"/>
          </a:p>
          <a:p>
            <a:r>
              <a:rPr lang="en-US" altLang="en-US"/>
              <a:t>Basic Syntax: </a:t>
            </a:r>
            <a:endParaRPr lang="en-US" altLang="en-US"/>
          </a:p>
          <a:p>
            <a:pPr marL="457200" lvl="1" indent="457200">
              <a:buNone/>
            </a:pPr>
            <a:r>
              <a:rPr lang="en-US" altLang="en-US" sz="2400"/>
              <a:t>scanf("format_specifier", &amp;variable);</a:t>
            </a:r>
            <a:endParaRPr lang="en-US" altLang="en-US" sz="2400"/>
          </a:p>
          <a:p>
            <a:r>
              <a:rPr lang="en-US" altLang="en-US"/>
              <a:t>The “&amp;” Operator: </a:t>
            </a:r>
            <a:endParaRPr lang="en-US" altLang="en-US"/>
          </a:p>
          <a:p>
            <a:pPr marL="457200" lvl="1" indent="457200">
              <a:buNone/>
            </a:pPr>
            <a:r>
              <a:rPr lang="en-US" altLang="en-US" sz="2400"/>
              <a:t>You must use the address-of operator (&amp;) to pass the memory address of the variable, allowing scanf to modify its value.</a:t>
            </a:r>
            <a:endParaRPr lang="en-US" altLang="en-US" sz="2400"/>
          </a:p>
          <a:p>
            <a:r>
              <a:rPr lang="en-US" altLang="en-US"/>
              <a:t>Exception: </a:t>
            </a:r>
            <a:endParaRPr lang="en-US" altLang="en-US"/>
          </a:p>
          <a:p>
            <a:pPr marL="457200" lvl="1" indent="457200">
              <a:buNone/>
            </a:pPr>
            <a:r>
              <a:rPr lang="en-US" altLang="en-US" sz="2400"/>
              <a:t>Do not use “&amp;” for character arrays (strings) because the array name already acts as a pointer to its first element.</a:t>
            </a:r>
            <a:endParaRPr lang="en-US" altLang="en-US" sz="2400"/>
          </a:p>
        </p:txBody>
      </p:sp>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altLang="en-US"/>
              <a:t>Step-by-Step Architecture of an Input Event</a:t>
            </a:r>
            <a:endParaRPr lang="en-US" altLang="en-US"/>
          </a:p>
        </p:txBody>
      </p:sp>
      <p:sp>
        <p:nvSpPr>
          <p:cNvPr id="5" name="Text Placeholder 4"/>
          <p:cNvSpPr>
            <a:spLocks noGrp="1"/>
          </p:cNvSpPr>
          <p:nvPr>
            <p:ph type="body" idx="1"/>
          </p:nvPr>
        </p:nvSpPr>
        <p:spPr>
          <a:xfrm>
            <a:off x="695960" y="1080135"/>
            <a:ext cx="10800080" cy="5778500"/>
          </a:xfrm>
        </p:spPr>
        <p:txBody>
          <a:bodyPr>
            <a:noAutofit/>
          </a:bodyPr>
          <a:p>
            <a:r>
              <a:rPr lang="en-US" altLang="en-US" sz="1900"/>
              <a:t>When a C program hits a scanf statement, a sequence of low-level system operations triggers behind the scenes.</a:t>
            </a:r>
            <a:endParaRPr lang="en-US" altLang="en-US" sz="1900"/>
          </a:p>
          <a:p>
            <a:r>
              <a:rPr lang="en-US" altLang="en-US" sz="1900"/>
              <a:t>1. The Sleep and Wake State  </a:t>
            </a:r>
            <a:endParaRPr lang="en-US" altLang="en-US" sz="1900"/>
          </a:p>
          <a:p>
            <a:pPr marL="457200" lvl="1" indent="457200">
              <a:buNone/>
            </a:pPr>
            <a:r>
              <a:rPr lang="en-US" altLang="en-US" sz="1900"/>
              <a:t>If the stdin conveyor belt is completely empty, scanf stalls. It triggers a system call that puts your program to sleep, handing control back to the Operating System (OS). The OS opens the terminal prompt and waits.</a:t>
            </a:r>
            <a:endParaRPr lang="en-US" altLang="en-US" sz="1900"/>
          </a:p>
          <a:p>
            <a:r>
              <a:rPr lang="en-US" altLang="en-US" sz="1900"/>
              <a:t>2. The OS Line Buffer </a:t>
            </a:r>
            <a:endParaRPr lang="en-US" altLang="en-US" sz="1900"/>
          </a:p>
          <a:p>
            <a:pPr marL="457200" lvl="1" indent="457200">
              <a:buNone/>
            </a:pPr>
            <a:r>
              <a:rPr lang="en-US" altLang="en-US" sz="1900"/>
              <a:t>As you type characters on your keyboard, they do not go straight to your program. The OS intercepts them and holds them in its own temporary terminal buffer. This allows you to press Backspace and fix typos.</a:t>
            </a:r>
            <a:endParaRPr lang="en-US" altLang="en-US" sz="1900"/>
          </a:p>
          <a:p>
            <a:r>
              <a:rPr lang="en-US" altLang="en-US" sz="1900"/>
              <a:t>3. The Commit (The Enter Key)</a:t>
            </a:r>
            <a:endParaRPr lang="en-US" altLang="en-US" sz="1900"/>
          </a:p>
          <a:p>
            <a:pPr marL="457200" lvl="1" indent="457200">
              <a:buNone/>
            </a:pPr>
            <a:r>
              <a:rPr lang="en-US" altLang="en-US" sz="1900"/>
              <a:t>The moment you press the Enter key, the OS flushes its terminal buffer. It appends a newline character (\n) to the very end of your text and dumps the entire sequence onto the stdin memory conveyor belt. Your program wakes up.</a:t>
            </a:r>
            <a:endParaRPr lang="en-US" altLang="en-US" sz="1900"/>
          </a:p>
        </p:txBody>
      </p:sp>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altLang="en-US"/>
              <a:t>How scanf Inspects the Belt</a:t>
            </a:r>
            <a:endParaRPr lang="en-US" altLang="en-US"/>
          </a:p>
        </p:txBody>
      </p:sp>
      <p:sp>
        <p:nvSpPr>
          <p:cNvPr id="5" name="Text Placeholder 4"/>
          <p:cNvSpPr>
            <a:spLocks noGrp="1"/>
          </p:cNvSpPr>
          <p:nvPr>
            <p:ph type="body" idx="1"/>
          </p:nvPr>
        </p:nvSpPr>
        <p:spPr/>
        <p:txBody>
          <a:bodyPr/>
          <a:p>
            <a:r>
              <a:rPr lang="en-US" altLang="en-US"/>
              <a:t>Now that data is on the belt, scanf begins processing. It uses an internal stream pointer to look at the characters one by one, from left to right.</a:t>
            </a:r>
            <a:endParaRPr lang="en-US" altLang="en-US"/>
          </a:p>
          <a:p>
            <a:r>
              <a:rPr lang="en-US" altLang="en-US"/>
              <a:t>Let's trace a concrete example to see exactly how characters move, freeze, or get left behind.</a:t>
            </a:r>
            <a:endParaRPr lang="en-US" altLang="en-US"/>
          </a:p>
        </p:txBody>
      </p:sp>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altLang="en-US"/>
              <a:t>Code Scenario</a:t>
            </a:r>
            <a:endParaRPr lang="en-US"/>
          </a:p>
        </p:txBody>
      </p:sp>
      <p:sp>
        <p:nvSpPr>
          <p:cNvPr id="5" name="Text Placeholder 4"/>
          <p:cNvSpPr>
            <a:spLocks noGrp="1"/>
          </p:cNvSpPr>
          <p:nvPr>
            <p:ph type="body" idx="1"/>
          </p:nvPr>
        </p:nvSpPr>
        <p:spPr/>
        <p:txBody>
          <a:bodyPr anchor="ctr" anchorCtr="0"/>
          <a:p>
            <a:pPr marL="0" indent="0">
              <a:buNone/>
            </a:pPr>
            <a:r>
              <a:rPr lang="en-US" altLang="en-US"/>
              <a:t>int quantity;</a:t>
            </a:r>
            <a:endParaRPr lang="en-US" altLang="en-US"/>
          </a:p>
          <a:p>
            <a:pPr marL="0" indent="0">
              <a:buNone/>
            </a:pPr>
            <a:r>
              <a:rPr lang="en-US" altLang="en-US"/>
              <a:t>char symbol;</a:t>
            </a:r>
            <a:endParaRPr lang="en-US" altLang="en-US"/>
          </a:p>
          <a:p>
            <a:pPr marL="0" indent="0">
              <a:buNone/>
            </a:pPr>
            <a:r>
              <a:rPr lang="en-US" altLang="en-US"/>
              <a:t>scanf("%d", &amp;quantity);</a:t>
            </a:r>
            <a:endParaRPr lang="en-US" altLang="en-US"/>
          </a:p>
          <a:p>
            <a:pPr marL="0" indent="0">
              <a:buNone/>
            </a:pPr>
            <a:r>
              <a:rPr lang="en-US" altLang="en-US"/>
              <a:t> scanf("%c", &amp;symbol);</a:t>
            </a:r>
            <a:endParaRPr lang="en-US" altLang="en-US"/>
          </a:p>
          <a:p>
            <a:pPr marL="0" indent="0">
              <a:buNone/>
            </a:pPr>
            <a:endParaRPr lang="en-US" altLang="en-US"/>
          </a:p>
        </p:txBody>
      </p:sp>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altLang="en-US"/>
              <a:t>The First Scan</a:t>
            </a:r>
            <a:endParaRPr lang="en-US" altLang="en-US"/>
          </a:p>
        </p:txBody>
      </p:sp>
      <p:sp>
        <p:nvSpPr>
          <p:cNvPr id="5" name="Text Placeholder 4"/>
          <p:cNvSpPr>
            <a:spLocks noGrp="1"/>
          </p:cNvSpPr>
          <p:nvPr>
            <p:ph type="body" idx="1"/>
          </p:nvPr>
        </p:nvSpPr>
        <p:spPr/>
        <p:txBody>
          <a:bodyPr/>
          <a:p>
            <a:r>
              <a:rPr lang="en-US" altLang="en-US"/>
              <a:t>You type:    456X and press Enter.</a:t>
            </a:r>
            <a:endParaRPr lang="en-US" altLang="en-US"/>
          </a:p>
          <a:p>
            <a:r>
              <a:rPr lang="en-US" altLang="en-US"/>
              <a:t>The stdin Buffer looks exactly like this:</a:t>
            </a:r>
            <a:endParaRPr lang="en-US" altLang="en-US"/>
          </a:p>
          <a:p>
            <a:pPr marL="0" indent="0">
              <a:buNone/>
            </a:pPr>
            <a:endParaRPr lang="en-US" altLang="en-US"/>
          </a:p>
        </p:txBody>
      </p:sp>
      <p:sp>
        <p:nvSpPr>
          <p:cNvPr id="6" name="Text Box 5"/>
          <p:cNvSpPr txBox="1"/>
          <p:nvPr/>
        </p:nvSpPr>
        <p:spPr>
          <a:xfrm>
            <a:off x="3048000" y="2954655"/>
            <a:ext cx="6096000" cy="1568450"/>
          </a:xfrm>
          <a:prstGeom prst="rect">
            <a:avLst/>
          </a:prstGeom>
          <a:noFill/>
        </p:spPr>
        <p:txBody>
          <a:bodyPr wrap="square" rtlCol="0" anchor="t">
            <a:spAutoFit/>
          </a:bodyPr>
          <a:p>
            <a:pPr marL="0" indent="0">
              <a:buNone/>
            </a:pPr>
            <a:r>
              <a:rPr lang="en-US" altLang="en-US" sz="2400">
                <a:sym typeface="+mn-ea"/>
              </a:rPr>
              <a:t> [ '4' ] [ '5' ] [ '6' ] [ 'X' ] [ '\n' ]</a:t>
            </a:r>
            <a:endParaRPr lang="en-US" altLang="en-US" sz="2400"/>
          </a:p>
          <a:p>
            <a:pPr marL="0" indent="0">
              <a:buNone/>
            </a:pPr>
            <a:r>
              <a:rPr lang="en-US" altLang="en-US" sz="2400">
                <a:sym typeface="+mn-ea"/>
              </a:rPr>
              <a:t>   ▲</a:t>
            </a:r>
            <a:endParaRPr lang="en-US" altLang="en-US" sz="2400"/>
          </a:p>
          <a:p>
            <a:pPr marL="0" indent="0">
              <a:buNone/>
            </a:pPr>
            <a:r>
              <a:rPr lang="en-US" altLang="en-US" sz="2400">
                <a:sym typeface="+mn-ea"/>
              </a:rPr>
              <a:t>Pointer starts here</a:t>
            </a:r>
            <a:endParaRPr lang="en-US" altLang="en-US" sz="2400"/>
          </a:p>
          <a:p>
            <a:pPr marL="0" indent="0">
              <a:buNone/>
            </a:pPr>
            <a:endParaRPr lang="en-US" altLang="en-US" sz="2400"/>
          </a:p>
        </p:txBody>
      </p:sp>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altLang="en-US"/>
              <a:t>The Processing Engine</a:t>
            </a:r>
            <a:endParaRPr lang="en-US" altLang="en-US"/>
          </a:p>
        </p:txBody>
      </p:sp>
      <p:sp>
        <p:nvSpPr>
          <p:cNvPr id="5" name="Text Placeholder 4"/>
          <p:cNvSpPr>
            <a:spLocks noGrp="1"/>
          </p:cNvSpPr>
          <p:nvPr>
            <p:ph type="body" idx="1"/>
          </p:nvPr>
        </p:nvSpPr>
        <p:spPr/>
        <p:txBody>
          <a:bodyPr>
            <a:normAutofit lnSpcReduction="20000"/>
          </a:bodyPr>
          <a:p>
            <a:r>
              <a:rPr lang="en-US" altLang="en-US"/>
              <a:t>%d looks at the first character: ' ' (space). The rules of %d state: "Skip leading whitespace." The space is consumed and deleted.</a:t>
            </a:r>
            <a:endParaRPr lang="en-US" altLang="en-US"/>
          </a:p>
          <a:p>
            <a:r>
              <a:rPr lang="en-US" altLang="en-US"/>
              <a:t>Pointer moves to the next space ' '. Skipped and deleted.</a:t>
            </a:r>
            <a:endParaRPr lang="en-US" altLang="en-US"/>
          </a:p>
          <a:p>
            <a:r>
              <a:rPr lang="en-US" altLang="en-US"/>
              <a:t>Pointer hits '4'. This is a valid numeric digit. It locks in and starts building the integer.</a:t>
            </a:r>
            <a:endParaRPr lang="en-US" altLang="en-US"/>
          </a:p>
          <a:p>
            <a:r>
              <a:rPr lang="en-US" altLang="en-US"/>
              <a:t>Pointer moves to '5'. Valid. (Value is now (4*10 + 5 = 45)).</a:t>
            </a:r>
            <a:endParaRPr lang="en-US" altLang="en-US"/>
          </a:p>
          <a:p>
            <a:r>
              <a:rPr lang="en-US" altLang="en-US"/>
              <a:t>Pointer moves to '6'. Valid. (Value is now (45* 10 + 6 = 456)).</a:t>
            </a:r>
            <a:endParaRPr lang="en-US" altLang="en-US"/>
          </a:p>
          <a:p>
            <a:r>
              <a:rPr lang="en-US" altLang="en-US"/>
              <a:t>Pointer moves to 'X'.</a:t>
            </a:r>
            <a:endParaRPr lang="en-US" altLang="en-US"/>
          </a:p>
        </p:txBody>
      </p:sp>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altLang="en-US"/>
              <a:t>The Stop Condition</a:t>
            </a:r>
            <a:endParaRPr lang="en-US" altLang="en-US"/>
          </a:p>
        </p:txBody>
      </p:sp>
      <p:sp>
        <p:nvSpPr>
          <p:cNvPr id="5" name="Text Placeholder 4"/>
          <p:cNvSpPr>
            <a:spLocks noGrp="1"/>
          </p:cNvSpPr>
          <p:nvPr>
            <p:ph type="body" idx="1"/>
          </p:nvPr>
        </p:nvSpPr>
        <p:spPr/>
        <p:txBody>
          <a:bodyPr/>
          <a:p>
            <a:r>
              <a:rPr lang="en-US" altLang="en-US"/>
              <a:t>'X' is not a valid digit for an integer. The %d engine instantly stops. It saves the value 456 into the variable quantity.</a:t>
            </a:r>
            <a:endParaRPr lang="en-US" altLang="en-US"/>
          </a:p>
          <a:p>
            <a:endParaRPr lang="en-US" altLang="en-US"/>
          </a:p>
        </p:txBody>
      </p:sp>
      <p:sp>
        <p:nvSpPr>
          <p:cNvPr id="6" name="Text Box 5"/>
          <p:cNvSpPr txBox="1"/>
          <p:nvPr/>
        </p:nvSpPr>
        <p:spPr>
          <a:xfrm>
            <a:off x="695960" y="2334895"/>
            <a:ext cx="10800080" cy="3840480"/>
          </a:xfrm>
          <a:prstGeom prst="rect">
            <a:avLst/>
          </a:prstGeom>
        </p:spPr>
        <p:txBody>
          <a:bodyPr wrap="square">
            <a:noAutofit/>
          </a:bodyPr>
          <a:p>
            <a:pPr marL="0" indent="0">
              <a:spcBef>
                <a:spcPct val="0"/>
              </a:spcBef>
              <a:spcAft>
                <a:spcPct val="0"/>
              </a:spcAft>
              <a:buFont typeface="Arial" panose="020B0604020202020204"/>
              <a:buChar char="•"/>
            </a:pPr>
            <a:r>
              <a:rPr sz="2400" b="0">
                <a:latin typeface="Mali" panose="00000500000000000000" charset="0"/>
                <a:ea typeface="Google Sans"/>
                <a:cs typeface="Mali" panose="00000500000000000000" charset="0"/>
              </a:rPr>
              <a:t>The State of the Buffer Now:</a:t>
            </a:r>
            <a:endParaRPr sz="2400" b="0">
              <a:latin typeface="Mali" panose="00000500000000000000" charset="0"/>
              <a:ea typeface="Google Sans"/>
              <a:cs typeface="Mali" panose="00000500000000000000" charset="0"/>
            </a:endParaRPr>
          </a:p>
          <a:p>
            <a:pPr marL="0" indent="0">
              <a:spcBef>
                <a:spcPct val="0"/>
              </a:spcBef>
              <a:spcAft>
                <a:spcPct val="0"/>
              </a:spcAft>
            </a:pPr>
            <a:r>
              <a:rPr sz="2400" b="0">
                <a:latin typeface="Mali" panose="00000500000000000000" charset="0"/>
                <a:ea typeface="monospace"/>
                <a:cs typeface="Mali" panose="00000500000000000000" charset="0"/>
              </a:rPr>
              <a:t>scanf</a:t>
            </a:r>
            <a:r>
              <a:rPr sz="2400" b="0">
                <a:latin typeface="Mali" panose="00000500000000000000" charset="0"/>
                <a:ea typeface="Google Sans"/>
                <a:cs typeface="Mali" panose="00000500000000000000" charset="0"/>
              </a:rPr>
              <a:t> returns </a:t>
            </a:r>
            <a:r>
              <a:rPr sz="2400" b="0">
                <a:latin typeface="Mali" panose="00000500000000000000" charset="0"/>
                <a:ea typeface="monospace"/>
                <a:cs typeface="Mali" panose="00000500000000000000" charset="0"/>
              </a:rPr>
              <a:t>1</a:t>
            </a:r>
            <a:r>
              <a:rPr sz="2400" b="0">
                <a:latin typeface="Mali" panose="00000500000000000000" charset="0"/>
                <a:ea typeface="Google Sans"/>
                <a:cs typeface="Mali" panose="00000500000000000000" charset="0"/>
              </a:rPr>
              <a:t> (success). But look at the conveyor belt:</a:t>
            </a:r>
            <a:endParaRPr sz="2400" b="0">
              <a:latin typeface="Mali" panose="00000500000000000000" charset="0"/>
              <a:ea typeface="Google Sans"/>
              <a:cs typeface="Mali" panose="00000500000000000000" charset="0"/>
            </a:endParaRPr>
          </a:p>
          <a:p>
            <a:pPr marL="0" indent="0">
              <a:spcBef>
                <a:spcPct val="0"/>
              </a:spcBef>
              <a:spcAft>
                <a:spcPct val="0"/>
              </a:spcAft>
            </a:pPr>
            <a:endParaRPr sz="2400" b="0">
              <a:latin typeface="Mali" panose="00000500000000000000" charset="0"/>
              <a:ea typeface="Google Sans"/>
              <a:cs typeface="Mali" panose="00000500000000000000" charset="0"/>
            </a:endParaRPr>
          </a:p>
          <a:p>
            <a:pPr marL="0" indent="0">
              <a:spcBef>
                <a:spcPct val="0"/>
              </a:spcBef>
              <a:spcAft>
                <a:spcPct val="0"/>
              </a:spcAft>
            </a:pPr>
            <a:r>
              <a:rPr sz="2400" b="0">
                <a:latin typeface="Mali" panose="00000500000000000000" charset="0"/>
                <a:ea typeface="monospace"/>
                <a:cs typeface="Mali" panose="00000500000000000000" charset="0"/>
              </a:rPr>
              <a:t>[ 'X' ] [ '\n' ]
   ▲
Pointer is stuck here!
</a:t>
            </a:r>
            <a:endParaRPr sz="2400" b="0">
              <a:latin typeface="Mali" panose="00000500000000000000" charset="0"/>
              <a:ea typeface="monospace"/>
              <a:cs typeface="Mali" panose="00000500000000000000" charset="0"/>
            </a:endParaRPr>
          </a:p>
          <a:p>
            <a:pPr marL="0" indent="0">
              <a:spcBef>
                <a:spcPct val="0"/>
              </a:spcBef>
              <a:spcAft>
                <a:spcPct val="0"/>
              </a:spcAft>
            </a:pPr>
            <a:r>
              <a:rPr sz="2400" b="0">
                <a:latin typeface="Mali" panose="00000500000000000000" charset="0"/>
                <a:ea typeface="Google Sans"/>
                <a:cs typeface="Mali" panose="00000500000000000000" charset="0"/>
              </a:rPr>
              <a:t>The characters </a:t>
            </a:r>
            <a:r>
              <a:rPr sz="2400" b="0">
                <a:latin typeface="Mali" panose="00000500000000000000" charset="0"/>
                <a:ea typeface="monospace"/>
                <a:cs typeface="Mali" panose="00000500000000000000" charset="0"/>
              </a:rPr>
              <a:t>'X'</a:t>
            </a:r>
            <a:r>
              <a:rPr sz="2400" b="0">
                <a:latin typeface="Mali" panose="00000500000000000000" charset="0"/>
                <a:ea typeface="Google Sans"/>
                <a:cs typeface="Mali" panose="00000500000000000000" charset="0"/>
              </a:rPr>
              <a:t> and </a:t>
            </a:r>
            <a:r>
              <a:rPr sz="2400" b="0">
                <a:latin typeface="Mali" panose="00000500000000000000" charset="0"/>
                <a:ea typeface="monospace"/>
                <a:cs typeface="Mali" panose="00000500000000000000" charset="0"/>
              </a:rPr>
              <a:t>'\n'</a:t>
            </a:r>
            <a:r>
              <a:rPr sz="2400" b="0">
                <a:latin typeface="Mali" panose="00000500000000000000" charset="0"/>
                <a:ea typeface="Google Sans"/>
                <a:cs typeface="Mali" panose="00000500000000000000" charset="0"/>
              </a:rPr>
              <a:t> are not consumed. They are left sitting at the very front of the queue.</a:t>
            </a:r>
            <a:endParaRPr sz="2400" b="0">
              <a:latin typeface="Mali" panose="00000500000000000000" charset="0"/>
              <a:ea typeface="Google Sans"/>
              <a:cs typeface="Mali" panose="00000500000000000000" charset="0"/>
            </a:endParaRPr>
          </a:p>
        </p:txBody>
      </p:sp>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altLang="en-US"/>
              <a:t>The Fallout (The Next Scan)		</a:t>
            </a:r>
            <a:endParaRPr lang="en-US" altLang="en-US"/>
          </a:p>
        </p:txBody>
      </p:sp>
      <p:sp>
        <p:nvSpPr>
          <p:cNvPr id="5" name="Text Placeholder 4"/>
          <p:cNvSpPr>
            <a:spLocks noGrp="1"/>
          </p:cNvSpPr>
          <p:nvPr>
            <p:ph type="body" idx="1"/>
          </p:nvPr>
        </p:nvSpPr>
        <p:spPr/>
        <p:txBody>
          <a:bodyPr/>
          <a:p>
            <a:r>
              <a:rPr lang="en-US" altLang="en-US"/>
              <a:t>Immediately after, your code tries to read a character:</a:t>
            </a:r>
            <a:endParaRPr lang="en-US" altLang="en-US"/>
          </a:p>
          <a:p>
            <a:r>
              <a:rPr lang="en-US" altLang="en-US"/>
              <a:t>The Trait: </a:t>
            </a:r>
            <a:endParaRPr lang="en-US" altLang="en-US"/>
          </a:p>
          <a:p>
            <a:r>
              <a:rPr lang="en-US" altLang="en-US"/>
              <a:t>Because %c does not skip whitespace or look for specific data types, it does not prompt the keyboard. </a:t>
            </a:r>
            <a:endParaRPr lang="en-US" altLang="en-US"/>
          </a:p>
          <a:p>
            <a:r>
              <a:rPr lang="en-US" altLang="en-US"/>
              <a:t>It doesn't need to—the conveyor belt isn't empty!</a:t>
            </a:r>
            <a:endParaRPr lang="en-US" altLang="en-US"/>
          </a:p>
          <a:p>
            <a:endParaRPr lang="en-US" altLang="en-US"/>
          </a:p>
        </p:txBody>
      </p:sp>
    </p:spTree>
    <p:custDataLst>
      <p:tags r:id="rId1"/>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altLang="en-US">
                <a:sym typeface="+mn-ea"/>
              </a:rPr>
              <a:t>The Processing Engine</a:t>
            </a:r>
            <a:endParaRPr lang="en-US"/>
          </a:p>
        </p:txBody>
      </p:sp>
      <p:sp>
        <p:nvSpPr>
          <p:cNvPr id="5" name="Text Placeholder 4"/>
          <p:cNvSpPr>
            <a:spLocks noGrp="1"/>
          </p:cNvSpPr>
          <p:nvPr>
            <p:ph type="body" idx="1"/>
          </p:nvPr>
        </p:nvSpPr>
        <p:spPr/>
        <p:txBody>
          <a:bodyPr/>
          <a:p>
            <a:r>
              <a:rPr lang="en-US" altLang="en-US">
                <a:sym typeface="+mn-ea"/>
              </a:rPr>
              <a:t>%c looks at the front of the belt. </a:t>
            </a:r>
            <a:endParaRPr lang="en-US" altLang="en-US">
              <a:sym typeface="+mn-ea"/>
            </a:endParaRPr>
          </a:p>
          <a:p>
            <a:r>
              <a:rPr lang="en-US" altLang="en-US">
                <a:sym typeface="+mn-ea"/>
              </a:rPr>
              <a:t>It sees 'X'.It immediately consumes 'X' and stores it inside symbol.</a:t>
            </a:r>
            <a:endParaRPr lang="en-US" altLang="en-US">
              <a:sym typeface="+mn-ea"/>
            </a:endParaRPr>
          </a:p>
          <a:p>
            <a:endParaRPr lang="en-US"/>
          </a:p>
        </p:txBody>
      </p:sp>
      <p:sp>
        <p:nvSpPr>
          <p:cNvPr id="7" name="Text Box 6"/>
          <p:cNvSpPr txBox="1"/>
          <p:nvPr/>
        </p:nvSpPr>
        <p:spPr>
          <a:xfrm>
            <a:off x="695325" y="2713990"/>
            <a:ext cx="10800715" cy="1568450"/>
          </a:xfrm>
          <a:prstGeom prst="rect">
            <a:avLst/>
          </a:prstGeom>
        </p:spPr>
        <p:txBody>
          <a:bodyPr wrap="square">
            <a:spAutoFit/>
          </a:bodyPr>
          <a:p>
            <a:pPr marL="0" indent="0">
              <a:spcBef>
                <a:spcPct val="0"/>
              </a:spcBef>
              <a:spcAft>
                <a:spcPct val="0"/>
              </a:spcAft>
            </a:pPr>
            <a:r>
              <a:rPr sz="2400" b="0">
                <a:latin typeface="Mali" panose="00000500000000000000" charset="0"/>
                <a:ea typeface="Google Sans"/>
                <a:cs typeface="Mali" panose="00000500000000000000" charset="0"/>
              </a:rPr>
              <a:t>The State of the Buffer Now:</a:t>
            </a:r>
            <a:endParaRPr sz="2400" b="0">
              <a:latin typeface="Mali" panose="00000500000000000000" charset="0"/>
              <a:ea typeface="Google Sans"/>
              <a:cs typeface="Mali" panose="00000500000000000000" charset="0"/>
            </a:endParaRPr>
          </a:p>
          <a:p>
            <a:pPr marL="0" indent="0">
              <a:spcBef>
                <a:spcPct val="0"/>
              </a:spcBef>
              <a:spcAft>
                <a:spcPct val="0"/>
              </a:spcAft>
            </a:pPr>
            <a:r>
              <a:rPr sz="2400" b="0">
                <a:latin typeface="Mali" panose="00000500000000000000" charset="0"/>
                <a:ea typeface="monospace"/>
                <a:cs typeface="Mali" panose="00000500000000000000" charset="0"/>
              </a:rPr>
              <a:t>[ '\n' ]
   ▲
Pointer is here</a:t>
            </a:r>
            <a:endParaRPr sz="2400" b="0">
              <a:latin typeface="Mali" panose="00000500000000000000" charset="0"/>
              <a:ea typeface="monospace"/>
              <a:cs typeface="Mali" panose="00000500000000000000" charset="0"/>
            </a:endParaRPr>
          </a:p>
        </p:txBody>
      </p:sp>
      <p:sp>
        <p:nvSpPr>
          <p:cNvPr id="8" name="Text Box 7"/>
          <p:cNvSpPr txBox="1"/>
          <p:nvPr/>
        </p:nvSpPr>
        <p:spPr>
          <a:xfrm>
            <a:off x="695960" y="4528820"/>
            <a:ext cx="10800715" cy="1265555"/>
          </a:xfrm>
          <a:prstGeom prst="rect">
            <a:avLst/>
          </a:prstGeom>
        </p:spPr>
        <p:txBody>
          <a:bodyPr wrap="square">
            <a:noAutofit/>
          </a:bodyPr>
          <a:p>
            <a:r>
              <a:rPr sz="2400">
                <a:latin typeface="Mali" panose="00000500000000000000" charset="0"/>
                <a:cs typeface="Mali" panose="00000500000000000000" charset="0"/>
              </a:rPr>
              <a:t>The newline character (</a:t>
            </a:r>
            <a:r>
              <a:rPr sz="2400" b="0">
                <a:latin typeface="Mali" panose="00000500000000000000" charset="0"/>
                <a:ea typeface="monospace"/>
                <a:cs typeface="Mali" panose="00000500000000000000" charset="0"/>
              </a:rPr>
              <a:t>\n</a:t>
            </a:r>
            <a:r>
              <a:rPr sz="2400">
                <a:latin typeface="Mali" panose="00000500000000000000" charset="0"/>
                <a:cs typeface="Mali" panose="00000500000000000000" charset="0"/>
              </a:rPr>
              <a:t>) from your original Enter key press is </a:t>
            </a:r>
            <a:r>
              <a:rPr sz="2400" b="0">
                <a:latin typeface="Mali" panose="00000500000000000000" charset="0"/>
                <a:ea typeface="Google Sans"/>
                <a:cs typeface="Mali" panose="00000500000000000000" charset="0"/>
              </a:rPr>
              <a:t>still</a:t>
            </a:r>
            <a:r>
              <a:rPr sz="2400">
                <a:latin typeface="Mali" panose="00000500000000000000" charset="0"/>
                <a:cs typeface="Mali" panose="00000500000000000000" charset="0"/>
              </a:rPr>
              <a:t> trapped on the belt, waiting to sabotage the next input function.</a:t>
            </a:r>
            <a:endParaRPr sz="2400">
              <a:latin typeface="Mali" panose="00000500000000000000" charset="0"/>
              <a:cs typeface="Mali" panose="00000500000000000000" charset="0"/>
            </a:endParaRPr>
          </a:p>
        </p:txBody>
      </p:sp>
    </p:spTree>
    <p:custDataLst>
      <p:tags r:id="rId1"/>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altLang="en-US"/>
              <a:t>The Danger: Buffer Pollution &amp; Infinite Loops</a:t>
            </a:r>
            <a:endParaRPr lang="en-US" altLang="en-US"/>
          </a:p>
        </p:txBody>
      </p:sp>
      <p:sp>
        <p:nvSpPr>
          <p:cNvPr id="5" name="Text Placeholder 4"/>
          <p:cNvSpPr>
            <a:spLocks noGrp="1"/>
          </p:cNvSpPr>
          <p:nvPr>
            <p:ph type="body" idx="1"/>
          </p:nvPr>
        </p:nvSpPr>
        <p:spPr/>
        <p:txBody>
          <a:bodyPr anchor="ctr" anchorCtr="0"/>
          <a:p>
            <a:pPr marL="0" indent="0">
              <a:buNone/>
            </a:pPr>
            <a:r>
              <a:rPr lang="en-US" altLang="en-US"/>
              <a:t>int choice;</a:t>
            </a:r>
            <a:endParaRPr lang="en-US" altLang="en-US"/>
          </a:p>
          <a:p>
            <a:pPr marL="0" indent="0">
              <a:buNone/>
            </a:pPr>
            <a:r>
              <a:rPr lang="en-US" altLang="en-US"/>
              <a:t>while (1) {</a:t>
            </a:r>
            <a:endParaRPr lang="en-US" altLang="en-US"/>
          </a:p>
          <a:p>
            <a:pPr marL="0" indent="0">
              <a:buNone/>
            </a:pPr>
            <a:r>
              <a:rPr lang="en-US" altLang="en-US"/>
              <a:t>    printf("Enter a number: ");</a:t>
            </a:r>
            <a:endParaRPr lang="en-US" altLang="en-US"/>
          </a:p>
          <a:p>
            <a:pPr marL="0" indent="0">
              <a:buNone/>
            </a:pPr>
            <a:r>
              <a:rPr lang="en-US" altLang="en-US"/>
              <a:t>    scanf("%d", &amp;choice);</a:t>
            </a:r>
            <a:endParaRPr lang="en-US" altLang="en-US"/>
          </a:p>
          <a:p>
            <a:pPr marL="0" indent="0">
              <a:buNone/>
            </a:pPr>
            <a:r>
              <a:rPr lang="en-US" altLang="en-US"/>
              <a:t>    printf("You chose %d\n", choice);</a:t>
            </a:r>
            <a:endParaRPr lang="en-US" altLang="en-US"/>
          </a:p>
          <a:p>
            <a:pPr marL="0" indent="0">
              <a:buNone/>
            </a:pPr>
            <a:r>
              <a:rPr lang="en-US" altLang="en-US"/>
              <a:t>}</a:t>
            </a:r>
            <a:endParaRPr lang="en-US" altLang="en-US"/>
          </a:p>
          <a:p>
            <a:pPr marL="0" indent="0">
              <a:buNone/>
            </a:pPr>
            <a:endParaRPr lang="en-US" altLang="en-US"/>
          </a:p>
        </p:txBody>
      </p:sp>
    </p:spTree>
    <p:custDataLst>
      <p:tags r:id="rId1"/>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a:t>Explanation</a:t>
            </a:r>
            <a:endParaRPr lang="en-US"/>
          </a:p>
        </p:txBody>
      </p:sp>
      <p:sp>
        <p:nvSpPr>
          <p:cNvPr id="5" name="Text Placeholder 4"/>
          <p:cNvSpPr>
            <a:spLocks noGrp="1"/>
          </p:cNvSpPr>
          <p:nvPr>
            <p:ph type="body" idx="1"/>
          </p:nvPr>
        </p:nvSpPr>
        <p:spPr>
          <a:xfrm>
            <a:off x="695960" y="1301750"/>
            <a:ext cx="10800080" cy="5317490"/>
          </a:xfrm>
        </p:spPr>
        <p:txBody>
          <a:bodyPr>
            <a:noAutofit/>
          </a:bodyPr>
          <a:p>
            <a:r>
              <a:rPr lang="en-US" altLang="en-US" sz="2300"/>
              <a:t>If a user types the letter A and hits Enter:</a:t>
            </a:r>
            <a:endParaRPr lang="en-US" altLang="en-US" sz="2300"/>
          </a:p>
          <a:p>
            <a:pPr marL="457200" indent="-457200">
              <a:buAutoNum type="arabicPeriod"/>
            </a:pPr>
            <a:r>
              <a:rPr lang="en-US" altLang="en-US" sz="2300"/>
              <a:t>stdin buffer becomes: ['A', '\n'].scanf("%d") looks at 'A'. </a:t>
            </a:r>
            <a:endParaRPr lang="en-US" altLang="en-US" sz="2300"/>
          </a:p>
          <a:p>
            <a:pPr marL="457200" indent="-457200">
              <a:buAutoNum type="arabicPeriod"/>
            </a:pPr>
            <a:r>
              <a:rPr lang="en-US" altLang="en-US" sz="2300"/>
              <a:t>It expects a number.</a:t>
            </a:r>
            <a:endParaRPr lang="en-US" altLang="en-US" sz="2300"/>
          </a:p>
          <a:p>
            <a:pPr marL="457200" indent="-457200">
              <a:buAutoNum type="arabicPeriod"/>
            </a:pPr>
            <a:r>
              <a:rPr lang="en-US" altLang="en-US" sz="2300"/>
              <a:t>This is a matching failure. </a:t>
            </a:r>
            <a:endParaRPr lang="en-US" altLang="en-US" sz="2300"/>
          </a:p>
          <a:p>
            <a:pPr marL="457200" indent="-457200">
              <a:buAutoNum type="arabicPeriod"/>
            </a:pPr>
            <a:r>
              <a:rPr lang="en-US" altLang="en-US" sz="2300"/>
              <a:t>scanf leaves 'A' right on the belt and exits immediately, returning 0.</a:t>
            </a:r>
            <a:endParaRPr lang="en-US" altLang="en-US" sz="2300"/>
          </a:p>
          <a:p>
            <a:pPr marL="457200" indent="-457200">
              <a:buAutoNum type="arabicPeriod"/>
            </a:pPr>
            <a:r>
              <a:rPr lang="en-US" altLang="en-US" sz="2300"/>
              <a:t>The loop spins around to the next iteration.</a:t>
            </a:r>
            <a:endParaRPr lang="en-US" altLang="en-US" sz="2300"/>
          </a:p>
          <a:p>
            <a:pPr marL="457200" indent="-457200">
              <a:buAutoNum type="arabicPeriod"/>
            </a:pPr>
            <a:r>
              <a:rPr lang="en-US" altLang="en-US" sz="2300"/>
              <a:t>scanf looks at the belt. 'A' is still sitting right there at the front!It fails again, leaves it there again, and loops.</a:t>
            </a:r>
            <a:endParaRPr lang="en-US" altLang="en-US" sz="2300"/>
          </a:p>
          <a:p>
            <a:pPr marL="457200" indent="-457200">
              <a:buAutoNum type="arabicPeriod"/>
            </a:pPr>
            <a:r>
              <a:rPr lang="en-US" altLang="en-US" sz="2300"/>
              <a:t>Result: Your terminal is flooded with an infinite, uncontrollable loop printing "Enter a number: " at 100% CPU usage.</a:t>
            </a:r>
            <a:endParaRPr lang="en-US" altLang="en-US" sz="2300"/>
          </a:p>
        </p:txBody>
      </p:sp>
    </p:spTree>
    <p:custDataLst>
      <p:tags r:id="rId1"/>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altLang="en-US"/>
              <a:t>How to Manually Flush the Buffer</a:t>
            </a:r>
            <a:endParaRPr lang="en-US" altLang="en-US"/>
          </a:p>
        </p:txBody>
      </p:sp>
      <p:sp>
        <p:nvSpPr>
          <p:cNvPr id="5" name="Text Placeholder 4"/>
          <p:cNvSpPr>
            <a:spLocks noGrp="1"/>
          </p:cNvSpPr>
          <p:nvPr>
            <p:ph type="body" idx="1"/>
          </p:nvPr>
        </p:nvSpPr>
        <p:spPr/>
        <p:txBody>
          <a:bodyPr/>
          <a:p>
            <a:r>
              <a:rPr lang="en-US"/>
              <a:t>Use this simple but the effective command:</a:t>
            </a:r>
            <a:endParaRPr lang="en-US"/>
          </a:p>
          <a:p>
            <a:pPr marL="0" indent="0">
              <a:buNone/>
            </a:pPr>
            <a:endParaRPr lang="en-US"/>
          </a:p>
        </p:txBody>
      </p:sp>
      <p:sp>
        <p:nvSpPr>
          <p:cNvPr id="6" name="Text Box 5"/>
          <p:cNvSpPr txBox="1"/>
          <p:nvPr/>
        </p:nvSpPr>
        <p:spPr>
          <a:xfrm>
            <a:off x="1209675" y="2769870"/>
            <a:ext cx="9772015" cy="1938020"/>
          </a:xfrm>
          <a:prstGeom prst="rect">
            <a:avLst/>
          </a:prstGeom>
          <a:noFill/>
        </p:spPr>
        <p:txBody>
          <a:bodyPr wrap="square" rtlCol="0" anchor="t">
            <a:spAutoFit/>
          </a:bodyPr>
          <a:p>
            <a:r>
              <a:rPr lang="en-US" altLang="en-US" sz="2400"/>
              <a:t>// Force-clears everything on the stdin belt up to and including the next newline</a:t>
            </a:r>
            <a:endParaRPr lang="en-US" altLang="en-US" sz="2400"/>
          </a:p>
          <a:p>
            <a:r>
              <a:rPr lang="en-US" altLang="en-US" sz="2400"/>
              <a:t>int c;</a:t>
            </a:r>
            <a:endParaRPr lang="en-US" altLang="en-US" sz="2400"/>
          </a:p>
          <a:p>
            <a:r>
              <a:rPr lang="en-US" altLang="en-US" sz="2400"/>
              <a:t>while ((c = getchar()) != '\n' &amp;&amp; c != EOF);</a:t>
            </a:r>
            <a:endParaRPr lang="en-US" altLang="en-US" sz="2400"/>
          </a:p>
          <a:p>
            <a:endParaRPr lang="en-US" sz="2400"/>
          </a:p>
        </p:txBody>
      </p:sp>
    </p:spTree>
    <p:custDataLst>
      <p:tags r:id="rId1"/>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altLang="en-US"/>
              <a:t>How it works</a:t>
            </a:r>
            <a:endParaRPr lang="en-US" altLang="en-US"/>
          </a:p>
        </p:txBody>
      </p:sp>
      <p:sp>
        <p:nvSpPr>
          <p:cNvPr id="5" name="Text Placeholder 4"/>
          <p:cNvSpPr>
            <a:spLocks noGrp="1"/>
          </p:cNvSpPr>
          <p:nvPr>
            <p:ph type="body" idx="1"/>
          </p:nvPr>
        </p:nvSpPr>
        <p:spPr/>
        <p:txBody>
          <a:bodyPr/>
          <a:p>
            <a:r>
              <a:rPr lang="en-US" altLang="en-US"/>
              <a:t>getchar() manually pulls one single character off the front of the stdin conveyor belt. </a:t>
            </a:r>
            <a:endParaRPr lang="en-US" altLang="en-US"/>
          </a:p>
          <a:p>
            <a:r>
              <a:rPr lang="en-US" altLang="en-US"/>
              <a:t>The loop keeps snatching characters and throwing them away until it snatches the '\n' character. </a:t>
            </a:r>
            <a:endParaRPr lang="en-US" altLang="en-US"/>
          </a:p>
          <a:p>
            <a:r>
              <a:rPr lang="en-US" altLang="en-US"/>
              <a:t>Your belt is now pristine and empty.</a:t>
            </a:r>
            <a:endParaRPr lang="en-US" altLang="en-US"/>
          </a:p>
        </p:txBody>
      </p:sp>
    </p:spTree>
    <p:custDataLst>
      <p:tags r:id="rId1"/>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altLang="en-US"/>
              <a:t>Space at the End</a:t>
            </a:r>
            <a:endParaRPr lang="en-US" altLang="en-US"/>
          </a:p>
        </p:txBody>
      </p:sp>
      <p:sp>
        <p:nvSpPr>
          <p:cNvPr id="5" name="Text Placeholder 4"/>
          <p:cNvSpPr>
            <a:spLocks noGrp="1"/>
          </p:cNvSpPr>
          <p:nvPr>
            <p:ph type="body" idx="1"/>
          </p:nvPr>
        </p:nvSpPr>
        <p:spPr/>
        <p:txBody>
          <a:bodyPr>
            <a:normAutofit lnSpcReduction="10000"/>
          </a:bodyPr>
          <a:p>
            <a:pPr marL="0" indent="0">
              <a:buNone/>
            </a:pPr>
            <a:r>
              <a:rPr lang="en-US" altLang="en-US"/>
              <a:t>Look at this seemingly harmless line of code:</a:t>
            </a:r>
            <a:endParaRPr lang="en-US" altLang="en-US"/>
          </a:p>
          <a:p>
            <a:pPr marL="0" indent="0">
              <a:buNone/>
            </a:pPr>
            <a:endParaRPr lang="en-US" altLang="en-US"/>
          </a:p>
          <a:p>
            <a:pPr marL="0" indent="0">
              <a:buNone/>
            </a:pPr>
            <a:endParaRPr lang="en-US" altLang="en-US"/>
          </a:p>
          <a:p>
            <a:pPr marL="0" indent="0">
              <a:buNone/>
            </a:pPr>
            <a:endParaRPr lang="en-US" altLang="en-US"/>
          </a:p>
          <a:p>
            <a:pPr marL="0" indent="0">
              <a:buNone/>
            </a:pPr>
            <a:endParaRPr lang="en-US" altLang="en-US"/>
          </a:p>
          <a:p>
            <a:pPr marL="0" indent="0">
              <a:buNone/>
            </a:pPr>
            <a:r>
              <a:rPr lang="en-US" altLang="en-US"/>
              <a:t>You might think this cleanly reads an integer and then clears out any trailing spaces or the newline character left behind. In reality, it creates a frustrating user experience where the program freezes and refuses to move forward, even after you press Enter multiple times.</a:t>
            </a:r>
            <a:endParaRPr lang="en-US" altLang="en-US"/>
          </a:p>
        </p:txBody>
      </p:sp>
      <p:sp>
        <p:nvSpPr>
          <p:cNvPr id="6" name="Text Box 5"/>
          <p:cNvSpPr txBox="1"/>
          <p:nvPr/>
        </p:nvSpPr>
        <p:spPr>
          <a:xfrm>
            <a:off x="696595" y="2486660"/>
            <a:ext cx="10799445" cy="829945"/>
          </a:xfrm>
          <a:prstGeom prst="rect">
            <a:avLst/>
          </a:prstGeom>
          <a:noFill/>
        </p:spPr>
        <p:txBody>
          <a:bodyPr wrap="square" rtlCol="0" anchor="t">
            <a:spAutoFit/>
          </a:bodyPr>
          <a:p>
            <a:r>
              <a:rPr lang="en-US" altLang="en-US" sz="2400"/>
              <a:t>int code;</a:t>
            </a:r>
            <a:endParaRPr lang="en-US" altLang="en-US" sz="2400"/>
          </a:p>
          <a:p>
            <a:r>
              <a:rPr lang="en-US" altLang="en-US" sz="2400"/>
              <a:t>scanf("%d</a:t>
            </a:r>
            <a:r>
              <a:rPr lang="en-US" altLang="en-US" sz="2400">
                <a:highlight>
                  <a:srgbClr val="FFFF00"/>
                </a:highlight>
              </a:rPr>
              <a:t> </a:t>
            </a:r>
            <a:r>
              <a:rPr lang="en-US" altLang="en-US" sz="2400"/>
              <a:t>", &amp;code); // Note the intentional trailing space after %d</a:t>
            </a:r>
            <a:endParaRPr lang="en-US" sz="2400"/>
          </a:p>
        </p:txBody>
      </p:sp>
    </p:spTree>
    <p:custDataLst>
      <p:tags r:id="rId1"/>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altLang="en-US"/>
              <a:t>Why It Freezes: The Stream Trace</a:t>
            </a:r>
            <a:endParaRPr lang="en-US" altLang="en-US"/>
          </a:p>
        </p:txBody>
      </p:sp>
      <p:sp>
        <p:nvSpPr>
          <p:cNvPr id="5" name="Text Placeholder 4"/>
          <p:cNvSpPr>
            <a:spLocks noGrp="1"/>
          </p:cNvSpPr>
          <p:nvPr>
            <p:ph type="body" idx="1"/>
          </p:nvPr>
        </p:nvSpPr>
        <p:spPr/>
        <p:txBody>
          <a:bodyPr>
            <a:noAutofit/>
          </a:bodyPr>
          <a:p>
            <a:r>
              <a:rPr lang="en-US" altLang="en-US" sz="2000"/>
              <a:t>The Lock-On: </a:t>
            </a:r>
            <a:endParaRPr lang="en-US" altLang="en-US" sz="2000"/>
          </a:p>
          <a:p>
            <a:pPr marL="457200" indent="-457200">
              <a:buAutoNum type="arabicPeriod"/>
            </a:pPr>
            <a:r>
              <a:rPr lang="en-US" altLang="en-US" sz="2000"/>
              <a:t>You type 42 and press Enter.</a:t>
            </a:r>
            <a:endParaRPr lang="en-US" altLang="en-US" sz="2000"/>
          </a:p>
          <a:p>
            <a:pPr marL="457200" indent="-457200">
              <a:buAutoNum type="arabicPeriod"/>
            </a:pPr>
            <a:r>
              <a:rPr lang="en-US" altLang="en-US" sz="2000"/>
              <a:t> The buffer contains: ['4', '2', '\n'].</a:t>
            </a:r>
            <a:endParaRPr lang="en-US" altLang="en-US" sz="2000"/>
          </a:p>
          <a:p>
            <a:pPr marL="457200" indent="-457200">
              <a:buAutoNum type="arabicPeriod"/>
            </a:pPr>
            <a:r>
              <a:rPr lang="en-US" altLang="en-US" sz="2000"/>
              <a:t>The %d Phase: scanf reads '4' and '2', stores 42 in code, and moves the pointer to '\n'.</a:t>
            </a:r>
            <a:endParaRPr lang="en-US" altLang="en-US" sz="2000"/>
          </a:p>
          <a:p>
            <a:pPr marL="457200" indent="-457200">
              <a:buAutoNum type="arabicPeriod"/>
            </a:pPr>
            <a:r>
              <a:rPr lang="en-US" altLang="en-US" sz="2000"/>
              <a:t>The Trailing Space Phase (" "): The program now executes that trailing space in the format string. </a:t>
            </a:r>
            <a:endParaRPr lang="en-US" altLang="en-US" sz="2000"/>
          </a:p>
          <a:p>
            <a:pPr marL="457200" indent="-457200">
              <a:buAutoNum type="arabicPeriod"/>
            </a:pPr>
            <a:r>
              <a:rPr lang="en-US" altLang="en-US" sz="2000"/>
              <a:t>The rule of a space in a format string is: "Consume all whitespace characters until you hit a non-whitespace character."</a:t>
            </a:r>
            <a:endParaRPr lang="en-US" altLang="en-US" sz="2000"/>
          </a:p>
          <a:p>
            <a:pPr marL="457200" indent="-457200">
              <a:buAutoNum type="arabicPeriod"/>
            </a:pPr>
            <a:r>
              <a:rPr lang="en-US" altLang="en-US" sz="2000"/>
              <a:t>The Loop: scanf eats your newline character '\n'. </a:t>
            </a:r>
            <a:endParaRPr lang="en-US" altLang="en-US" sz="2000"/>
          </a:p>
          <a:p>
            <a:pPr marL="457200" indent="-457200">
              <a:buAutoNum type="arabicPeriod"/>
            </a:pPr>
            <a:r>
              <a:rPr lang="en-US" altLang="en-US" sz="2000"/>
              <a:t>The buffer is now empty. But because it hasn't found a non-whitespace character yet, it cannot stop scanning.</a:t>
            </a:r>
            <a:endParaRPr lang="en-US" altLang="en-US" sz="2000"/>
          </a:p>
          <a:p>
            <a:pPr marL="0" indent="0">
              <a:buNone/>
            </a:pPr>
            <a:endParaRPr lang="en-US" altLang="en-US" sz="2000"/>
          </a:p>
        </p:txBody>
      </p:sp>
    </p:spTree>
    <p:custDataLst>
      <p:tags r:id="rId1"/>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altLang="en-US">
                <a:sym typeface="+mn-ea"/>
              </a:rPr>
              <a:t>Why It Freezes: The Stream Trace</a:t>
            </a:r>
            <a:endParaRPr lang="en-US"/>
          </a:p>
        </p:txBody>
      </p:sp>
      <p:sp>
        <p:nvSpPr>
          <p:cNvPr id="5" name="Text Placeholder 4"/>
          <p:cNvSpPr>
            <a:spLocks noGrp="1"/>
          </p:cNvSpPr>
          <p:nvPr>
            <p:ph type="body" idx="1"/>
          </p:nvPr>
        </p:nvSpPr>
        <p:spPr/>
        <p:txBody>
          <a:bodyPr/>
          <a:p>
            <a:pPr marL="457200" indent="-457200">
              <a:buFont typeface="+mj-lt"/>
              <a:buAutoNum type="arabicPeriod" startAt="8"/>
            </a:pPr>
            <a:r>
              <a:rPr lang="en-US" altLang="en-US" sz="2000">
                <a:sym typeface="+mn-ea"/>
              </a:rPr>
              <a:t>The Freeze: Your program hangs. You hit Enter again. Another '\n' enters the buffer; scanf eats it and keeps waiting. </a:t>
            </a:r>
            <a:endParaRPr lang="en-US" altLang="en-US" sz="2000">
              <a:sym typeface="+mn-ea"/>
            </a:endParaRPr>
          </a:p>
          <a:p>
            <a:pPr marL="457200" indent="-457200">
              <a:buFont typeface="+mj-lt"/>
              <a:buAutoNum type="arabicPeriod" startAt="8"/>
            </a:pPr>
            <a:r>
              <a:rPr lang="en-US" altLang="en-US" sz="2000">
                <a:sym typeface="+mn-ea"/>
              </a:rPr>
              <a:t>You press Spacebar, Spacebar, Enter. scanf eats them all.</a:t>
            </a:r>
            <a:endParaRPr lang="en-US" altLang="en-US" sz="2000">
              <a:sym typeface="+mn-ea"/>
            </a:endParaRPr>
          </a:p>
          <a:p>
            <a:pPr marL="457200" indent="-457200">
              <a:buFont typeface="+mj-lt"/>
              <a:buAutoNum type="arabicPeriod" startAt="8"/>
            </a:pPr>
            <a:r>
              <a:rPr lang="en-US" altLang="en-US" sz="2000">
                <a:sym typeface="+mn-ea"/>
              </a:rPr>
              <a:t>The Release: The only way to unfreeze the program is to type a non-whitespace character (like the letter 'X' or another number) and hit Enter.</a:t>
            </a:r>
            <a:endParaRPr lang="en-US" altLang="en-US" sz="2000">
              <a:sym typeface="+mn-ea"/>
            </a:endParaRPr>
          </a:p>
          <a:p>
            <a:pPr marL="457200" indent="-457200">
              <a:buFont typeface="+mj-lt"/>
              <a:buAutoNum type="arabicPeriod" startAt="8"/>
            </a:pPr>
            <a:r>
              <a:rPr lang="en-US" altLang="en-US" sz="2000">
                <a:sym typeface="+mn-ea"/>
              </a:rPr>
              <a:t> Only then does scanf say "Aha! A non-whitespace character! My job is done." </a:t>
            </a:r>
            <a:endParaRPr lang="en-US" altLang="en-US" sz="2000">
              <a:sym typeface="+mn-ea"/>
            </a:endParaRPr>
          </a:p>
          <a:p>
            <a:pPr marL="457200" indent="-457200">
              <a:buFont typeface="+mj-lt"/>
              <a:buAutoNum type="arabicPeriod" startAt="8"/>
            </a:pPr>
            <a:r>
              <a:rPr lang="en-US" altLang="en-US" sz="2000">
                <a:sym typeface="+mn-ea"/>
              </a:rPr>
              <a:t>It terminates, leaving that character sitting in the buffer to mess up your next input line.</a:t>
            </a:r>
            <a:endParaRPr lang="en-US" altLang="en-US" sz="2000"/>
          </a:p>
          <a:p>
            <a:pPr>
              <a:buAutoNum type="arabicPeriod" startAt="8"/>
            </a:pPr>
            <a:endParaRPr lang="en-US" sz="2000"/>
          </a:p>
        </p:txBody>
      </p:sp>
    </p:spTree>
    <p:custDataLst>
      <p:tags r:id="rId1"/>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altLang="en-US"/>
              <a:t>Spaces in Names</a:t>
            </a:r>
            <a:endParaRPr lang="en-US" altLang="en-US"/>
          </a:p>
        </p:txBody>
      </p:sp>
      <p:sp>
        <p:nvSpPr>
          <p:cNvPr id="5" name="Text Placeholder 4"/>
          <p:cNvSpPr>
            <a:spLocks noGrp="1"/>
          </p:cNvSpPr>
          <p:nvPr>
            <p:ph type="body" idx="1"/>
          </p:nvPr>
        </p:nvSpPr>
        <p:spPr/>
        <p:txBody>
          <a:bodyPr/>
          <a:p>
            <a:r>
              <a:rPr lang="en-US" altLang="en-US"/>
              <a:t>Because the string specifier %s treats whitespace as an ending brake, you cannot use it to read standard human names or phrases.</a:t>
            </a:r>
            <a:endParaRPr lang="en-US" altLang="en-US"/>
          </a:p>
        </p:txBody>
      </p:sp>
      <p:sp>
        <p:nvSpPr>
          <p:cNvPr id="6" name="Text Box 5"/>
          <p:cNvSpPr txBox="1"/>
          <p:nvPr/>
        </p:nvSpPr>
        <p:spPr>
          <a:xfrm>
            <a:off x="695325" y="2829560"/>
            <a:ext cx="10800080" cy="1568450"/>
          </a:xfrm>
          <a:prstGeom prst="rect">
            <a:avLst/>
          </a:prstGeom>
          <a:noFill/>
        </p:spPr>
        <p:txBody>
          <a:bodyPr wrap="square" rtlCol="0" anchor="t">
            <a:spAutoFit/>
          </a:bodyPr>
          <a:p>
            <a:r>
              <a:rPr lang="en-US" altLang="en-US" sz="2400"/>
              <a:t>char full_name[50];</a:t>
            </a:r>
            <a:endParaRPr lang="en-US" altLang="en-US" sz="2400"/>
          </a:p>
          <a:p>
            <a:r>
              <a:rPr lang="en-US" altLang="en-US" sz="2400"/>
              <a:t>printf("Enter your full name: ");</a:t>
            </a:r>
            <a:endParaRPr lang="en-US" altLang="en-US" sz="2400"/>
          </a:p>
          <a:p>
            <a:r>
              <a:rPr lang="en-US" altLang="en-US" sz="2400"/>
              <a:t>scanf("%s", full_name); // User types: "John Doe"</a:t>
            </a:r>
            <a:endParaRPr lang="en-US" altLang="en-US" sz="2400"/>
          </a:p>
          <a:p>
            <a:endParaRPr lang="en-US" sz="2400"/>
          </a:p>
        </p:txBody>
      </p:sp>
    </p:spTree>
    <p:custDataLst>
      <p:tags r:id="rId1"/>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altLang="en-US"/>
              <a:t>The Execution</a:t>
            </a:r>
            <a:endParaRPr lang="en-US" altLang="en-US"/>
          </a:p>
        </p:txBody>
      </p:sp>
      <p:sp>
        <p:nvSpPr>
          <p:cNvPr id="5" name="Text Placeholder 4"/>
          <p:cNvSpPr>
            <a:spLocks noGrp="1"/>
          </p:cNvSpPr>
          <p:nvPr>
            <p:ph type="body" idx="1"/>
          </p:nvPr>
        </p:nvSpPr>
        <p:spPr/>
        <p:txBody>
          <a:bodyPr>
            <a:noAutofit/>
          </a:bodyPr>
          <a:p>
            <a:r>
              <a:rPr lang="en-US" altLang="en-US" sz="2300">
                <a:solidFill>
                  <a:schemeClr val="tx1"/>
                </a:solidFill>
              </a:rPr>
              <a:t>The Input:</a:t>
            </a:r>
            <a:endParaRPr lang="en-US" altLang="en-US" sz="2300">
              <a:solidFill>
                <a:schemeClr val="tx1"/>
              </a:solidFill>
            </a:endParaRPr>
          </a:p>
          <a:p>
            <a:pPr marL="457200" indent="-457200">
              <a:buAutoNum type="arabicPeriod"/>
            </a:pPr>
            <a:r>
              <a:rPr lang="en-US" altLang="en-US" sz="2300">
                <a:solidFill>
                  <a:schemeClr val="tx1"/>
                </a:solidFill>
              </a:rPr>
              <a:t>The buffer contains ['J', 'o', 'h', 'n', ' ', 'D', 'o', 'e', '\n'].</a:t>
            </a:r>
            <a:endParaRPr lang="en-US" altLang="en-US" sz="2300">
              <a:solidFill>
                <a:schemeClr val="tx1"/>
              </a:solidFill>
            </a:endParaRPr>
          </a:p>
          <a:p>
            <a:pPr marL="457200" indent="-457200">
              <a:buAutoNum type="arabicPeriod"/>
            </a:pPr>
            <a:r>
              <a:rPr lang="en-US" altLang="en-US" sz="2300">
                <a:solidFill>
                  <a:schemeClr val="tx1"/>
                </a:solidFill>
              </a:rPr>
              <a:t>%s skips leading whitespace (none found).</a:t>
            </a:r>
            <a:endParaRPr lang="en-US" altLang="en-US" sz="2300">
              <a:solidFill>
                <a:schemeClr val="tx1"/>
              </a:solidFill>
            </a:endParaRPr>
          </a:p>
          <a:p>
            <a:pPr marL="457200" indent="-457200">
              <a:buAutoNum type="arabicPeriod"/>
            </a:pPr>
            <a:r>
              <a:rPr lang="en-US" altLang="en-US" sz="2300">
                <a:solidFill>
                  <a:schemeClr val="tx1"/>
                </a:solidFill>
              </a:rPr>
              <a:t>It reads 'J', 'o', 'h', 'n'.</a:t>
            </a:r>
            <a:endParaRPr lang="en-US" altLang="en-US" sz="2300">
              <a:solidFill>
                <a:schemeClr val="tx1"/>
              </a:solidFill>
            </a:endParaRPr>
          </a:p>
          <a:p>
            <a:pPr marL="457200" indent="-457200">
              <a:buAutoNum type="arabicPeriod"/>
            </a:pPr>
            <a:r>
              <a:rPr lang="en-US" altLang="en-US" sz="2300">
                <a:solidFill>
                  <a:schemeClr val="tx1"/>
                </a:solidFill>
              </a:rPr>
              <a:t>It hits the space character ' '. </a:t>
            </a:r>
            <a:endParaRPr lang="en-US" altLang="en-US" sz="2300">
              <a:solidFill>
                <a:schemeClr val="tx1"/>
              </a:solidFill>
            </a:endParaRPr>
          </a:p>
          <a:p>
            <a:pPr marL="457200" indent="-457200">
              <a:buAutoNum type="arabicPeriod"/>
            </a:pPr>
            <a:r>
              <a:rPr lang="en-US" altLang="en-US" sz="2300">
                <a:solidFill>
                  <a:schemeClr val="tx1"/>
                </a:solidFill>
              </a:rPr>
              <a:t>To %s, this is a boundary marker.</a:t>
            </a:r>
            <a:endParaRPr lang="en-US" altLang="en-US" sz="2300">
              <a:solidFill>
                <a:schemeClr val="tx1"/>
              </a:solidFill>
            </a:endParaRPr>
          </a:p>
          <a:p>
            <a:pPr marL="457200" indent="-457200">
              <a:buAutoNum type="arabicPeriod"/>
            </a:pPr>
            <a:r>
              <a:rPr lang="en-US" altLang="en-US" sz="2300">
                <a:solidFill>
                  <a:schemeClr val="tx1"/>
                </a:solidFill>
              </a:rPr>
              <a:t>The Result: </a:t>
            </a:r>
            <a:endParaRPr lang="en-US" altLang="en-US" sz="2300">
              <a:solidFill>
                <a:schemeClr val="tx1"/>
              </a:solidFill>
            </a:endParaRPr>
          </a:p>
          <a:p>
            <a:pPr marL="457200" lvl="1" indent="457200">
              <a:buNone/>
            </a:pPr>
            <a:r>
              <a:rPr lang="en-US" altLang="en-US" sz="2300">
                <a:solidFill>
                  <a:schemeClr val="tx1"/>
                </a:solidFill>
              </a:rPr>
              <a:t>It stops immediately, places \0 after "John", and exits. The variable full_name contains only "John". The word "Doe\n" is completely abandoned in the input buffer, waiting to pollute the next input line.</a:t>
            </a:r>
            <a:endParaRPr lang="en-US" altLang="en-US" sz="2300">
              <a:solidFill>
                <a:schemeClr val="tx1"/>
              </a:solidFill>
            </a:endParaRPr>
          </a:p>
        </p:txBody>
      </p:sp>
    </p:spTree>
    <p:custDataLst>
      <p:tags r:id="rId1"/>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altLang="en-US"/>
              <a:t>The Match and Stop Mechanics</a:t>
            </a:r>
            <a:endParaRPr lang="en-US" altLang="en-US"/>
          </a:p>
        </p:txBody>
      </p:sp>
      <p:sp>
        <p:nvSpPr>
          <p:cNvPr id="5" name="Text Placeholder 4"/>
          <p:cNvSpPr>
            <a:spLocks noGrp="1"/>
          </p:cNvSpPr>
          <p:nvPr>
            <p:ph type="body" idx="1"/>
          </p:nvPr>
        </p:nvSpPr>
        <p:spPr/>
        <p:txBody>
          <a:bodyPr/>
          <a:p>
            <a:r>
              <a:rPr lang="en-US" altLang="en-US"/>
              <a:t>scanf acts as an all-or-nothing pattern matcher. </a:t>
            </a:r>
            <a:endParaRPr lang="en-US" altLang="en-US"/>
          </a:p>
          <a:p>
            <a:r>
              <a:rPr lang="en-US" altLang="en-US"/>
              <a:t>When you pass a format string to scanf, you are giving it an exact blueprint.</a:t>
            </a:r>
            <a:endParaRPr lang="en-US" altLang="en-US"/>
          </a:p>
          <a:p>
            <a:r>
              <a:rPr lang="en-US" altLang="en-US"/>
              <a:t> It reads the input buffer character by character, checking if the live input matches your blueprint.</a:t>
            </a:r>
            <a:endParaRPr lang="en-US" altLang="en-US"/>
          </a:p>
          <a:p>
            <a:r>
              <a:rPr lang="en-US" altLang="en-US"/>
              <a:t>The moment a single character violates the blueprint, the scanning engine freezes instantly.</a:t>
            </a:r>
            <a:endParaRPr lang="en-US" altLang="en-US"/>
          </a:p>
        </p:txBody>
      </p:sp>
    </p:spTree>
    <p:custDataLst>
      <p:tags r:id="rId1"/>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altLang="en-US"/>
              <a:t>Anatomy of a Matching Failure</a:t>
            </a:r>
            <a:endParaRPr lang="en-US" altLang="en-US"/>
          </a:p>
        </p:txBody>
      </p:sp>
      <p:sp>
        <p:nvSpPr>
          <p:cNvPr id="6" name="Text Box 5"/>
          <p:cNvSpPr txBox="1"/>
          <p:nvPr/>
        </p:nvSpPr>
        <p:spPr>
          <a:xfrm>
            <a:off x="695960" y="1388110"/>
            <a:ext cx="10799445" cy="4988560"/>
          </a:xfrm>
          <a:prstGeom prst="rect">
            <a:avLst/>
          </a:prstGeom>
        </p:spPr>
        <p:txBody>
          <a:bodyPr>
            <a:noAutofit/>
          </a:bodyPr>
          <a:p>
            <a:pPr marL="0" indent="0">
              <a:spcBef>
                <a:spcPts val="900"/>
              </a:spcBef>
              <a:spcAft>
                <a:spcPts val="1200"/>
              </a:spcAft>
            </a:pPr>
            <a:r>
              <a:rPr sz="2400" b="0">
                <a:latin typeface="Mali" panose="00000500000000000000" charset="0"/>
                <a:ea typeface="Google Sans"/>
                <a:cs typeface="Mali" panose="00000500000000000000" charset="0"/>
              </a:rPr>
              <a:t>To understand what happens during a failure, you must track three separate elements simultaneously:</a:t>
            </a:r>
            <a:endParaRPr sz="2400" b="0">
              <a:latin typeface="Mali" panose="00000500000000000000" charset="0"/>
              <a:ea typeface="Google Sans"/>
              <a:cs typeface="Mali" panose="00000500000000000000" charset="0"/>
            </a:endParaRPr>
          </a:p>
          <a:p>
            <a:pPr marL="0" indent="0">
              <a:spcBef>
                <a:spcPct val="0"/>
              </a:spcBef>
              <a:spcAft>
                <a:spcPct val="0"/>
              </a:spcAft>
              <a:buAutoNum type="arabicPeriod"/>
            </a:pPr>
            <a:r>
              <a:rPr sz="2400" b="0">
                <a:latin typeface="Mali" panose="00000500000000000000" charset="0"/>
                <a:ea typeface="Google Sans"/>
                <a:cs typeface="Mali" panose="00000500000000000000" charset="0"/>
              </a:rPr>
              <a:t>The Variable you wanted to fill.</a:t>
            </a:r>
            <a:endParaRPr sz="2400" b="0">
              <a:latin typeface="Mali" panose="00000500000000000000" charset="0"/>
              <a:ea typeface="Google Sans"/>
              <a:cs typeface="Mali" panose="00000500000000000000" charset="0"/>
            </a:endParaRPr>
          </a:p>
          <a:p>
            <a:pPr marL="0" indent="0">
              <a:spcBef>
                <a:spcPct val="0"/>
              </a:spcBef>
              <a:spcAft>
                <a:spcPct val="0"/>
              </a:spcAft>
              <a:buAutoNum type="arabicPeriod"/>
            </a:pPr>
            <a:r>
              <a:rPr sz="2400" b="0">
                <a:latin typeface="Mali" panose="00000500000000000000" charset="0"/>
                <a:ea typeface="Google Sans"/>
                <a:cs typeface="Mali" panose="00000500000000000000" charset="0"/>
              </a:rPr>
              <a:t>The Invisible Pointer on the input buffer stream.</a:t>
            </a:r>
            <a:endParaRPr sz="2400" b="0">
              <a:latin typeface="Mali" panose="00000500000000000000" charset="0"/>
              <a:ea typeface="Google Sans"/>
              <a:cs typeface="Mali" panose="00000500000000000000" charset="0"/>
            </a:endParaRPr>
          </a:p>
          <a:p>
            <a:pPr marL="0" indent="0">
              <a:spcBef>
                <a:spcPct val="0"/>
              </a:spcBef>
              <a:spcAft>
                <a:spcPct val="0"/>
              </a:spcAft>
              <a:buAutoNum type="arabicPeriod"/>
            </a:pPr>
            <a:r>
              <a:rPr sz="2400" b="0">
                <a:latin typeface="Mali" panose="00000500000000000000" charset="0"/>
                <a:ea typeface="Google Sans"/>
                <a:cs typeface="Mali" panose="00000500000000000000" charset="0"/>
              </a:rPr>
              <a:t>The Return Value of the </a:t>
            </a:r>
            <a:r>
              <a:rPr sz="2400" b="0">
                <a:latin typeface="Mali" panose="00000500000000000000" charset="0"/>
                <a:ea typeface="monospace"/>
                <a:cs typeface="Mali" panose="00000500000000000000" charset="0"/>
              </a:rPr>
              <a:t>scanf</a:t>
            </a:r>
            <a:r>
              <a:rPr sz="2400" b="0">
                <a:latin typeface="Mali" panose="00000500000000000000" charset="0"/>
                <a:ea typeface="Google Sans"/>
                <a:cs typeface="Mali" panose="00000500000000000000" charset="0"/>
              </a:rPr>
              <a:t> function.</a:t>
            </a:r>
            <a:endParaRPr sz="2400" b="0">
              <a:latin typeface="Mali" panose="00000500000000000000" charset="0"/>
              <a:ea typeface="Google Sans"/>
              <a:cs typeface="Mali" panose="00000500000000000000" charset="0"/>
            </a:endParaRPr>
          </a:p>
          <a:p>
            <a:pPr marL="0" indent="0">
              <a:spcBef>
                <a:spcPts val="900"/>
              </a:spcBef>
              <a:spcAft>
                <a:spcPts val="1200"/>
              </a:spcAft>
            </a:pPr>
            <a:r>
              <a:rPr sz="2400" b="0">
                <a:latin typeface="Mali" panose="00000500000000000000" charset="0"/>
                <a:ea typeface="Google Sans"/>
                <a:cs typeface="Mali" panose="00000500000000000000" charset="0"/>
              </a:rPr>
              <a:t>Let’s analyze a mismatched scenario step-by-step.</a:t>
            </a:r>
            <a:endParaRPr sz="2400" b="0">
              <a:latin typeface="Mali" panose="00000500000000000000" charset="0"/>
              <a:ea typeface="Google Sans"/>
              <a:cs typeface="Mali" panose="00000500000000000000" charset="0"/>
            </a:endParaRPr>
          </a:p>
        </p:txBody>
      </p:sp>
      <p:sp>
        <p:nvSpPr>
          <p:cNvPr id="7" name="Text Box 6"/>
          <p:cNvSpPr txBox="1"/>
          <p:nvPr/>
        </p:nvSpPr>
        <p:spPr>
          <a:xfrm>
            <a:off x="696595" y="4305300"/>
            <a:ext cx="10799445" cy="2306955"/>
          </a:xfrm>
          <a:prstGeom prst="rect">
            <a:avLst/>
          </a:prstGeom>
          <a:noFill/>
        </p:spPr>
        <p:txBody>
          <a:bodyPr wrap="square" rtlCol="0" anchor="t">
            <a:spAutoFit/>
          </a:bodyPr>
          <a:p>
            <a:r>
              <a:rPr lang="en-US" altLang="en-US" sz="2400"/>
              <a:t>int age = 99; // Initialized to 99</a:t>
            </a:r>
            <a:endParaRPr lang="en-US" altLang="en-US" sz="2400"/>
          </a:p>
          <a:p>
            <a:r>
              <a:rPr lang="en-US" altLang="en-US" sz="2400"/>
              <a:t>int status;</a:t>
            </a:r>
            <a:endParaRPr lang="en-US" altLang="en-US" sz="2400"/>
          </a:p>
          <a:p>
            <a:endParaRPr lang="en-US" altLang="en-US" sz="2400"/>
          </a:p>
          <a:p>
            <a:r>
              <a:rPr lang="en-US" altLang="en-US" sz="2400"/>
              <a:t>printf("Enter your age: ");</a:t>
            </a:r>
            <a:endParaRPr lang="en-US" altLang="en-US" sz="2400"/>
          </a:p>
          <a:p>
            <a:r>
              <a:rPr lang="en-US" altLang="en-US" sz="2400"/>
              <a:t>status = scanf("%d", &amp;age); </a:t>
            </a:r>
            <a:endParaRPr lang="en-US" altLang="en-US" sz="2400"/>
          </a:p>
          <a:p>
            <a:endParaRPr lang="en-US" sz="2400"/>
          </a:p>
        </p:txBody>
      </p:sp>
    </p:spTree>
    <p:custDataLst>
      <p:tags r:id="rId1"/>
    </p:custData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a:t>Try Typing Something</a:t>
            </a:r>
            <a:endParaRPr lang="en-US"/>
          </a:p>
        </p:txBody>
      </p:sp>
      <p:sp>
        <p:nvSpPr>
          <p:cNvPr id="5" name="Text Placeholder 4"/>
          <p:cNvSpPr>
            <a:spLocks noGrp="1"/>
          </p:cNvSpPr>
          <p:nvPr>
            <p:ph type="body" idx="1"/>
          </p:nvPr>
        </p:nvSpPr>
        <p:spPr/>
        <p:txBody>
          <a:bodyPr/>
          <a:p>
            <a:r>
              <a:rPr lang="en-US" altLang="en-US" sz="2400"/>
              <a:t>User types abc and hits Enter</a:t>
            </a:r>
            <a:endParaRPr lang="en-US" altLang="en-US" sz="2400"/>
          </a:p>
          <a:p>
            <a:r>
              <a:rPr lang="en-US" altLang="en-US" sz="2400"/>
              <a:t>The Buffer State: [ 'a' ] [ 'b' ] [ 'c' ] [ '\n' ]</a:t>
            </a:r>
            <a:endParaRPr lang="en-US" altLang="en-US" sz="2400"/>
          </a:p>
          <a:p>
            <a:r>
              <a:rPr lang="en-US" altLang="en-US" sz="2400"/>
              <a:t>The Execution:</a:t>
            </a:r>
            <a:endParaRPr lang="en-US" altLang="en-US" sz="2400"/>
          </a:p>
          <a:p>
            <a:pPr marL="457200" lvl="1" indent="457200">
              <a:buNone/>
            </a:pPr>
            <a:r>
              <a:rPr lang="en-US" altLang="en-US" sz="2400"/>
              <a:t>scanf expects a digit because of %d.It looks at the first character on the conveyor belt: 'a'.'a' cannot be parsed into an integer. </a:t>
            </a:r>
            <a:endParaRPr lang="en-US" altLang="en-US" sz="2400"/>
          </a:p>
          <a:p>
            <a:pPr marL="457200" lvl="1" indent="457200">
              <a:buNone/>
            </a:pPr>
            <a:r>
              <a:rPr lang="en-US" altLang="en-US" sz="2400"/>
              <a:t>This is a Matching Failure.</a:t>
            </a:r>
            <a:endParaRPr lang="en-US" altLang="en-US" sz="2400"/>
          </a:p>
          <a:p>
            <a:pPr marL="457200" lvl="1" indent="457200">
              <a:buNone/>
            </a:pPr>
            <a:r>
              <a:rPr lang="en-US" altLang="en-US" sz="2400"/>
              <a:t>The engine stops immediately and refuses to look at 'b', 'c', or '\n'.</a:t>
            </a:r>
            <a:endParaRPr lang="en-US" altLang="en-US" sz="2400"/>
          </a:p>
        </p:txBody>
      </p:sp>
    </p:spTree>
    <p:custDataLst>
      <p:tags r:id="rId1"/>
    </p:custData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altLang="en-US"/>
              <a:t>The Core Consequence</a:t>
            </a:r>
            <a:endParaRPr lang="en-US" altLang="en-US"/>
          </a:p>
        </p:txBody>
      </p:sp>
      <p:sp>
        <p:nvSpPr>
          <p:cNvPr id="5" name="Text Placeholder 4"/>
          <p:cNvSpPr>
            <a:spLocks noGrp="1"/>
          </p:cNvSpPr>
          <p:nvPr>
            <p:ph type="body" idx="1"/>
          </p:nvPr>
        </p:nvSpPr>
        <p:spPr/>
        <p:txBody>
          <a:bodyPr/>
          <a:p>
            <a:r>
              <a:rPr lang="en-US" altLang="en-US" sz="2400"/>
              <a:t>What happens to age? </a:t>
            </a:r>
            <a:endParaRPr lang="en-US" altLang="en-US" sz="2400"/>
          </a:p>
          <a:p>
            <a:pPr marL="457200" lvl="1" indent="457200">
              <a:buNone/>
            </a:pPr>
            <a:r>
              <a:rPr lang="en-US" altLang="en-US" sz="2400"/>
              <a:t>It remains exactly 99. scanf never reached the point of writing data to it.</a:t>
            </a:r>
            <a:endParaRPr lang="en-US" altLang="en-US" sz="2400"/>
          </a:p>
          <a:p>
            <a:r>
              <a:rPr lang="en-US" altLang="en-US" sz="2400"/>
              <a:t>What happens to the Buffer Pointer? </a:t>
            </a:r>
            <a:endParaRPr lang="en-US" altLang="en-US" sz="2400"/>
          </a:p>
          <a:p>
            <a:pPr marL="457200" lvl="1" indent="457200">
              <a:buNone/>
            </a:pPr>
            <a:r>
              <a:rPr lang="en-US" altLang="en-US" sz="2400"/>
              <a:t>It stays stuck exactly at 'a'. The bad input is not cleared.</a:t>
            </a:r>
            <a:endParaRPr lang="en-US" altLang="en-US" sz="2400"/>
          </a:p>
          <a:p>
            <a:r>
              <a:rPr lang="en-US" altLang="en-US" sz="2400"/>
              <a:t>What is the value of status? </a:t>
            </a:r>
            <a:endParaRPr lang="en-US" altLang="en-US" sz="2400"/>
          </a:p>
          <a:p>
            <a:pPr marL="457200" lvl="1" indent="457200">
              <a:buNone/>
            </a:pPr>
            <a:r>
              <a:rPr lang="en-US" altLang="en-US" sz="2400"/>
              <a:t>It is 0. This indicates that zero variables were successfully assigned.</a:t>
            </a:r>
            <a:endParaRPr lang="en-US" altLang="en-US" sz="2400"/>
          </a:p>
        </p:txBody>
      </p:sp>
    </p:spTree>
    <p:custDataLst>
      <p:tags r:id="rId1"/>
    </p:custData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altLang="en-US"/>
              <a:t>Partial Matching with Multiple Variables</a:t>
            </a:r>
            <a:endParaRPr lang="en-US" altLang="en-US"/>
          </a:p>
        </p:txBody>
      </p:sp>
      <p:sp>
        <p:nvSpPr>
          <p:cNvPr id="5" name="Text Placeholder 4"/>
          <p:cNvSpPr>
            <a:spLocks noGrp="1"/>
          </p:cNvSpPr>
          <p:nvPr>
            <p:ph type="body" idx="1"/>
          </p:nvPr>
        </p:nvSpPr>
        <p:spPr/>
        <p:txBody>
          <a:bodyPr/>
          <a:p>
            <a:r>
              <a:rPr lang="en-US" altLang="en-US"/>
              <a:t>What happens if you ask for three items, and the user messes up halfway through?</a:t>
            </a:r>
            <a:endParaRPr lang="en-US" altLang="en-US"/>
          </a:p>
          <a:p>
            <a:endParaRPr lang="en-US" altLang="en-US"/>
          </a:p>
          <a:p>
            <a:endParaRPr lang="en-US" altLang="en-US"/>
          </a:p>
          <a:p>
            <a:endParaRPr lang="en-US" altLang="en-US"/>
          </a:p>
          <a:p>
            <a:r>
              <a:rPr lang="en-US" altLang="en-US"/>
              <a:t>Your Blueprint: Number, literal slash, number, literal slash, number.</a:t>
            </a:r>
            <a:endParaRPr lang="en-US" altLang="en-US"/>
          </a:p>
          <a:p>
            <a:r>
              <a:rPr lang="en-US" altLang="en-US"/>
              <a:t>User types 24/abc/2026 and hits Enter.</a:t>
            </a:r>
            <a:endParaRPr lang="en-US" altLang="en-US"/>
          </a:p>
        </p:txBody>
      </p:sp>
      <p:sp>
        <p:nvSpPr>
          <p:cNvPr id="6" name="Text Box 5"/>
          <p:cNvSpPr txBox="1"/>
          <p:nvPr/>
        </p:nvSpPr>
        <p:spPr>
          <a:xfrm>
            <a:off x="696595" y="2771775"/>
            <a:ext cx="10799445" cy="1025525"/>
          </a:xfrm>
          <a:prstGeom prst="rect">
            <a:avLst/>
          </a:prstGeom>
          <a:noFill/>
        </p:spPr>
        <p:txBody>
          <a:bodyPr wrap="square" rtlCol="0" anchor="t">
            <a:noAutofit/>
          </a:bodyPr>
          <a:p>
            <a:r>
              <a:rPr lang="en-US" altLang="en-US" sz="2400"/>
              <a:t>int day, month, year;</a:t>
            </a:r>
            <a:endParaRPr lang="en-US" altLang="en-US" sz="2400"/>
          </a:p>
          <a:p>
            <a:r>
              <a:rPr lang="en-US" altLang="en-US" sz="2400"/>
              <a:t>int parsed = scanf("%d/%d/%d", &amp;day, &amp;month, &amp;year);</a:t>
            </a:r>
            <a:endParaRPr lang="en-US" altLang="en-US" sz="2400"/>
          </a:p>
          <a:p>
            <a:endParaRPr lang="en-US" sz="2400"/>
          </a:p>
        </p:txBody>
      </p:sp>
    </p:spTree>
    <p:custDataLst>
      <p:tags r:id="rId1"/>
    </p:custData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altLang="en-US"/>
              <a:t>Processing Engine</a:t>
            </a:r>
            <a:endParaRPr lang="en-US" altLang="en-US"/>
          </a:p>
        </p:txBody>
      </p:sp>
      <p:sp>
        <p:nvSpPr>
          <p:cNvPr id="5" name="Text Placeholder 4"/>
          <p:cNvSpPr>
            <a:spLocks noGrp="1"/>
          </p:cNvSpPr>
          <p:nvPr>
            <p:ph type="body" idx="1"/>
          </p:nvPr>
        </p:nvSpPr>
        <p:spPr/>
        <p:txBody>
          <a:bodyPr/>
          <a:p>
            <a:pPr marL="457200" indent="-457200">
              <a:buAutoNum type="arabicPeriod"/>
            </a:pPr>
            <a:r>
              <a:rPr lang="en-US" altLang="en-US"/>
              <a:t>First %d: Sees '2', then '4'. It matches! day becomes 24.</a:t>
            </a:r>
            <a:endParaRPr lang="en-US" altLang="en-US"/>
          </a:p>
          <a:p>
            <a:pPr marL="457200" indent="-457200">
              <a:buAutoNum type="arabicPeriod"/>
            </a:pPr>
            <a:r>
              <a:rPr lang="en-US" altLang="en-US"/>
              <a:t>Literal '/': Sees '/' on the belt. It matches the literal character in your format string! The slash is consumed and discarded.</a:t>
            </a:r>
            <a:endParaRPr lang="en-US" altLang="en-US"/>
          </a:p>
          <a:p>
            <a:pPr marL="457200" indent="-457200">
              <a:buAutoNum type="arabicPeriod"/>
            </a:pPr>
            <a:r>
              <a:rPr lang="en-US" altLang="en-US"/>
              <a:t>Second %d: Looks at the belt and hits 'a'.</a:t>
            </a:r>
            <a:endParaRPr lang="en-US" altLang="en-US"/>
          </a:p>
          <a:p>
            <a:pPr marL="457200" indent="-457200">
              <a:buAutoNum type="arabicPeriod"/>
            </a:pPr>
            <a:r>
              <a:rPr lang="en-US" altLang="en-US"/>
              <a:t>The Crash: 'a' is not a digit. The entire scanf function stops dead in its tracks.</a:t>
            </a:r>
            <a:endParaRPr lang="en-US" altLang="en-US"/>
          </a:p>
        </p:txBody>
      </p:sp>
    </p:spTree>
    <p:custDataLst>
      <p:tags r:id="rId1"/>
    </p:custData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altLang="en-US"/>
              <a:t>The Final State</a:t>
            </a:r>
            <a:endParaRPr lang="en-US" altLang="en-US"/>
          </a:p>
        </p:txBody>
      </p:sp>
      <p:sp>
        <p:nvSpPr>
          <p:cNvPr id="5" name="Text Placeholder 4"/>
          <p:cNvSpPr>
            <a:spLocks noGrp="1"/>
          </p:cNvSpPr>
          <p:nvPr>
            <p:ph type="body" idx="1"/>
          </p:nvPr>
        </p:nvSpPr>
        <p:spPr/>
        <p:txBody>
          <a:bodyPr/>
          <a:p>
            <a:r>
              <a:rPr lang="en-US" altLang="en-US"/>
              <a:t>day contains 24.</a:t>
            </a:r>
            <a:endParaRPr lang="en-US" altLang="en-US"/>
          </a:p>
          <a:p>
            <a:r>
              <a:rPr lang="en-US" altLang="en-US"/>
              <a:t>month and year contain completely random memory garbage (or whatever they were initialized to).</a:t>
            </a:r>
            <a:endParaRPr lang="en-US" altLang="en-US"/>
          </a:p>
          <a:p>
            <a:r>
              <a:rPr lang="en-US" altLang="en-US"/>
              <a:t>The input buffer pointer is stuck at 'a'. </a:t>
            </a:r>
            <a:endParaRPr lang="en-US" altLang="en-US"/>
          </a:p>
          <a:p>
            <a:r>
              <a:rPr lang="en-US" altLang="en-US"/>
              <a:t>The stream still holds: ['a', 'b', 'c', '/', '2', '0', '2', '6', '\n'].</a:t>
            </a:r>
            <a:endParaRPr lang="en-US" altLang="en-US"/>
          </a:p>
          <a:p>
            <a:r>
              <a:rPr lang="en-US" altLang="en-US"/>
              <a:t>Parsed returns 1. It successfully filled exactly one variable before it crashed.</a:t>
            </a:r>
            <a:endParaRPr lang="en-US" altLang="en-US"/>
          </a:p>
        </p:txBody>
      </p:sp>
    </p:spTree>
    <p:custDataLst>
      <p:tags r:id="rId1"/>
    </p:custData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altLang="en-US"/>
              <a:t> The Literal Matching Rule</a:t>
            </a:r>
            <a:endParaRPr lang="en-US" altLang="en-US"/>
          </a:p>
        </p:txBody>
      </p:sp>
      <p:sp>
        <p:nvSpPr>
          <p:cNvPr id="5" name="Text Placeholder 4"/>
          <p:cNvSpPr>
            <a:spLocks noGrp="1"/>
          </p:cNvSpPr>
          <p:nvPr>
            <p:ph type="body" idx="1"/>
          </p:nvPr>
        </p:nvSpPr>
        <p:spPr/>
        <p:txBody>
          <a:bodyPr/>
          <a:p>
            <a:r>
              <a:rPr lang="en-US" altLang="en-US"/>
              <a:t>Any character in your scanf format string that is not a % specifier is treated as a literal match requirement. The user must type that exact character, or the matching engine fails.</a:t>
            </a:r>
            <a:endParaRPr lang="en-US" altLang="en-US"/>
          </a:p>
        </p:txBody>
      </p:sp>
    </p:spTree>
    <p:custDataLst>
      <p:tags r:id="rId1"/>
    </p:custData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a:t>Example</a:t>
            </a:r>
            <a:endParaRPr lang="en-US"/>
          </a:p>
        </p:txBody>
      </p:sp>
      <p:sp>
        <p:nvSpPr>
          <p:cNvPr id="5" name="Text Placeholder 4"/>
          <p:cNvSpPr>
            <a:spLocks noGrp="1"/>
          </p:cNvSpPr>
          <p:nvPr>
            <p:ph type="body" idx="1"/>
          </p:nvPr>
        </p:nvSpPr>
        <p:spPr>
          <a:xfrm>
            <a:off x="695960" y="1301750"/>
            <a:ext cx="10800080" cy="5380990"/>
          </a:xfrm>
        </p:spPr>
        <p:txBody>
          <a:bodyPr>
            <a:normAutofit lnSpcReduction="10000"/>
          </a:bodyPr>
          <a:p>
            <a:pPr marL="0" indent="457200">
              <a:buNone/>
            </a:pPr>
            <a:r>
              <a:rPr lang="en-US" altLang="en-US"/>
              <a:t>int hours, minutes;</a:t>
            </a:r>
            <a:endParaRPr lang="en-US" altLang="en-US"/>
          </a:p>
          <a:p>
            <a:pPr marL="0" indent="457200">
              <a:buNone/>
            </a:pPr>
            <a:r>
              <a:rPr lang="en-US" altLang="en-US"/>
              <a:t>// Requires a literal colon ':' between the numbers</a:t>
            </a:r>
            <a:endParaRPr lang="en-US" altLang="en-US"/>
          </a:p>
          <a:p>
            <a:pPr marL="0" indent="457200">
              <a:buNone/>
            </a:pPr>
            <a:r>
              <a:rPr lang="en-US" altLang="en-US"/>
              <a:t>scanf("%d:%d", &amp;hours, &amp;minutes); </a:t>
            </a:r>
            <a:endParaRPr lang="en-US" altLang="en-US"/>
          </a:p>
          <a:p>
            <a:pPr marL="342900" indent="-342900"/>
            <a:endParaRPr lang="en-US" altLang="en-US"/>
          </a:p>
          <a:p>
            <a:pPr marL="342900" indent="-342900"/>
            <a:endParaRPr lang="en-US" altLang="en-US"/>
          </a:p>
          <a:p>
            <a:pPr marL="342900" indent="-342900"/>
            <a:r>
              <a:rPr lang="en-US" altLang="en-US"/>
              <a:t>If the user types 10:30, it succeeds. hours = 10, minutes = 30.If the user types 10 30 (with a space), it fails! The first %d grabs 10. </a:t>
            </a:r>
            <a:endParaRPr lang="en-US" altLang="en-US"/>
          </a:p>
          <a:p>
            <a:pPr marL="342900" indent="-342900"/>
            <a:r>
              <a:rPr lang="en-US" altLang="en-US"/>
              <a:t>The engine then looks for a literal colon : but finds a space ' '. It breaks. minutes is never read, and the space and 30 remain stuck in the buffer.</a:t>
            </a:r>
            <a:endParaRPr lang="en-US" altLang="en-US"/>
          </a:p>
        </p:txBody>
      </p:sp>
    </p:spTree>
    <p:custDataLst>
      <p:tags r:id="rId1"/>
    </p:custData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altLang="en-US"/>
              <a:t>What Does scanf Return?</a:t>
            </a:r>
            <a:endParaRPr lang="en-US" altLang="en-US"/>
          </a:p>
        </p:txBody>
      </p:sp>
      <p:sp>
        <p:nvSpPr>
          <p:cNvPr id="5" name="Text Placeholder 4"/>
          <p:cNvSpPr>
            <a:spLocks noGrp="1"/>
          </p:cNvSpPr>
          <p:nvPr>
            <p:ph type="body" idx="1"/>
          </p:nvPr>
        </p:nvSpPr>
        <p:spPr/>
        <p:txBody>
          <a:bodyPr/>
          <a:p>
            <a:r>
              <a:rPr lang="en-US" altLang="en-US"/>
              <a:t>scanf is a function that returns an integer. This integer represents the number of successfully matched and assigned input items.</a:t>
            </a:r>
            <a:endParaRPr lang="en-US" altLang="en-US"/>
          </a:p>
          <a:p>
            <a:r>
              <a:rPr lang="en-US" altLang="en-US"/>
              <a:t>If you write scanf("%d", &amp;age); and the user types 25, scanf returns 1.</a:t>
            </a:r>
            <a:endParaRPr lang="en-US" altLang="en-US"/>
          </a:p>
          <a:p>
            <a:r>
              <a:rPr lang="en-US" altLang="en-US"/>
              <a:t>If you write scanf("%d %d", &amp;a, &amp;b); and the user types 10 20, scanf returns 2.</a:t>
            </a:r>
            <a:endParaRPr lang="en-US" altLang="en-US"/>
          </a:p>
          <a:p>
            <a:r>
              <a:rPr lang="en-US" altLang="en-US"/>
              <a:t>If the user types gibberish (like letters when a number is expected), scanf fails to match the data, leaves the gibberish in the input buffer, and returns 0.</a:t>
            </a:r>
            <a:endParaRPr lang="en-US" altLang="en-US"/>
          </a:p>
          <a:p>
            <a:r>
              <a:rPr lang="en-US" altLang="en-US"/>
              <a:t>If the input stream ends unexpectedly (or the user triggers an end-of-file condition with Ctrl+D or Ctrl+Z), it returns the special constant EOF (usually defined as -1).</a:t>
            </a:r>
            <a:endParaRPr lang="en-US" altLang="en-US"/>
          </a:p>
        </p:txBody>
      </p:sp>
    </p:spTree>
    <p:custDataLst>
      <p:tags r:id="rId1"/>
    </p:custData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a:t>Width Limit</a:t>
            </a:r>
            <a:endParaRPr lang="en-US"/>
          </a:p>
        </p:txBody>
      </p:sp>
      <p:sp>
        <p:nvSpPr>
          <p:cNvPr id="5" name="Text Placeholder 4"/>
          <p:cNvSpPr>
            <a:spLocks noGrp="1"/>
          </p:cNvSpPr>
          <p:nvPr>
            <p:ph type="body" idx="1"/>
          </p:nvPr>
        </p:nvSpPr>
        <p:spPr/>
        <p:txBody>
          <a:bodyPr/>
          <a:p>
            <a:r>
              <a:rPr lang="en-US" altLang="en-US"/>
              <a:t>By default, functions like scanf will read input until they hit a space or a newline character. If a user types 100 characters into a space meant for 10 characters, the extra text overflows into adjacent memory spaces, causing a buffer overflow crash.</a:t>
            </a:r>
            <a:endParaRPr lang="en-US" altLang="en-US"/>
          </a:p>
          <a:p>
            <a:r>
              <a:rPr lang="en-US" altLang="en-US"/>
              <a:t>Inserting a number right after the % symbol sets a hard boundary on how many characters scanf is allowed to read.</a:t>
            </a:r>
            <a:endParaRPr lang="en-US" altLang="en-US"/>
          </a:p>
        </p:txBody>
      </p:sp>
    </p:spTree>
    <p:custDataLst>
      <p:tags r:id="rId1"/>
    </p:custData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a:t>Example</a:t>
            </a:r>
            <a:endParaRPr lang="en-US"/>
          </a:p>
        </p:txBody>
      </p:sp>
      <p:sp>
        <p:nvSpPr>
          <p:cNvPr id="5" name="Text Placeholder 4"/>
          <p:cNvSpPr>
            <a:spLocks noGrp="1"/>
          </p:cNvSpPr>
          <p:nvPr>
            <p:ph type="body" idx="1"/>
          </p:nvPr>
        </p:nvSpPr>
        <p:spPr/>
        <p:txBody>
          <a:bodyPr>
            <a:normAutofit fontScale="90000" lnSpcReduction="20000"/>
          </a:bodyPr>
          <a:p>
            <a:pPr marL="0" indent="457200">
              <a:buNone/>
            </a:pPr>
            <a:r>
              <a:rPr lang="en-US" altLang="en-US"/>
              <a:t>char username[10]; // Can hold 9 characters + the hidden '\0' null terminator</a:t>
            </a:r>
            <a:endParaRPr lang="en-US" altLang="en-US"/>
          </a:p>
          <a:p>
            <a:pPr marL="0" indent="457200">
              <a:buNone/>
            </a:pPr>
            <a:r>
              <a:rPr lang="en-US" altLang="en-US"/>
              <a:t>printf("Enter username: ");</a:t>
            </a:r>
            <a:endParaRPr lang="en-US" altLang="en-US"/>
          </a:p>
          <a:p>
            <a:pPr marL="0" indent="457200">
              <a:buNone/>
            </a:pPr>
            <a:r>
              <a:rPr lang="en-US" altLang="en-US"/>
              <a:t>scanf("%9s", username); </a:t>
            </a:r>
            <a:endParaRPr lang="en-US" altLang="en-US"/>
          </a:p>
          <a:p>
            <a:pPr marL="342900" indent="-342900"/>
            <a:endParaRPr lang="en-US" altLang="en-US"/>
          </a:p>
          <a:p>
            <a:pPr marL="342900" indent="-342900"/>
            <a:r>
              <a:rPr lang="en-US" altLang="en-US"/>
              <a:t>If the user types abcdefghijklm, scanf looks at the limit (9).</a:t>
            </a:r>
            <a:endParaRPr lang="en-US" altLang="en-US"/>
          </a:p>
          <a:p>
            <a:pPr marL="342900" indent="-342900"/>
            <a:r>
              <a:rPr lang="en-US" altLang="en-US"/>
              <a:t>It pulls exactly abcdefghi (9 characters) out of the input buffer.</a:t>
            </a:r>
            <a:endParaRPr lang="en-US" altLang="en-US"/>
          </a:p>
          <a:p>
            <a:pPr marL="342900" indent="-342900"/>
            <a:r>
              <a:rPr lang="en-US" altLang="en-US"/>
              <a:t>It saves them into username and appends the \0 terminator at index 9.</a:t>
            </a:r>
            <a:endParaRPr lang="en-US" altLang="en-US"/>
          </a:p>
          <a:p>
            <a:pPr marL="342900" indent="-342900"/>
            <a:r>
              <a:rPr lang="en-US" altLang="en-US"/>
              <a:t>Crucial Detail: The letters jklm are not deleted. They remain sitting in your computer's input buffer, waiting to be consumed by the next input function in your code.</a:t>
            </a:r>
            <a:endParaRPr lang="en-US" altLang="en-US"/>
          </a:p>
        </p:txBody>
      </p:sp>
    </p:spTree>
    <p:custDataLst>
      <p:tags r:id="rId1"/>
    </p:custData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a:sym typeface="+mn-ea"/>
              </a:rPr>
              <a:t>Width Limit</a:t>
            </a:r>
            <a:endParaRPr lang="en-US"/>
          </a:p>
        </p:txBody>
      </p:sp>
      <p:sp>
        <p:nvSpPr>
          <p:cNvPr id="5" name="Text Placeholder 4"/>
          <p:cNvSpPr>
            <a:spLocks noGrp="1"/>
          </p:cNvSpPr>
          <p:nvPr>
            <p:ph type="body" idx="1"/>
          </p:nvPr>
        </p:nvSpPr>
        <p:spPr>
          <a:xfrm>
            <a:off x="695960" y="1080135"/>
            <a:ext cx="10800080" cy="5095240"/>
          </a:xfrm>
        </p:spPr>
        <p:txBody>
          <a:bodyPr/>
          <a:p>
            <a:r>
              <a:rPr lang="en-US" altLang="en-US"/>
              <a:t>How it works with Numbers (%2d):</a:t>
            </a:r>
            <a:endParaRPr lang="en-US" altLang="en-US"/>
          </a:p>
          <a:p>
            <a:pPr marL="0" indent="457200">
              <a:buNone/>
            </a:pPr>
            <a:r>
              <a:rPr lang="en-US" altLang="en-US"/>
              <a:t>int area_code;</a:t>
            </a:r>
            <a:endParaRPr lang="en-US" altLang="en-US"/>
          </a:p>
          <a:p>
            <a:pPr marL="0" indent="457200">
              <a:buNone/>
            </a:pPr>
            <a:r>
              <a:rPr lang="en-US" altLang="en-US"/>
              <a:t>printf("Enter phone number: ");</a:t>
            </a:r>
            <a:endParaRPr lang="en-US" altLang="en-US"/>
          </a:p>
          <a:p>
            <a:pPr marL="0" indent="457200">
              <a:buNone/>
            </a:pPr>
            <a:r>
              <a:rPr lang="en-US" altLang="en-US"/>
              <a:t>scanf("%2d", &amp;area_code);</a:t>
            </a:r>
            <a:endParaRPr lang="en-US" altLang="en-US"/>
          </a:p>
          <a:p>
            <a:pPr marL="457200" indent="-457200">
              <a:buAutoNum type="arabicPeriod"/>
            </a:pPr>
            <a:r>
              <a:rPr lang="en-US" altLang="en-US"/>
              <a:t>Explanation:</a:t>
            </a:r>
            <a:endParaRPr lang="en-US" altLang="en-US"/>
          </a:p>
          <a:p>
            <a:pPr marL="342900" indent="-342900"/>
            <a:r>
              <a:rPr lang="en-US" altLang="en-US"/>
              <a:t>If the user types 4155551234, scanf pulls only the first 2 digits (41).</a:t>
            </a:r>
            <a:endParaRPr lang="en-US" altLang="en-US"/>
          </a:p>
          <a:p>
            <a:pPr marL="342900" indent="-342900"/>
            <a:r>
              <a:rPr lang="en-US" altLang="en-US"/>
              <a:t>area_code becomes 41.</a:t>
            </a:r>
            <a:endParaRPr lang="en-US" altLang="en-US"/>
          </a:p>
          <a:p>
            <a:pPr marL="342900" indent="-342900"/>
            <a:r>
              <a:rPr lang="en-US" altLang="en-US"/>
              <a:t>The rest of the number (55551234) stays in the buffer.</a:t>
            </a:r>
            <a:endParaRPr lang="en-US" altLang="en-US"/>
          </a:p>
        </p:txBody>
      </p:sp>
    </p:spTree>
    <p:custDataLst>
      <p:tags r:id="rId1"/>
    </p:custData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altLang="en-US"/>
              <a:t>Read Line / Inverted Scanset (%[^\n])</a:t>
            </a:r>
            <a:endParaRPr lang="en-US" altLang="en-US"/>
          </a:p>
        </p:txBody>
      </p:sp>
      <p:sp>
        <p:nvSpPr>
          <p:cNvPr id="5" name="Text Placeholder 4"/>
          <p:cNvSpPr>
            <a:spLocks noGrp="1"/>
          </p:cNvSpPr>
          <p:nvPr>
            <p:ph type="body" idx="1"/>
          </p:nvPr>
        </p:nvSpPr>
        <p:spPr/>
        <p:txBody>
          <a:bodyPr>
            <a:normAutofit lnSpcReduction="10000"/>
          </a:bodyPr>
          <a:p>
            <a:r>
              <a:rPr lang="en-US" altLang="en-US"/>
              <a:t>A standard %s stops reading the moment the user presses the spacebar. To read an entire sentence (including spaces) up until the user hits the Enter key, we use an inverted scanset.</a:t>
            </a:r>
            <a:endParaRPr lang="en-US" altLang="en-US"/>
          </a:p>
          <a:p>
            <a:r>
              <a:rPr lang="en-US" altLang="en-US"/>
              <a:t>Syntax breakdown of %[^\n]:</a:t>
            </a:r>
            <a:endParaRPr lang="en-US" altLang="en-US"/>
          </a:p>
          <a:p>
            <a:r>
              <a:rPr lang="en-US" altLang="en-US"/>
              <a:t>[...] means: "Only read characters that match what is inside these brackets."</a:t>
            </a:r>
            <a:endParaRPr lang="en-US" altLang="en-US"/>
          </a:p>
          <a:p>
            <a:r>
              <a:rPr lang="en-US" altLang="en-US"/>
              <a:t>^ means: "NOT" or "Stop when you hit..."</a:t>
            </a:r>
            <a:endParaRPr lang="en-US" altLang="en-US"/>
          </a:p>
          <a:p>
            <a:r>
              <a:rPr lang="en-US" altLang="en-US"/>
              <a:t>\n means: "The newline / Enter key."</a:t>
            </a:r>
            <a:endParaRPr lang="en-US" altLang="en-US"/>
          </a:p>
          <a:p>
            <a:r>
              <a:rPr lang="en-US" altLang="en-US"/>
              <a:t>Combined together, %[^\n] translates to: "Read every single character you see, including spaces, and stop only when you encounter a newline character."</a:t>
            </a:r>
            <a:endParaRPr lang="en-US" altLang="en-US"/>
          </a:p>
        </p:txBody>
      </p:sp>
    </p:spTree>
    <p:custDataLst>
      <p:tags r:id="rId1"/>
    </p:custData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a:t>Example</a:t>
            </a:r>
            <a:endParaRPr lang="en-US"/>
          </a:p>
        </p:txBody>
      </p:sp>
      <p:sp>
        <p:nvSpPr>
          <p:cNvPr id="5" name="Text Placeholder 4"/>
          <p:cNvSpPr>
            <a:spLocks noGrp="1"/>
          </p:cNvSpPr>
          <p:nvPr>
            <p:ph type="body" idx="1"/>
          </p:nvPr>
        </p:nvSpPr>
        <p:spPr/>
        <p:txBody>
          <a:bodyPr>
            <a:normAutofit lnSpcReduction="10000"/>
          </a:bodyPr>
          <a:p>
            <a:pPr marL="0" indent="457200">
              <a:buNone/>
            </a:pPr>
            <a:r>
              <a:rPr lang="en-US" altLang="en-US"/>
              <a:t>char full_address[100];</a:t>
            </a:r>
            <a:endParaRPr lang="en-US" altLang="en-US"/>
          </a:p>
          <a:p>
            <a:pPr marL="0" indent="457200">
              <a:buNone/>
            </a:pPr>
            <a:r>
              <a:rPr lang="en-US" altLang="en-US"/>
              <a:t>printf("Enter your address: ");</a:t>
            </a:r>
            <a:endParaRPr lang="en-US" altLang="en-US"/>
          </a:p>
          <a:p>
            <a:pPr marL="0" indent="457200">
              <a:buNone/>
            </a:pPr>
            <a:r>
              <a:rPr lang="en-US" altLang="en-US"/>
              <a:t>scanf("%99[^\n]", full_address); // Combines length limit AND line reading!</a:t>
            </a:r>
            <a:endParaRPr lang="en-US" altLang="en-US"/>
          </a:p>
          <a:p>
            <a:pPr marL="0" indent="457200">
              <a:buNone/>
            </a:pPr>
            <a:endParaRPr lang="en-US" altLang="en-US"/>
          </a:p>
          <a:p>
            <a:pPr marL="0" indent="457200">
              <a:buNone/>
            </a:pPr>
            <a:r>
              <a:rPr lang="en-US" altLang="en-US"/>
              <a:t>Explanation:</a:t>
            </a:r>
            <a:endParaRPr lang="en-US" altLang="en-US"/>
          </a:p>
          <a:p>
            <a:pPr marL="342900" indent="-342900"/>
            <a:r>
              <a:rPr lang="en-US" altLang="en-US"/>
              <a:t>If the user types 123 Main St, Apt 4B, scanf reads the entire string into full_address because none of those characters are a newline.</a:t>
            </a:r>
            <a:endParaRPr lang="en-US" altLang="en-US"/>
          </a:p>
          <a:p>
            <a:pPr marL="342900" indent="-342900"/>
            <a:r>
              <a:rPr lang="en-US" altLang="en-US"/>
              <a:t>It stops reading when the user presses Enter.</a:t>
            </a:r>
            <a:endParaRPr lang="en-US" altLang="en-US"/>
          </a:p>
          <a:p>
            <a:pPr marL="342900" indent="-342900"/>
            <a:r>
              <a:rPr lang="en-US" altLang="en-US"/>
              <a:t>Buffer Note: The \n (Enter) character itself is left behind in the buffer.</a:t>
            </a:r>
            <a:endParaRPr lang="en-US" altLang="en-US"/>
          </a:p>
        </p:txBody>
      </p:sp>
    </p:spTree>
    <p:custDataLst>
      <p:tags r:id="rId1"/>
    </p:custData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altLang="en-US"/>
              <a:t>Suppression Modifier (%*d or %*c)</a:t>
            </a:r>
            <a:endParaRPr lang="en-US" altLang="en-US"/>
          </a:p>
        </p:txBody>
      </p:sp>
      <p:sp>
        <p:nvSpPr>
          <p:cNvPr id="5" name="Text Placeholder 4"/>
          <p:cNvSpPr>
            <a:spLocks noGrp="1"/>
          </p:cNvSpPr>
          <p:nvPr>
            <p:ph type="body" idx="1"/>
          </p:nvPr>
        </p:nvSpPr>
        <p:spPr/>
        <p:txBody>
          <a:bodyPr/>
          <a:p>
            <a:r>
              <a:rPr lang="en-US" altLang="en-US"/>
              <a:t>The asterisk (*) is the "read but discard" operator. It tells scanf to look for a specific data type, validate that it exists, pull it out of the buffer, and immediately throw it away without saving it anywhere. Because nothing is being saved, you do not provide a variable or an ampersand (&amp;) for it.</a:t>
            </a:r>
            <a:endParaRPr lang="en-US" altLang="en-US"/>
          </a:p>
        </p:txBody>
      </p:sp>
    </p:spTree>
    <p:custDataLst>
      <p:tags r:id="rId1"/>
    </p:custData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a:t>Example</a:t>
            </a:r>
            <a:endParaRPr lang="en-US"/>
          </a:p>
        </p:txBody>
      </p:sp>
      <p:sp>
        <p:nvSpPr>
          <p:cNvPr id="5" name="Text Placeholder 4"/>
          <p:cNvSpPr>
            <a:spLocks noGrp="1"/>
          </p:cNvSpPr>
          <p:nvPr>
            <p:ph type="body" idx="1"/>
          </p:nvPr>
        </p:nvSpPr>
        <p:spPr/>
        <p:txBody>
          <a:bodyPr>
            <a:normAutofit/>
          </a:bodyPr>
          <a:p>
            <a:pPr marL="0" indent="457200">
              <a:buNone/>
            </a:pPr>
            <a:r>
              <a:rPr lang="en-US" altLang="en-US"/>
              <a:t>int month, day, year;</a:t>
            </a:r>
            <a:endParaRPr lang="en-US" altLang="en-US"/>
          </a:p>
          <a:p>
            <a:pPr marL="0" indent="457200">
              <a:buNone/>
            </a:pPr>
            <a:r>
              <a:rPr lang="en-US" altLang="en-US"/>
              <a:t>printf("Enter date (MM/DD/YYYY): ");</a:t>
            </a:r>
            <a:endParaRPr lang="en-US" altLang="en-US"/>
          </a:p>
          <a:p>
            <a:pPr marL="0" indent="457200">
              <a:buNone/>
            </a:pPr>
            <a:r>
              <a:rPr lang="en-US" altLang="en-US"/>
              <a:t>// The %*c matches the '/' character, pulls it out, and discards it!</a:t>
            </a:r>
            <a:endParaRPr lang="en-US" altLang="en-US"/>
          </a:p>
          <a:p>
            <a:pPr marL="0" indent="457200">
              <a:buNone/>
            </a:pPr>
            <a:r>
              <a:rPr lang="en-US" altLang="en-US"/>
              <a:t>scanf("%d%*c%d%*c%d", &amp;month, &amp;day, &amp;year);</a:t>
            </a:r>
            <a:endParaRPr lang="en-US" altLang="en-US"/>
          </a:p>
          <a:p>
            <a:pPr marL="0" indent="457200">
              <a:buNone/>
            </a:pPr>
            <a:endParaRPr lang="en-US" altLang="en-US"/>
          </a:p>
        </p:txBody>
      </p:sp>
    </p:spTree>
    <p:custDataLst>
      <p:tags r:id="rId1"/>
    </p:custData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altLang="en-US">
                <a:sym typeface="+mn-ea"/>
              </a:rPr>
              <a:t>Explanation</a:t>
            </a:r>
            <a:endParaRPr lang="en-US"/>
          </a:p>
        </p:txBody>
      </p:sp>
      <p:sp>
        <p:nvSpPr>
          <p:cNvPr id="5" name="Text Placeholder 4"/>
          <p:cNvSpPr>
            <a:spLocks noGrp="1"/>
          </p:cNvSpPr>
          <p:nvPr>
            <p:ph type="body" idx="1"/>
          </p:nvPr>
        </p:nvSpPr>
        <p:spPr/>
        <p:txBody>
          <a:bodyPr/>
          <a:p>
            <a:pPr marL="342900" indent="-342900"/>
            <a:r>
              <a:rPr lang="en-US" altLang="en-US">
                <a:sym typeface="+mn-ea"/>
              </a:rPr>
              <a:t>%d reads 10 → saves to month.</a:t>
            </a:r>
            <a:endParaRPr lang="en-US" altLang="en-US"/>
          </a:p>
          <a:p>
            <a:pPr marL="342900" indent="-342900"/>
            <a:r>
              <a:rPr lang="en-US" altLang="en-US">
                <a:sym typeface="+mn-ea"/>
              </a:rPr>
              <a:t>%*c reads / → throws it away.</a:t>
            </a:r>
            <a:endParaRPr lang="en-US" altLang="en-US"/>
          </a:p>
          <a:p>
            <a:pPr marL="342900" indent="-342900"/>
            <a:r>
              <a:rPr lang="en-US" altLang="en-US">
                <a:sym typeface="+mn-ea"/>
              </a:rPr>
              <a:t>%d reads 25 → saves to day.</a:t>
            </a:r>
            <a:endParaRPr lang="en-US" altLang="en-US"/>
          </a:p>
          <a:p>
            <a:pPr marL="342900" indent="-342900"/>
            <a:r>
              <a:rPr lang="en-US" altLang="en-US">
                <a:sym typeface="+mn-ea"/>
              </a:rPr>
              <a:t>%*c reads / → throws it away.</a:t>
            </a:r>
            <a:endParaRPr lang="en-US" altLang="en-US"/>
          </a:p>
          <a:p>
            <a:pPr marL="342900" indent="-342900"/>
            <a:r>
              <a:rPr lang="en-US" altLang="en-US">
                <a:sym typeface="+mn-ea"/>
              </a:rPr>
              <a:t>%d reads 2026 → saves to year.</a:t>
            </a:r>
            <a:endParaRPr lang="en-US" altLang="en-US"/>
          </a:p>
          <a:p>
            <a:pPr marL="342900" indent="-342900"/>
            <a:r>
              <a:rPr lang="en-US" altLang="en-US">
                <a:sym typeface="+mn-ea"/>
              </a:rPr>
              <a:t>This completely keeps your variables clean of formatting characters.</a:t>
            </a:r>
            <a:endParaRPr lang="en-US" altLang="en-US"/>
          </a:p>
          <a:p>
            <a:pPr marL="0" indent="0">
              <a:buNone/>
            </a:pPr>
            <a:endParaRPr lang="en-US"/>
          </a:p>
        </p:txBody>
      </p:sp>
    </p:spTree>
    <p:custDataLst>
      <p:tags r:id="rId1"/>
    </p:custData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altLang="en-US"/>
              <a:t>Validation (if(scanf(...) == 1))</a:t>
            </a:r>
            <a:endParaRPr lang="en-US" altLang="en-US"/>
          </a:p>
        </p:txBody>
      </p:sp>
      <p:sp>
        <p:nvSpPr>
          <p:cNvPr id="5" name="Text Placeholder 4"/>
          <p:cNvSpPr>
            <a:spLocks noGrp="1"/>
          </p:cNvSpPr>
          <p:nvPr>
            <p:ph type="body" idx="1"/>
          </p:nvPr>
        </p:nvSpPr>
        <p:spPr/>
        <p:txBody>
          <a:bodyPr/>
          <a:p>
            <a:r>
              <a:rPr lang="en-US" altLang="en-US"/>
              <a:t>scanf returns an integer representing how many variables it successfully filled. If it returns anything less than the number of variables you asked for, it means the user typed the wrong type of data.</a:t>
            </a:r>
            <a:endParaRPr lang="en-US" altLang="en-US"/>
          </a:p>
        </p:txBody>
      </p:sp>
    </p:spTree>
    <p:custDataLst>
      <p:tags r:id="rId1"/>
    </p:custData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a:t>Example</a:t>
            </a:r>
            <a:endParaRPr lang="en-US"/>
          </a:p>
        </p:txBody>
      </p:sp>
      <p:sp>
        <p:nvSpPr>
          <p:cNvPr id="5" name="Text Placeholder 4"/>
          <p:cNvSpPr>
            <a:spLocks noGrp="1"/>
          </p:cNvSpPr>
          <p:nvPr>
            <p:ph type="body" idx="1"/>
          </p:nvPr>
        </p:nvSpPr>
        <p:spPr/>
        <p:txBody>
          <a:bodyPr/>
          <a:p>
            <a:pPr marL="0" indent="457200">
              <a:buNone/>
            </a:pPr>
            <a:r>
              <a:rPr lang="en-US" altLang="en-US"/>
              <a:t>int items;</a:t>
            </a:r>
            <a:endParaRPr lang="en-US" altLang="en-US"/>
          </a:p>
          <a:p>
            <a:pPr marL="0" indent="457200">
              <a:buNone/>
            </a:pPr>
            <a:r>
              <a:rPr lang="en-US" altLang="en-US"/>
              <a:t>printf("How many items do you want to buy? ");</a:t>
            </a:r>
            <a:endParaRPr lang="en-US" altLang="en-US"/>
          </a:p>
          <a:p>
            <a:pPr marL="0" indent="457200">
              <a:buNone/>
            </a:pPr>
            <a:endParaRPr lang="en-US" altLang="en-US"/>
          </a:p>
          <a:p>
            <a:pPr marL="0" indent="457200">
              <a:buNone/>
            </a:pPr>
            <a:r>
              <a:rPr lang="en-US" altLang="en-US"/>
              <a:t>if (scanf("%d", &amp;items) == 1) {</a:t>
            </a:r>
            <a:endParaRPr lang="en-US" altLang="en-US"/>
          </a:p>
          <a:p>
            <a:pPr marL="0" indent="457200">
              <a:buNone/>
            </a:pPr>
            <a:r>
              <a:rPr lang="en-US" altLang="en-US"/>
              <a:t>    printf("Processing %d items...\n", items);</a:t>
            </a:r>
            <a:endParaRPr lang="en-US" altLang="en-US"/>
          </a:p>
          <a:p>
            <a:pPr marL="0" indent="457200">
              <a:buNone/>
            </a:pPr>
            <a:r>
              <a:rPr lang="en-US" altLang="en-US"/>
              <a:t>} else {</a:t>
            </a:r>
            <a:endParaRPr lang="en-US" altLang="en-US"/>
          </a:p>
          <a:p>
            <a:pPr marL="0" indent="457200">
              <a:buNone/>
            </a:pPr>
            <a:r>
              <a:rPr lang="en-US" altLang="en-US"/>
              <a:t>    printf("Error: You must enter a valid whole number!\n");</a:t>
            </a:r>
            <a:endParaRPr lang="en-US" altLang="en-US"/>
          </a:p>
          <a:p>
            <a:pPr marL="0" indent="457200">
              <a:buNone/>
            </a:pPr>
            <a:r>
              <a:rPr lang="en-US" altLang="en-US"/>
              <a:t>}</a:t>
            </a:r>
            <a:endParaRPr lang="en-US" altLang="en-US"/>
          </a:p>
          <a:p>
            <a:pPr marL="0" indent="457200">
              <a:buNone/>
            </a:pPr>
            <a:endParaRPr lang="en-US" altLang="en-US"/>
          </a:p>
        </p:txBody>
      </p:sp>
    </p:spTree>
    <p:custDataLst>
      <p:tags r:id="rId1"/>
    </p:custData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a:t>Explanation</a:t>
            </a:r>
            <a:endParaRPr lang="en-US"/>
          </a:p>
        </p:txBody>
      </p:sp>
      <p:sp>
        <p:nvSpPr>
          <p:cNvPr id="5" name="Text Placeholder 4"/>
          <p:cNvSpPr>
            <a:spLocks noGrp="1"/>
          </p:cNvSpPr>
          <p:nvPr>
            <p:ph type="body" idx="1"/>
          </p:nvPr>
        </p:nvSpPr>
        <p:spPr/>
        <p:txBody>
          <a:bodyPr/>
          <a:p>
            <a:r>
              <a:rPr lang="en-US" altLang="en-US"/>
              <a:t>If the user types abc, scanf tries to match it to %d. It fails completely.</a:t>
            </a:r>
            <a:endParaRPr lang="en-US" altLang="en-US"/>
          </a:p>
          <a:p>
            <a:r>
              <a:rPr lang="en-US" altLang="en-US"/>
              <a:t>It leaves abc sitting inside the buffer, skips saving anything to items, and returns 0.</a:t>
            </a:r>
            <a:endParaRPr lang="en-US" altLang="en-US"/>
          </a:p>
          <a:p>
            <a:r>
              <a:rPr lang="en-US" altLang="en-US"/>
              <a:t>The if statement catches that 0 != 1, skips the processing code, and safely triggers your error message instead of crashing.</a:t>
            </a:r>
            <a:endParaRPr lang="en-US" altLang="en-US"/>
          </a:p>
        </p:txBody>
      </p:sp>
    </p:spTree>
    <p:custDataLst>
      <p:tags r:id="rId1"/>
    </p:custData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Text Placeholder 4"/>
          <p:cNvSpPr>
            <a:spLocks noGrp="1"/>
          </p:cNvSpPr>
          <p:nvPr>
            <p:ph type="body" idx="1"/>
          </p:nvPr>
        </p:nvSpPr>
        <p:spPr>
          <a:xfrm>
            <a:off x="695960" y="992504"/>
            <a:ext cx="10800000" cy="4873625"/>
          </a:xfrm>
        </p:spPr>
        <p:txBody>
          <a:bodyPr anchor="ctr" anchorCtr="0"/>
          <a:p>
            <a:pPr marL="0" indent="0" algn="ctr">
              <a:buNone/>
            </a:pPr>
            <a:r>
              <a:rPr lang="en-US" sz="8000"/>
              <a:t>THANK YOU</a:t>
            </a:r>
            <a:endParaRPr lang="en-US" sz="8000"/>
          </a:p>
        </p:txBody>
      </p:sp>
    </p:spTree>
    <p:custDataLst>
      <p:tags r:id="rId1"/>
    </p:custDataLst>
  </p:cSld>
  <p:clrMapOvr>
    <a:masterClrMapping/>
  </p:clrMapOvr>
</p:sld>
</file>

<file path=ppt/tags/tag1.xml><?xml version="1.0" encoding="utf-8"?>
<p:tagLst xmlns:p="http://schemas.openxmlformats.org/presentationml/2006/main">
  <p:tag name="KSO_WM_UNIT_TYPE" val="i"/>
  <p:tag name="KSO_WM_UNIT_INDEX" val="1"/>
  <p:tag name="KSO_WM_BEAUTIFY_FLAG" val="#wm#"/>
  <p:tag name="KSO_WM_TAG_VERSION" val="3.0"/>
  <p:tag name="KSO_WM_UNIT_ID" val="_1*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xml><?xml version="1.0" encoding="utf-8"?>
<p:tagLst xmlns:p="http://schemas.openxmlformats.org/presentationml/2006/main">
  <p:tag name="KSO_WM_UNIT_TYPE" val="i"/>
  <p:tag name="KSO_WM_UNIT_INDEX" val="2"/>
  <p:tag name="KSO_WM_BEAUTIFY_FLAG" val="#wm#"/>
  <p:tag name="KSO_WM_TAG_VERSION" val="3.0"/>
  <p:tag name="KSO_WM_UNIT_ID" val="_1*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1*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14"/>
</p:tagLst>
</file>

<file path=ppt/tags/tag4.xml><?xml version="1.0" encoding="utf-8"?>
<p:tagLst xmlns:p="http://schemas.openxmlformats.org/presentationml/2006/main">
  <p:tag name="KSO_WM_UNIT_TYPE" val="b"/>
  <p:tag name="KSO_WM_UNIT_INDEX" val="1"/>
  <p:tag name="KSO_WM_BEAUTIFY_FLAG" val="#wm#"/>
  <p:tag name="KSO_WM_TAG_VERSION" val="3.0"/>
  <p:tag name="KSO_WM_UNIT_PRESET_TEXT" val="单击此处编辑副标题"/>
  <p:tag name="KSO_WM_UNIT_ID" val="_1*b*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26"/>
</p:tagLst>
</file>

<file path=ppt/tags/tag5.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xml><?xml version="1.0" encoding="utf-8"?>
<p:tagLst xmlns:p="http://schemas.openxmlformats.org/presentationml/2006/main">
  <p:tag name="KSO_WM_UNIT_TYPE" val="f"/>
  <p:tag name="KSO_WM_UNIT_SUBTYPE" val="b"/>
  <p:tag name="KSO_WM_UNIT_INDEX" val="1"/>
  <p:tag name="KSO_WM_BEAUTIFY_FLAG" val="#wm#"/>
  <p:tag name="KSO_WM_TAG_VERSION" val="3.0"/>
  <p:tag name="KSO_WM_UNIT_PRESET_TEXT" val="署名"/>
  <p:tag name="KSO_WM_UNIT_ID" val="_1*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VALUE" val="15"/>
</p:tagLst>
</file>

<file path=ppt/tags/tag9.xml><?xml version="1.0" encoding="utf-8"?>
<p:tagLst xmlns:p="http://schemas.openxmlformats.org/presentationml/2006/main">
  <p:tag name="KSO_WM_UNIT_TYPE" val="i"/>
  <p:tag name="KSO_WM_UNIT_INDEX" val="1"/>
  <p:tag name="KSO_WM_BEAUTIFY_FLAG" val="#wm#"/>
  <p:tag name="KSO_WM_TAG_VERSION" val="3.0"/>
  <p:tag name="KSO_WM_UNIT_ID" val="_0*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0.xml><?xml version="1.0" encoding="utf-8"?>
<p:tagLst xmlns:p="http://schemas.openxmlformats.org/presentationml/2006/main">
  <p:tag name="KSO_WM_UNIT_TYPE" val="i"/>
  <p:tag name="KSO_WM_UNIT_INDEX" val="2"/>
  <p:tag name="KSO_WM_BEAUTIFY_FLAG" val="#wm#"/>
  <p:tag name="KSO_WM_TAG_VERSION" val="3.0"/>
  <p:tag name="KSO_WM_UNIT_ID" val="_0*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1.xml><?xml version="1.0" encoding="utf-8"?>
<p:tagLst xmlns:p="http://schemas.openxmlformats.org/presentationml/2006/main">
  <p:tag name="KSO_WM_UNIT_TYPE" val="a"/>
  <p:tag name="KSO_WM_UNIT_INDEX" val="1"/>
  <p:tag name="KSO_WM_BEAUTIFY_FLAG" val="#wm#"/>
  <p:tag name="KSO_WM_TAG_VERSION" val="1.0"/>
  <p:tag name="KSO_WM_UNIT_PRESET_TEXT" val="单击此处编辑母版标题样式"/>
  <p:tag name="KSO_WM_UNIT_ID" val="_0*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30"/>
  <p:tag name="KSO_WM_TEMPLATE_CATEGORY" val="custom"/>
  <p:tag name="KSO_WM_TEMPLATE_INDEX" val="20238145"/>
</p:tagLst>
</file>

<file path=ppt/tags/tag12.xml><?xml version="1.0" encoding="utf-8"?>
<p:tagLst xmlns:p="http://schemas.openxmlformats.org/presentationml/2006/main">
  <p:tag name="KSO_WM_UNIT_TYPE" val="f"/>
  <p:tag name="KSO_WM_UNIT_SUBTYPE" val="a"/>
  <p:tag name="KSO_WM_UNIT_INDEX" val="1"/>
  <p:tag name="KSO_WM_BEAUTIFY_FLAG" val="#wm#"/>
  <p:tag name="KSO_WM_TAG_VERSION" val="1.0"/>
  <p:tag name="KSO_WM_UNIT_PRESET_TEXT" val="单击此处编辑母版文本样式&#10;第二级&#10;第三级&#10;第四级&#10;第五级"/>
  <p:tag name="KSO_WM_UNIT_ID" val="_0*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VALUE" val="350"/>
  <p:tag name="KSO_WM_TEMPLATE_CATEGORY" val="custom"/>
  <p:tag name="KSO_WM_TEMPLATE_INDEX" val="20238145"/>
</p:tagLst>
</file>

<file path=ppt/tags/tag13.xml><?xml version="1.0" encoding="utf-8"?>
<p:tagLst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4.xml><?xml version="1.0" encoding="utf-8"?>
<p:tagLst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5.xml><?xml version="1.0" encoding="utf-8"?>
<p:tagLst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6.xml><?xml version="1.0" encoding="utf-8"?>
<p:tagLst xmlns:p="http://schemas.openxmlformats.org/presentationml/2006/main">
  <p:tag name="KSO_WM_TEMPLATE_THUMBS_INDEX" val="1、9"/>
  <p:tag name="KSO_WM_TEMPLATE_SUBCATEGORY" val="29"/>
  <p:tag name="KSO_WM_TEMPLATE_COLOR_TYPE" val="0"/>
  <p:tag name="KSO_WM_TAG_VERSION" val="3.0"/>
  <p:tag name="KSO_WM_BEAUTIFY_FLAG" val="#wm#"/>
  <p:tag name="KSO_WM_TEMPLATE_INDEX" val="20238145"/>
  <p:tag name="KSO_WM_TEMPLATE_CATEGORY" val="custom"/>
  <p:tag name="KSO_WM_TEMPLATE_MASTER_TYPE" val="0"/>
  <p:tag name="KSO_WM_SPECIAL_SOURCE" val="bdnull"/>
</p:tagLst>
</file>

<file path=ppt/tags/tag17.xml><?xml version="1.0" encoding="utf-8"?>
<p:tagLst xmlns:p="http://schemas.openxmlformats.org/presentationml/2006/main">
  <p:tag name="KSO_WM_UNIT_TYPE" val="a"/>
  <p:tag name="KSO_WM_UNIT_INDEX" val="1"/>
  <p:tag name="KSO_WM_BEAUTIFY_FLAG" val="#wm#"/>
  <p:tag name="KSO_WM_TAG_VERSION" val="3.0"/>
  <p:tag name="KSO_WM_UNIT_ID" val="custom20238145_1*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145"/>
  <p:tag name="KSO_WM_TEMPLATE_CATEGORY" val="custom"/>
  <p:tag name="KSO_WM_UNIT_ISCONTENTSTITLE" val="0"/>
  <p:tag name="KSO_WM_UNIT_VALUE" val="14"/>
  <p:tag name="KSO_WM_UNIT_PRESET_TEXT" val="The title goes here"/>
</p:tagLst>
</file>

<file path=ppt/tags/tag18.xml><?xml version="1.0" encoding="utf-8"?>
<p:tagLst xmlns:p="http://schemas.openxmlformats.org/presentationml/2006/main">
  <p:tag name="KSO_WM_UNIT_TYPE" val="f"/>
  <p:tag name="KSO_WM_UNIT_SUBTYPE" val="b"/>
  <p:tag name="KSO_WM_UNIT_INDEX" val="1"/>
  <p:tag name="KSO_WM_BEAUTIFY_FLAG" val="#wm#"/>
  <p:tag name="KSO_WM_TAG_VERSION" val="3.0"/>
  <p:tag name="KSO_WM_UNIT_ID" val="custom20238145_1*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145"/>
  <p:tag name="KSO_WM_TEMPLATE_CATEGORY" val="custom"/>
  <p:tag name="KSO_WM_UNIT_VALUE" val="15"/>
  <p:tag name="KSO_WM_UNIT_PRESET_TEXT" val="Name"/>
</p:tagLst>
</file>

<file path=ppt/tags/tag19.xml><?xml version="1.0" encoding="utf-8"?>
<p:tagLst xmlns:p="http://schemas.openxmlformats.org/presentationml/2006/main">
  <p:tag name="KSO_WM_TEMPLATE_THUMBS_INDEX" val="1、9"/>
  <p:tag name="KSO_WM_SLIDE_TYPE" val="title"/>
  <p:tag name="KSO_WM_TEMPLATE_SUBCATEGORY" val="29"/>
  <p:tag name="KSO_WM_TEMPLATE_COLOR_TYPE" val="0"/>
  <p:tag name="KSO_WM_TAG_VERSION" val="3.0"/>
  <p:tag name="KSO_WM_SLIDE_SUBTYPE" val="pureTxt"/>
  <p:tag name="KSO_WM_SLIDE_ITEM_CNT" val="0"/>
  <p:tag name="KSO_WM_BEAUTIFY_FLAG" val="#wm#"/>
  <p:tag name="KSO_WM_TEMPLATE_INDEX" val="20238145"/>
  <p:tag name="KSO_WM_TEMPLATE_CATEGORY" val="custom"/>
  <p:tag name="KSO_WM_SLIDE_INDEX" val="1"/>
  <p:tag name="KSO_WM_SLIDE_ID" val="custom20238145_1"/>
  <p:tag name="KSO_WM_TEMPLATE_MASTER_TYPE" val="0"/>
  <p:tag name="KSO_WM_SLIDE_LAYOUT" val="a_b_f"/>
  <p:tag name="KSO_WM_SLIDE_LAYOUT_CNT" val="1_1_1"/>
  <p:tag name="KSO_WM_SPECIAL_SOURCE" val="bdnull"/>
</p:tagLst>
</file>

<file path=ppt/tags/tag20.xml><?xml version="1.0" encoding="utf-8"?>
<p:tagLst xmlns:p="http://schemas.openxmlformats.org/presentationml/2006/main">
  <p:tag name="KSO_WM_BEAUTIFY_FLAG" val="#wm#"/>
  <p:tag name="KSO_WM_TEMPLATE_CATEGORY" val="custom"/>
  <p:tag name="KSO_WM_TEMPLATE_INDEX" val="20238145"/>
</p:tagLst>
</file>

<file path=ppt/tags/tag21.xml><?xml version="1.0" encoding="utf-8"?>
<p:tagLst xmlns:p="http://schemas.openxmlformats.org/presentationml/2006/main">
  <p:tag name="KSO_WM_BEAUTIFY_FLAG" val="#wm#"/>
  <p:tag name="KSO_WM_TEMPLATE_CATEGORY" val="custom"/>
  <p:tag name="KSO_WM_TEMPLATE_INDEX" val="20238145"/>
</p:tagLst>
</file>

<file path=ppt/tags/tag22.xml><?xml version="1.0" encoding="utf-8"?>
<p:tagLst xmlns:p="http://schemas.openxmlformats.org/presentationml/2006/main">
  <p:tag name="KSO_WM_BEAUTIFY_FLAG" val="#wm#"/>
  <p:tag name="KSO_WM_TEMPLATE_CATEGORY" val="custom"/>
  <p:tag name="KSO_WM_TEMPLATE_INDEX" val="20238145"/>
</p:tagLst>
</file>

<file path=ppt/tags/tag23.xml><?xml version="1.0" encoding="utf-8"?>
<p:tagLst xmlns:p="http://schemas.openxmlformats.org/presentationml/2006/main">
  <p:tag name="KSO_WM_BEAUTIFY_FLAG" val="#wm#"/>
  <p:tag name="KSO_WM_TEMPLATE_CATEGORY" val="custom"/>
  <p:tag name="KSO_WM_TEMPLATE_INDEX" val="20238145"/>
</p:tagLst>
</file>

<file path=ppt/tags/tag24.xml><?xml version="1.0" encoding="utf-8"?>
<p:tagLst xmlns:p="http://schemas.openxmlformats.org/presentationml/2006/main">
  <p:tag name="KSO_WM_BEAUTIFY_FLAG" val="#wm#"/>
  <p:tag name="KSO_WM_TEMPLATE_CATEGORY" val="custom"/>
  <p:tag name="KSO_WM_TEMPLATE_INDEX" val="20238145"/>
</p:tagLst>
</file>

<file path=ppt/tags/tag25.xml><?xml version="1.0" encoding="utf-8"?>
<p:tagLst xmlns:p="http://schemas.openxmlformats.org/presentationml/2006/main">
  <p:tag name="KSO_WM_BEAUTIFY_FLAG" val="#wm#"/>
  <p:tag name="KSO_WM_TEMPLATE_CATEGORY" val="custom"/>
  <p:tag name="KSO_WM_TEMPLATE_INDEX" val="20238145"/>
</p:tagLst>
</file>

<file path=ppt/tags/tag26.xml><?xml version="1.0" encoding="utf-8"?>
<p:tagLst xmlns:p="http://schemas.openxmlformats.org/presentationml/2006/main">
  <p:tag name="KSO_WM_BEAUTIFY_FLAG" val="#wm#"/>
  <p:tag name="KSO_WM_TEMPLATE_CATEGORY" val="custom"/>
  <p:tag name="KSO_WM_TEMPLATE_INDEX" val="20238145"/>
</p:tagLst>
</file>

<file path=ppt/tags/tag27.xml><?xml version="1.0" encoding="utf-8"?>
<p:tagLst xmlns:p="http://schemas.openxmlformats.org/presentationml/2006/main">
  <p:tag name="KSO_WM_BEAUTIFY_FLAG" val="#wm#"/>
  <p:tag name="KSO_WM_TEMPLATE_CATEGORY" val="custom"/>
  <p:tag name="KSO_WM_TEMPLATE_INDEX" val="20238145"/>
</p:tagLst>
</file>

<file path=ppt/tags/tag28.xml><?xml version="1.0" encoding="utf-8"?>
<p:tagLst xmlns:p="http://schemas.openxmlformats.org/presentationml/2006/main">
  <p:tag name="KSO_WM_BEAUTIFY_FLAG" val="#wm#"/>
  <p:tag name="KSO_WM_TEMPLATE_CATEGORY" val="custom"/>
  <p:tag name="KSO_WM_TEMPLATE_INDEX" val="20238145"/>
</p:tagLst>
</file>

<file path=ppt/tags/tag29.xml><?xml version="1.0" encoding="utf-8"?>
<p:tagLst xmlns:p="http://schemas.openxmlformats.org/presentationml/2006/main">
  <p:tag name="KSO_WM_BEAUTIFY_FLAG" val="#wm#"/>
  <p:tag name="KSO_WM_TEMPLATE_CATEGORY" val="custom"/>
  <p:tag name="KSO_WM_TEMPLATE_INDEX" val="20238145"/>
</p:tagLst>
</file>

<file path=ppt/tags/tag30.xml><?xml version="1.0" encoding="utf-8"?>
<p:tagLst xmlns:p="http://schemas.openxmlformats.org/presentationml/2006/main">
  <p:tag name="KSO_WM_BEAUTIFY_FLAG" val="#wm#"/>
  <p:tag name="KSO_WM_TEMPLATE_CATEGORY" val="custom"/>
  <p:tag name="KSO_WM_TEMPLATE_INDEX" val="20238145"/>
</p:tagLst>
</file>

<file path=ppt/tags/tag31.xml><?xml version="1.0" encoding="utf-8"?>
<p:tagLst xmlns:p="http://schemas.openxmlformats.org/presentationml/2006/main">
  <p:tag name="KSO_WM_BEAUTIFY_FLAG" val="#wm#"/>
  <p:tag name="KSO_WM_TEMPLATE_CATEGORY" val="custom"/>
  <p:tag name="KSO_WM_TEMPLATE_INDEX" val="20238145"/>
</p:tagLst>
</file>

<file path=ppt/tags/tag32.xml><?xml version="1.0" encoding="utf-8"?>
<p:tagLst xmlns:p="http://schemas.openxmlformats.org/presentationml/2006/main">
  <p:tag name="KSO_WM_BEAUTIFY_FLAG" val="#wm#"/>
  <p:tag name="KSO_WM_TEMPLATE_CATEGORY" val="custom"/>
  <p:tag name="KSO_WM_TEMPLATE_INDEX" val="20238145"/>
</p:tagLst>
</file>

<file path=ppt/tags/tag33.xml><?xml version="1.0" encoding="utf-8"?>
<p:tagLst xmlns:p="http://schemas.openxmlformats.org/presentationml/2006/main">
  <p:tag name="KSO_WM_BEAUTIFY_FLAG" val="#wm#"/>
  <p:tag name="KSO_WM_TEMPLATE_CATEGORY" val="custom"/>
  <p:tag name="KSO_WM_TEMPLATE_INDEX" val="20238145"/>
</p:tagLst>
</file>

<file path=ppt/tags/tag34.xml><?xml version="1.0" encoding="utf-8"?>
<p:tagLst xmlns:p="http://schemas.openxmlformats.org/presentationml/2006/main">
  <p:tag name="KSO_WM_BEAUTIFY_FLAG" val="#wm#"/>
  <p:tag name="KSO_WM_TEMPLATE_CATEGORY" val="custom"/>
  <p:tag name="KSO_WM_TEMPLATE_INDEX" val="20238145"/>
</p:tagLst>
</file>

<file path=ppt/tags/tag35.xml><?xml version="1.0" encoding="utf-8"?>
<p:tagLst xmlns:p="http://schemas.openxmlformats.org/presentationml/2006/main">
  <p:tag name="KSO_WM_BEAUTIFY_FLAG" val="#wm#"/>
  <p:tag name="KSO_WM_TEMPLATE_CATEGORY" val="custom"/>
  <p:tag name="KSO_WM_TEMPLATE_INDEX" val="20238145"/>
</p:tagLst>
</file>

<file path=ppt/tags/tag36.xml><?xml version="1.0" encoding="utf-8"?>
<p:tagLst xmlns:p="http://schemas.openxmlformats.org/presentationml/2006/main">
  <p:tag name="KSO_WM_BEAUTIFY_FLAG" val="#wm#"/>
  <p:tag name="KSO_WM_TEMPLATE_CATEGORY" val="custom"/>
  <p:tag name="KSO_WM_TEMPLATE_INDEX" val="20238145"/>
</p:tagLst>
</file>

<file path=ppt/tags/tag37.xml><?xml version="1.0" encoding="utf-8"?>
<p:tagLst xmlns:p="http://schemas.openxmlformats.org/presentationml/2006/main">
  <p:tag name="KSO_WM_BEAUTIFY_FLAG" val="#wm#"/>
  <p:tag name="KSO_WM_TEMPLATE_CATEGORY" val="custom"/>
  <p:tag name="KSO_WM_TEMPLATE_INDEX" val="20238145"/>
</p:tagLst>
</file>

<file path=ppt/tags/tag38.xml><?xml version="1.0" encoding="utf-8"?>
<p:tagLst xmlns:p="http://schemas.openxmlformats.org/presentationml/2006/main">
  <p:tag name="KSO_WM_BEAUTIFY_FLAG" val="#wm#"/>
  <p:tag name="KSO_WM_TEMPLATE_CATEGORY" val="custom"/>
  <p:tag name="KSO_WM_TEMPLATE_INDEX" val="20238145"/>
</p:tagLst>
</file>

<file path=ppt/tags/tag39.xml><?xml version="1.0" encoding="utf-8"?>
<p:tagLst xmlns:p="http://schemas.openxmlformats.org/presentationml/2006/main">
  <p:tag name="KSO_WM_BEAUTIFY_FLAG" val="#wm#"/>
  <p:tag name="KSO_WM_TEMPLATE_CATEGORY" val="custom"/>
  <p:tag name="KSO_WM_TEMPLATE_INDEX" val="20238145"/>
</p:tagLst>
</file>

<file path=ppt/tags/tag40.xml><?xml version="1.0" encoding="utf-8"?>
<p:tagLst xmlns:p="http://schemas.openxmlformats.org/presentationml/2006/main">
  <p:tag name="KSO_WM_BEAUTIFY_FLAG" val="#wm#"/>
  <p:tag name="KSO_WM_TEMPLATE_CATEGORY" val="custom"/>
  <p:tag name="KSO_WM_TEMPLATE_INDEX" val="20238145"/>
</p:tagLst>
</file>

<file path=ppt/tags/tag41.xml><?xml version="1.0" encoding="utf-8"?>
<p:tagLst xmlns:p="http://schemas.openxmlformats.org/presentationml/2006/main">
  <p:tag name="KSO_WM_BEAUTIFY_FLAG" val="#wm#"/>
  <p:tag name="KSO_WM_TEMPLATE_CATEGORY" val="custom"/>
  <p:tag name="KSO_WM_TEMPLATE_INDEX" val="20238145"/>
</p:tagLst>
</file>

<file path=ppt/tags/tag42.xml><?xml version="1.0" encoding="utf-8"?>
<p:tagLst xmlns:p="http://schemas.openxmlformats.org/presentationml/2006/main">
  <p:tag name="KSO_WM_BEAUTIFY_FLAG" val="#wm#"/>
  <p:tag name="KSO_WM_TEMPLATE_CATEGORY" val="custom"/>
  <p:tag name="KSO_WM_TEMPLATE_INDEX" val="20238145"/>
</p:tagLst>
</file>

<file path=ppt/tags/tag43.xml><?xml version="1.0" encoding="utf-8"?>
<p:tagLst xmlns:p="http://schemas.openxmlformats.org/presentationml/2006/main">
  <p:tag name="KSO_WM_BEAUTIFY_FLAG" val="#wm#"/>
  <p:tag name="KSO_WM_TEMPLATE_CATEGORY" val="custom"/>
  <p:tag name="KSO_WM_TEMPLATE_INDEX" val="20238145"/>
</p:tagLst>
</file>

<file path=ppt/tags/tag44.xml><?xml version="1.0" encoding="utf-8"?>
<p:tagLst xmlns:p="http://schemas.openxmlformats.org/presentationml/2006/main">
  <p:tag name="KSO_WM_BEAUTIFY_FLAG" val="#wm#"/>
  <p:tag name="KSO_WM_TEMPLATE_CATEGORY" val="custom"/>
  <p:tag name="KSO_WM_TEMPLATE_INDEX" val="20238145"/>
</p:tagLst>
</file>

<file path=ppt/tags/tag45.xml><?xml version="1.0" encoding="utf-8"?>
<p:tagLst xmlns:p="http://schemas.openxmlformats.org/presentationml/2006/main">
  <p:tag name="KSO_WM_BEAUTIFY_FLAG" val="#wm#"/>
  <p:tag name="KSO_WM_TEMPLATE_CATEGORY" val="custom"/>
  <p:tag name="KSO_WM_TEMPLATE_INDEX" val="20238145"/>
</p:tagLst>
</file>

<file path=ppt/tags/tag46.xml><?xml version="1.0" encoding="utf-8"?>
<p:tagLst xmlns:p="http://schemas.openxmlformats.org/presentationml/2006/main">
  <p:tag name="KSO_WM_BEAUTIFY_FLAG" val="#wm#"/>
  <p:tag name="KSO_WM_TEMPLATE_CATEGORY" val="custom"/>
  <p:tag name="KSO_WM_TEMPLATE_INDEX" val="20238145"/>
</p:tagLst>
</file>

<file path=ppt/tags/tag47.xml><?xml version="1.0" encoding="utf-8"?>
<p:tagLst xmlns:p="http://schemas.openxmlformats.org/presentationml/2006/main">
  <p:tag name="KSO_WM_BEAUTIFY_FLAG" val="#wm#"/>
  <p:tag name="KSO_WM_TEMPLATE_CATEGORY" val="custom"/>
  <p:tag name="KSO_WM_TEMPLATE_INDEX" val="20238145"/>
</p:tagLst>
</file>

<file path=ppt/tags/tag48.xml><?xml version="1.0" encoding="utf-8"?>
<p:tagLst xmlns:p="http://schemas.openxmlformats.org/presentationml/2006/main">
  <p:tag name="KSO_WM_BEAUTIFY_FLAG" val="#wm#"/>
  <p:tag name="KSO_WM_TEMPLATE_CATEGORY" val="custom"/>
  <p:tag name="KSO_WM_TEMPLATE_INDEX" val="20238145"/>
</p:tagLst>
</file>

<file path=ppt/tags/tag49.xml><?xml version="1.0" encoding="utf-8"?>
<p:tagLst xmlns:p="http://schemas.openxmlformats.org/presentationml/2006/main">
  <p:tag name="KSO_WM_BEAUTIFY_FLAG" val="#wm#"/>
  <p:tag name="KSO_WM_TEMPLATE_CATEGORY" val="custom"/>
  <p:tag name="KSO_WM_TEMPLATE_INDEX" val="20238145"/>
</p:tagLst>
</file>

<file path=ppt/tags/tag50.xml><?xml version="1.0" encoding="utf-8"?>
<p:tagLst xmlns:p="http://schemas.openxmlformats.org/presentationml/2006/main">
  <p:tag name="KSO_WM_BEAUTIFY_FLAG" val="#wm#"/>
  <p:tag name="KSO_WM_TEMPLATE_CATEGORY" val="custom"/>
  <p:tag name="KSO_WM_TEMPLATE_INDEX" val="20238145"/>
</p:tagLst>
</file>

<file path=ppt/tags/tag51.xml><?xml version="1.0" encoding="utf-8"?>
<p:tagLst xmlns:p="http://schemas.openxmlformats.org/presentationml/2006/main">
  <p:tag name="KSO_WM_BEAUTIFY_FLAG" val="#wm#"/>
  <p:tag name="KSO_WM_TEMPLATE_CATEGORY" val="custom"/>
  <p:tag name="KSO_WM_TEMPLATE_INDEX" val="20238145"/>
</p:tagLst>
</file>

<file path=ppt/tags/tag52.xml><?xml version="1.0" encoding="utf-8"?>
<p:tagLst xmlns:p="http://schemas.openxmlformats.org/presentationml/2006/main">
  <p:tag name="KSO_WM_BEAUTIFY_FLAG" val="#wm#"/>
  <p:tag name="KSO_WM_TEMPLATE_CATEGORY" val="custom"/>
  <p:tag name="KSO_WM_TEMPLATE_INDEX" val="20238145"/>
</p:tagLst>
</file>

<file path=ppt/tags/tag53.xml><?xml version="1.0" encoding="utf-8"?>
<p:tagLst xmlns:p="http://schemas.openxmlformats.org/presentationml/2006/main">
  <p:tag name="KSO_WM_BEAUTIFY_FLAG" val="#wm#"/>
  <p:tag name="KSO_WM_TEMPLATE_CATEGORY" val="custom"/>
  <p:tag name="KSO_WM_TEMPLATE_INDEX" val="20238145"/>
</p:tagLst>
</file>

<file path=ppt/tags/tag54.xml><?xml version="1.0" encoding="utf-8"?>
<p:tagLst xmlns:p="http://schemas.openxmlformats.org/presentationml/2006/main">
  <p:tag name="KSO_WM_BEAUTIFY_FLAG" val="#wm#"/>
  <p:tag name="KSO_WM_TEMPLATE_CATEGORY" val="custom"/>
  <p:tag name="KSO_WM_TEMPLATE_INDEX" val="20238145"/>
</p:tagLst>
</file>

<file path=ppt/tags/tag55.xml><?xml version="1.0" encoding="utf-8"?>
<p:tagLst xmlns:p="http://schemas.openxmlformats.org/presentationml/2006/main">
  <p:tag name="KSO_WM_BEAUTIFY_FLAG" val="#wm#"/>
  <p:tag name="KSO_WM_TEMPLATE_CATEGORY" val="custom"/>
  <p:tag name="KSO_WM_TEMPLATE_INDEX" val="20238145"/>
</p:tagLst>
</file>

<file path=ppt/tags/tag56.xml><?xml version="1.0" encoding="utf-8"?>
<p:tagLst xmlns:p="http://schemas.openxmlformats.org/presentationml/2006/main">
  <p:tag name="KSO_WM_BEAUTIFY_FLAG" val="#wm#"/>
  <p:tag name="KSO_WM_TEMPLATE_CATEGORY" val="custom"/>
  <p:tag name="KSO_WM_TEMPLATE_INDEX" val="20238145"/>
</p:tagLst>
</file>

<file path=ppt/tags/tag57.xml><?xml version="1.0" encoding="utf-8"?>
<p:tagLst xmlns:p="http://schemas.openxmlformats.org/presentationml/2006/main">
  <p:tag name="KSO_WM_BEAUTIFY_FLAG" val="#wm#"/>
  <p:tag name="KSO_WM_TEMPLATE_CATEGORY" val="custom"/>
  <p:tag name="KSO_WM_TEMPLATE_INDEX" val="20238145"/>
</p:tagLst>
</file>

<file path=ppt/tags/tag58.xml><?xml version="1.0" encoding="utf-8"?>
<p:tagLst xmlns:p="http://schemas.openxmlformats.org/presentationml/2006/main">
  <p:tag name="KSO_WM_BEAUTIFY_FLAG" val="#wm#"/>
  <p:tag name="KSO_WM_TEMPLATE_CATEGORY" val="custom"/>
  <p:tag name="KSO_WM_TEMPLATE_INDEX" val="20238145"/>
</p:tagLst>
</file>

<file path=ppt/tags/tag59.xml><?xml version="1.0" encoding="utf-8"?>
<p:tagLst xmlns:p="http://schemas.openxmlformats.org/presentationml/2006/main">
  <p:tag name="KSO_WM_BEAUTIFY_FLAG" val="#wm#"/>
  <p:tag name="KSO_WM_TEMPLATE_CATEGORY" val="custom"/>
  <p:tag name="KSO_WM_TEMPLATE_INDEX" val="20238145"/>
</p:tagLst>
</file>

<file path=ppt/theme/theme1.xml><?xml version="1.0" encoding="utf-8"?>
<a:theme xmlns:a="http://schemas.openxmlformats.org/drawingml/2006/main" name="Office Theme">
  <a:themeElements>
    <a:clrScheme name="蓝色3d卡通">
      <a:dk1>
        <a:srgbClr val="000000"/>
      </a:dk1>
      <a:lt1>
        <a:srgbClr val="FFFFFF"/>
      </a:lt1>
      <a:dk2>
        <a:srgbClr val="0F1423"/>
      </a:dk2>
      <a:lt2>
        <a:srgbClr val="B9E0FA"/>
      </a:lt2>
      <a:accent1>
        <a:srgbClr val="49B5E8"/>
      </a:accent1>
      <a:accent2>
        <a:srgbClr val="217DE5"/>
      </a:accent2>
      <a:accent3>
        <a:srgbClr val="56CA95"/>
      </a:accent3>
      <a:accent4>
        <a:srgbClr val="FFAD2B"/>
      </a:accent4>
      <a:accent5>
        <a:srgbClr val="F18870"/>
      </a:accent5>
      <a:accent6>
        <a:srgbClr val="EC5F74"/>
      </a:accent6>
      <a:hlink>
        <a:srgbClr val="0563C1"/>
      </a:hlink>
      <a:folHlink>
        <a:srgbClr val="954D72"/>
      </a:folHlink>
    </a:clrScheme>
    <a:fontScheme name="可爱风组合">
      <a:majorFont>
        <a:latin typeface="Mali SemiBold"/>
        <a:ea typeface="Mali SemiBold"/>
        <a:cs typeface=""/>
      </a:majorFont>
      <a:minorFont>
        <a:latin typeface="Mali"/>
        <a:ea typeface="Mal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13662</Words>
  <Application>WPS Presentation</Application>
  <PresentationFormat>Widescreen</PresentationFormat>
  <Paragraphs>360</Paragraphs>
  <Slides>41</Slides>
  <Notes>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41</vt:i4>
      </vt:variant>
    </vt:vector>
  </HeadingPairs>
  <TitlesOfParts>
    <vt:vector size="54" baseType="lpstr">
      <vt:lpstr>Arial</vt:lpstr>
      <vt:lpstr>SimSun</vt:lpstr>
      <vt:lpstr>Wingdings</vt:lpstr>
      <vt:lpstr>Arial</vt:lpstr>
      <vt:lpstr>Mali</vt:lpstr>
      <vt:lpstr>Google Sans</vt:lpstr>
      <vt:lpstr>Segoe Print</vt:lpstr>
      <vt:lpstr>monospace</vt:lpstr>
      <vt:lpstr>Mali SemiBold</vt:lpstr>
      <vt:lpstr>Microsoft YaHei</vt:lpstr>
      <vt:lpstr>Arial Unicode MS</vt:lpstr>
      <vt:lpstr>Calibri</vt:lpstr>
      <vt:lpstr>Office Theme</vt:lpstr>
      <vt:lpstr>DEEP DIVE INTO SCANF</vt:lpstr>
      <vt:lpstr>Syntax and Usage</vt:lpstr>
      <vt:lpstr>Step-by-Step Architecture of an Input Event</vt:lpstr>
      <vt:lpstr>How scanf Inspects the Belt</vt:lpstr>
      <vt:lpstr>Code Scenario</vt:lpstr>
      <vt:lpstr>The First Scan</vt:lpstr>
      <vt:lpstr>The Processing Engine</vt:lpstr>
      <vt:lpstr>The Stop Condition</vt:lpstr>
      <vt:lpstr>The Fallout (The Next Scan)		</vt:lpstr>
      <vt:lpstr>The Processing Engine</vt:lpstr>
      <vt:lpstr>The Danger: Buffer Pollution &amp; Infinite Loops</vt:lpstr>
      <vt:lpstr>Explanation</vt:lpstr>
      <vt:lpstr>How to Manually Flush the Buffer</vt:lpstr>
      <vt:lpstr>How it works</vt:lpstr>
      <vt:lpstr>Space at the End</vt:lpstr>
      <vt:lpstr>Why It Freezes: The Stream Trace</vt:lpstr>
      <vt:lpstr>Why It Freezes: The Stream Trace</vt:lpstr>
      <vt:lpstr>Spaces in Names</vt:lpstr>
      <vt:lpstr>The Execution</vt:lpstr>
      <vt:lpstr>The Match and Stop Mechanics</vt:lpstr>
      <vt:lpstr>Anatomy of a Matching Failure</vt:lpstr>
      <vt:lpstr>Try Typing Something</vt:lpstr>
      <vt:lpstr>The Core Consequence</vt:lpstr>
      <vt:lpstr>Partial Matching with Multiple Variables</vt:lpstr>
      <vt:lpstr>Processing Engine</vt:lpstr>
      <vt:lpstr>The Final State</vt:lpstr>
      <vt:lpstr> The Literal Matching Rule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SCANF</dc:title>
  <dc:creator/>
  <cp:lastModifiedBy>chatbotislive</cp:lastModifiedBy>
  <cp:revision>6</cp:revision>
  <dcterms:created xsi:type="dcterms:W3CDTF">2026-06-23T19:33:00Z</dcterms:created>
  <dcterms:modified xsi:type="dcterms:W3CDTF">2026-06-26T11:21:07Z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1033-12.1.0.26880</vt:lpwstr>
  </property>
  <property fmtid="{D5CDD505-2E9C-101B-9397-08002B2CF9AE}" pid="3" name="ICV">
    <vt:lpwstr>06612ADAE65649F38DF07903C46FA7FD_12</vt:lpwstr>
  </property>
</Properties>
</file>