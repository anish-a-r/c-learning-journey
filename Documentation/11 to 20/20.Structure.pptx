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744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microsoft.com/office/2007/relationships/hdphoto" Target="../media/hdphoto1.wdp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 userDrawn="1">
            <p:custDataLst>
              <p:tags r:id="rId1"/>
            </p:custDataLst>
          </p:nvPr>
        </p:nvSpPr>
        <p:spPr>
          <a:xfrm>
            <a:off x="5680164" y="0"/>
            <a:ext cx="6511836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55" h="10800">
                <a:moveTo>
                  <a:pt x="0" y="0"/>
                </a:moveTo>
                <a:lnTo>
                  <a:pt x="10255" y="0"/>
                </a:lnTo>
                <a:lnTo>
                  <a:pt x="10255" y="10800"/>
                </a:lnTo>
                <a:lnTo>
                  <a:pt x="7586" y="10800"/>
                </a:lnTo>
                <a:lnTo>
                  <a:pt x="7456" y="10341"/>
                </a:lnTo>
                <a:cubicBezTo>
                  <a:pt x="6188" y="6265"/>
                  <a:pt x="3660" y="2745"/>
                  <a:pt x="327" y="237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25000"/>
                </a:schemeClr>
              </a:gs>
            </a:gsLst>
            <a:lin ang="888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2"/>
            </p:custDataLst>
          </p:nvPr>
        </p:nvSpPr>
        <p:spPr>
          <a:xfrm flipV="1">
            <a:off x="0" y="5487938"/>
            <a:ext cx="1833696" cy="1370062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2" name="任意多边形: 形状 11"/>
          <p:cNvSpPr/>
          <p:nvPr userDrawn="1">
            <p:custDataLst>
              <p:tags r:id="rId3"/>
            </p:custDataLst>
          </p:nvPr>
        </p:nvSpPr>
        <p:spPr>
          <a:xfrm>
            <a:off x="11066604" y="6058012"/>
            <a:ext cx="393558" cy="62008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椭圆 20"/>
          <p:cNvSpPr/>
          <p:nvPr userDrawn="1">
            <p:custDataLst>
              <p:tags r:id="rId4"/>
            </p:custDataLst>
          </p:nvPr>
        </p:nvSpPr>
        <p:spPr>
          <a:xfrm>
            <a:off x="6632998" y="1119128"/>
            <a:ext cx="4670017" cy="4670010"/>
          </a:xfrm>
          <a:prstGeom prst="ellipse">
            <a:avLst/>
          </a:prstGeom>
          <a:noFill/>
          <a:ln w="9525" cap="flat">
            <a:solidFill>
              <a:schemeClr val="accent1">
                <a:lumMod val="20000"/>
                <a:lumOff val="8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 userDrawn="1">
            <p:custDataLst>
              <p:tags r:id="rId5"/>
            </p:custDataLst>
          </p:nvPr>
        </p:nvSpPr>
        <p:spPr>
          <a:xfrm>
            <a:off x="9922658" y="3690963"/>
            <a:ext cx="1476097" cy="1476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椭圆 22"/>
          <p:cNvSpPr/>
          <p:nvPr userDrawn="1">
            <p:custDataLst>
              <p:tags r:id="rId6"/>
            </p:custDataLst>
          </p:nvPr>
        </p:nvSpPr>
        <p:spPr>
          <a:xfrm>
            <a:off x="6934200" y="1420330"/>
            <a:ext cx="4067612" cy="4067606"/>
          </a:xfrm>
          <a:prstGeom prst="ellipse">
            <a:avLst/>
          </a:prstGeom>
          <a:gradFill>
            <a:gsLst>
              <a:gs pos="87000">
                <a:schemeClr val="accent1"/>
              </a:gs>
              <a:gs pos="74000">
                <a:schemeClr val="accent1">
                  <a:lumMod val="60000"/>
                  <a:lumOff val="40000"/>
                </a:schemeClr>
              </a:gs>
              <a:gs pos="21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 w="19050" cap="flat">
            <a:solidFill>
              <a:schemeClr val="bg2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椭圆 24"/>
          <p:cNvSpPr/>
          <p:nvPr userDrawn="1">
            <p:custDataLst>
              <p:tags r:id="rId7"/>
            </p:custDataLst>
          </p:nvPr>
        </p:nvSpPr>
        <p:spPr>
          <a:xfrm>
            <a:off x="7586266" y="5026336"/>
            <a:ext cx="625730" cy="6257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图片 2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5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73603" y="376697"/>
            <a:ext cx="2784978" cy="4943336"/>
          </a:xfrm>
          <a:prstGeom prst="rect">
            <a:avLst/>
          </a:prstGeom>
        </p:spPr>
      </p:pic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10533246" y="1708523"/>
            <a:ext cx="206036" cy="20603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 userDrawn="1">
            <p:custDataLst>
              <p:tags r:id="rId10"/>
            </p:custDataLst>
          </p:nvPr>
        </p:nvSpPr>
        <p:spPr>
          <a:xfrm>
            <a:off x="11219967" y="2129247"/>
            <a:ext cx="442587" cy="442587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838200" y="1208405"/>
            <a:ext cx="5795010" cy="28543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200" b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83819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38198" y="4323540"/>
            <a:ext cx="2880000" cy="576000"/>
          </a:xfrm>
          <a:prstGeom prst="roundRect">
            <a:avLst>
              <a:gd name="adj" fmla="val 50000"/>
            </a:avLst>
          </a:prstGeom>
          <a:gradFill>
            <a:gsLst>
              <a:gs pos="69000">
                <a:schemeClr val="accent1"/>
              </a:gs>
              <a:gs pos="6000">
                <a:schemeClr val="accent2"/>
              </a:gs>
            </a:gsLst>
            <a:lin ang="2700000" scaled="1"/>
          </a:gradFill>
          <a:effectLst>
            <a:outerShdw blurRad="127000" dist="127000" dir="2700000" algn="tl" rotWithShape="0">
              <a:schemeClr val="accent1">
                <a:alpha val="30000"/>
              </a:schemeClr>
            </a:outerShdw>
          </a:effectLst>
        </p:spPr>
        <p:txBody>
          <a:bodyPr wrap="square" rtlCol="0" anchor="ctr" anchorCtr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1" dirty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algn="ctr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13" Type="http://schemas.openxmlformats.org/officeDocument/2006/relationships/tags" Target="../tags/tag10.xml"/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12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5" Type="http://schemas.openxmlformats.org/officeDocument/2006/relationships/tags" Target="../tags/tag2.xml"/><Relationship Id="rId10" Type="http://schemas.openxmlformats.org/officeDocument/2006/relationships/tags" Target="../tags/tag7.xml"/><Relationship Id="rId4" Type="http://schemas.openxmlformats.org/officeDocument/2006/relationships/tags" Target="../tags/tag1.xml"/><Relationship Id="rId9" Type="http://schemas.openxmlformats.org/officeDocument/2006/relationships/tags" Target="../tags/tag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1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105734" y="5219471"/>
            <a:ext cx="2086266" cy="1638529"/>
          </a:xfrm>
          <a:prstGeom prst="rect">
            <a:avLst/>
          </a:prstGeom>
        </p:spPr>
      </p:pic>
      <p:sp>
        <p:nvSpPr>
          <p:cNvPr id="8" name="任意多边形: 形状 7"/>
          <p:cNvSpPr/>
          <p:nvPr userDrawn="1">
            <p:custDataLst>
              <p:tags r:id="rId6"/>
            </p:custDataLst>
          </p:nvPr>
        </p:nvSpPr>
        <p:spPr>
          <a:xfrm>
            <a:off x="1" y="0"/>
            <a:ext cx="1240195" cy="926623"/>
          </a:xfrm>
          <a:custGeom>
            <a:avLst/>
            <a:gdLst>
              <a:gd name="connsiteX0" fmla="*/ 0 w 2471453"/>
              <a:gd name="connsiteY0" fmla="*/ 0 h 1846568"/>
              <a:gd name="connsiteX1" fmla="*/ 2471453 w 2471453"/>
              <a:gd name="connsiteY1" fmla="*/ 0 h 1846568"/>
              <a:gd name="connsiteX2" fmla="*/ 2462477 w 2471453"/>
              <a:gd name="connsiteY2" fmla="*/ 34908 h 1846568"/>
              <a:gd name="connsiteX3" fmla="*/ 0 w 2471453"/>
              <a:gd name="connsiteY3" fmla="*/ 1846568 h 18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453" h="1846568">
                <a:moveTo>
                  <a:pt x="0" y="0"/>
                </a:moveTo>
                <a:lnTo>
                  <a:pt x="2471453" y="0"/>
                </a:lnTo>
                <a:lnTo>
                  <a:pt x="2462477" y="34908"/>
                </a:lnTo>
                <a:cubicBezTo>
                  <a:pt x="2136022" y="1084493"/>
                  <a:pt x="1157008" y="1846568"/>
                  <a:pt x="0" y="1846568"/>
                </a:cubicBezTo>
                <a:close/>
              </a:path>
            </a:pathLst>
          </a:custGeom>
          <a:gradFill flip="none" rotWithShape="1">
            <a:gsLst>
              <a:gs pos="93000">
                <a:schemeClr val="accent1">
                  <a:alpha val="0"/>
                </a:schemeClr>
              </a:gs>
              <a:gs pos="14000">
                <a:schemeClr val="accent1">
                  <a:alpha val="4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 rot="16200000">
            <a:off x="338918" y="865515"/>
            <a:ext cx="290173" cy="45719"/>
          </a:xfrm>
          <a:custGeom>
            <a:avLst/>
            <a:gdLst>
              <a:gd name="connsiteX0" fmla="*/ 362554 w 393558"/>
              <a:gd name="connsiteY0" fmla="*/ 0 h 62008"/>
              <a:gd name="connsiteX1" fmla="*/ 393558 w 393558"/>
              <a:gd name="connsiteY1" fmla="*/ 31004 h 62008"/>
              <a:gd name="connsiteX2" fmla="*/ 362554 w 393558"/>
              <a:gd name="connsiteY2" fmla="*/ 62008 h 62008"/>
              <a:gd name="connsiteX3" fmla="*/ 331550 w 393558"/>
              <a:gd name="connsiteY3" fmla="*/ 31004 h 62008"/>
              <a:gd name="connsiteX4" fmla="*/ 362554 w 393558"/>
              <a:gd name="connsiteY4" fmla="*/ 0 h 62008"/>
              <a:gd name="connsiteX5" fmla="*/ 252037 w 393558"/>
              <a:gd name="connsiteY5" fmla="*/ 0 h 62008"/>
              <a:gd name="connsiteX6" fmla="*/ 283041 w 393558"/>
              <a:gd name="connsiteY6" fmla="*/ 31004 h 62008"/>
              <a:gd name="connsiteX7" fmla="*/ 252037 w 393558"/>
              <a:gd name="connsiteY7" fmla="*/ 62008 h 62008"/>
              <a:gd name="connsiteX8" fmla="*/ 221033 w 393558"/>
              <a:gd name="connsiteY8" fmla="*/ 31004 h 62008"/>
              <a:gd name="connsiteX9" fmla="*/ 252037 w 393558"/>
              <a:gd name="connsiteY9" fmla="*/ 0 h 62008"/>
              <a:gd name="connsiteX10" fmla="*/ 141521 w 393558"/>
              <a:gd name="connsiteY10" fmla="*/ 0 h 62008"/>
              <a:gd name="connsiteX11" fmla="*/ 172525 w 393558"/>
              <a:gd name="connsiteY11" fmla="*/ 31004 h 62008"/>
              <a:gd name="connsiteX12" fmla="*/ 141521 w 393558"/>
              <a:gd name="connsiteY12" fmla="*/ 62008 h 62008"/>
              <a:gd name="connsiteX13" fmla="*/ 110517 w 393558"/>
              <a:gd name="connsiteY13" fmla="*/ 31004 h 62008"/>
              <a:gd name="connsiteX14" fmla="*/ 141521 w 393558"/>
              <a:gd name="connsiteY14" fmla="*/ 0 h 62008"/>
              <a:gd name="connsiteX15" fmla="*/ 31004 w 393558"/>
              <a:gd name="connsiteY15" fmla="*/ 0 h 62008"/>
              <a:gd name="connsiteX16" fmla="*/ 62008 w 393558"/>
              <a:gd name="connsiteY16" fmla="*/ 31004 h 62008"/>
              <a:gd name="connsiteX17" fmla="*/ 31004 w 393558"/>
              <a:gd name="connsiteY17" fmla="*/ 62008 h 62008"/>
              <a:gd name="connsiteX18" fmla="*/ 0 w 393558"/>
              <a:gd name="connsiteY18" fmla="*/ 31004 h 62008"/>
              <a:gd name="connsiteX19" fmla="*/ 31004 w 393558"/>
              <a:gd name="connsiteY19" fmla="*/ 0 h 62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3558" h="62008">
                <a:moveTo>
                  <a:pt x="362554" y="0"/>
                </a:moveTo>
                <a:cubicBezTo>
                  <a:pt x="379677" y="0"/>
                  <a:pt x="393558" y="13881"/>
                  <a:pt x="393558" y="31004"/>
                </a:cubicBezTo>
                <a:cubicBezTo>
                  <a:pt x="393558" y="48127"/>
                  <a:pt x="379677" y="62008"/>
                  <a:pt x="362554" y="62008"/>
                </a:cubicBezTo>
                <a:cubicBezTo>
                  <a:pt x="345431" y="62008"/>
                  <a:pt x="331550" y="48127"/>
                  <a:pt x="331550" y="31004"/>
                </a:cubicBezTo>
                <a:cubicBezTo>
                  <a:pt x="331550" y="13881"/>
                  <a:pt x="345431" y="0"/>
                  <a:pt x="362554" y="0"/>
                </a:cubicBezTo>
                <a:close/>
                <a:moveTo>
                  <a:pt x="252037" y="0"/>
                </a:moveTo>
                <a:cubicBezTo>
                  <a:pt x="269160" y="0"/>
                  <a:pt x="283041" y="13881"/>
                  <a:pt x="283041" y="31004"/>
                </a:cubicBezTo>
                <a:cubicBezTo>
                  <a:pt x="283041" y="48127"/>
                  <a:pt x="269160" y="62008"/>
                  <a:pt x="252037" y="62008"/>
                </a:cubicBezTo>
                <a:cubicBezTo>
                  <a:pt x="234914" y="62008"/>
                  <a:pt x="221033" y="48127"/>
                  <a:pt x="221033" y="31004"/>
                </a:cubicBezTo>
                <a:cubicBezTo>
                  <a:pt x="221033" y="13881"/>
                  <a:pt x="234914" y="0"/>
                  <a:pt x="252037" y="0"/>
                </a:cubicBezTo>
                <a:close/>
                <a:moveTo>
                  <a:pt x="141521" y="0"/>
                </a:moveTo>
                <a:cubicBezTo>
                  <a:pt x="158644" y="0"/>
                  <a:pt x="172525" y="13881"/>
                  <a:pt x="172525" y="31004"/>
                </a:cubicBezTo>
                <a:cubicBezTo>
                  <a:pt x="172525" y="48127"/>
                  <a:pt x="158644" y="62008"/>
                  <a:pt x="141521" y="62008"/>
                </a:cubicBezTo>
                <a:cubicBezTo>
                  <a:pt x="124398" y="62008"/>
                  <a:pt x="110517" y="48127"/>
                  <a:pt x="110517" y="31004"/>
                </a:cubicBezTo>
                <a:cubicBezTo>
                  <a:pt x="110517" y="13881"/>
                  <a:pt x="124398" y="0"/>
                  <a:pt x="141521" y="0"/>
                </a:cubicBezTo>
                <a:close/>
                <a:moveTo>
                  <a:pt x="31004" y="0"/>
                </a:moveTo>
                <a:cubicBezTo>
                  <a:pt x="48127" y="0"/>
                  <a:pt x="62008" y="13881"/>
                  <a:pt x="62008" y="31004"/>
                </a:cubicBezTo>
                <a:cubicBezTo>
                  <a:pt x="62008" y="48127"/>
                  <a:pt x="48127" y="62008"/>
                  <a:pt x="31004" y="62008"/>
                </a:cubicBezTo>
                <a:cubicBezTo>
                  <a:pt x="13881" y="62008"/>
                  <a:pt x="0" y="48127"/>
                  <a:pt x="0" y="31004"/>
                </a:cubicBezTo>
                <a:cubicBezTo>
                  <a:pt x="0" y="13881"/>
                  <a:pt x="13881" y="0"/>
                  <a:pt x="310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STRUCTURES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C programming, a structure (defined using the struct keyword) is a user-defined data type that groups related variables of different data types into a single cohesive block of memory. Unlike arrays which require all elements to be identical in type, structures allow you to build custom records.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 Definition &amp; Syntax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 altLang="en-US"/>
              <a:t>To create a structure, use the struct keyword followed by an optional template tag name and the member variables wrapped inside curly braces. You must always terminate a structure definition with a semicolon.</a:t>
            </a:r>
          </a:p>
          <a:p>
            <a:endParaRPr lang="en-US" altLang="en-US"/>
          </a:p>
          <a:p>
            <a:r>
              <a:rPr lang="en-US" altLang="en-US"/>
              <a:t>Example:</a:t>
            </a:r>
          </a:p>
          <a:p>
            <a:pPr marL="0" indent="457200">
              <a:buNone/>
            </a:pPr>
            <a:r>
              <a:rPr lang="en-US" altLang="en-US"/>
              <a:t>struct Student {</a:t>
            </a:r>
          </a:p>
          <a:p>
            <a:pPr marL="0" indent="457200">
              <a:buNone/>
            </a:pPr>
            <a:r>
              <a:rPr lang="en-US" altLang="en-US"/>
              <a:t>    char name[50];</a:t>
            </a:r>
          </a:p>
          <a:p>
            <a:pPr marL="0" indent="457200">
              <a:buNone/>
            </a:pPr>
            <a:r>
              <a:rPr lang="en-US" altLang="en-US"/>
              <a:t>    int rollNumber;</a:t>
            </a:r>
          </a:p>
          <a:p>
            <a:pPr marL="0" indent="457200">
              <a:buNone/>
            </a:pPr>
            <a:r>
              <a:rPr lang="en-US" altLang="en-US"/>
              <a:t>    float gpa;</a:t>
            </a:r>
          </a:p>
          <a:p>
            <a:pPr marL="0" indent="457200">
              <a:buNone/>
            </a:pPr>
            <a:r>
              <a:rPr lang="en-US" altLang="en-US"/>
              <a:t>}; // Semicolon is mandatory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Declaring and Initializing Variables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Once the template is defined, you can declare structure variables and allocate memory for them. This can be done sequentially or via designated initializers.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10000"/>
          </a:bodyPr>
          <a:lstStyle/>
          <a:p>
            <a:pPr marL="0" indent="457200">
              <a:buNone/>
            </a:pPr>
            <a:r>
              <a:rPr lang="en-US" altLang="en-US"/>
              <a:t>#include &lt;stdio.h&gt;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// Method 1: Sequential Initialization (order matters)</a:t>
            </a:r>
          </a:p>
          <a:p>
            <a:pPr marL="0" indent="457200">
              <a:buNone/>
            </a:pPr>
            <a:r>
              <a:rPr lang="en-US" altLang="en-US"/>
              <a:t>    struct Student student1 = {"Alice Smith", 101, 3.8};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Method 2: Designated Initialization (C99 standard, any order)</a:t>
            </a:r>
          </a:p>
          <a:p>
            <a:pPr marL="0" indent="457200">
              <a:buNone/>
            </a:pPr>
            <a:r>
              <a:rPr lang="en-US" altLang="en-US"/>
              <a:t>    struct Student student2 = {.rollNumber = 102, .gpa = 3.9, .name = "Bob Jones"};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Accessing Structure Members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the dot operator (.) to access or modify individual members of a standard structure variable.</a:t>
            </a:r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457200">
              <a:buNone/>
            </a:pPr>
            <a:r>
              <a:rPr lang="en-US" altLang="en-US"/>
              <a:t>// Reading values</a:t>
            </a:r>
          </a:p>
          <a:p>
            <a:pPr marL="0" indent="457200">
              <a:buNone/>
            </a:pPr>
            <a:r>
              <a:rPr lang="en-US" altLang="en-US"/>
              <a:t>printf("Name: %s\n", student1.name);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// Modifying values</a:t>
            </a:r>
          </a:p>
          <a:p>
            <a:pPr marL="0" indent="457200">
              <a:buNone/>
            </a:pPr>
            <a:r>
              <a:rPr lang="en-US" altLang="en-US"/>
              <a:t>student1.gpa = 3.9;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Pointers to Structures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When working with a pointer to a structure, you must use the arrow operator  (-&gt;) instead of the dot operator to access its members. This automatically dereferences the pointer.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457200">
              <a:buNone/>
            </a:pPr>
            <a:r>
              <a:rPr lang="en-US" altLang="en-US"/>
              <a:t>struct Student student1 = {101, "Alice", 3.8};</a:t>
            </a:r>
          </a:p>
          <a:p>
            <a:pPr marL="0" indent="457200">
              <a:buNone/>
            </a:pPr>
            <a:r>
              <a:rPr lang="en-US" altLang="en-US"/>
              <a:t>struct Student *ptr = &amp;student1; // Pointer to the structure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// Accessing members using the arrow operator</a:t>
            </a:r>
          </a:p>
          <a:p>
            <a:pPr marL="0" indent="457200">
              <a:buNone/>
            </a:pPr>
            <a:r>
              <a:rPr lang="en-US" altLang="en-US"/>
              <a:t>printf("ID: %d\n", ptr-&gt;id);     // Equivalent to (*ptr).id</a:t>
            </a:r>
          </a:p>
          <a:p>
            <a:pPr marL="0" indent="457200">
              <a:buNone/>
            </a:pPr>
            <a:r>
              <a:rPr lang="en-US" altLang="en-US"/>
              <a:t>ptr-&gt;gpa = 3.95;                 // Modifying values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Simplifying Syntax with typedef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Writing struct Student every time you want to declare a variable can make your code lengthy. You can use the typedef keyword to create a shorter nickname (alias) for your structure.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lstStyle/>
          <a:p>
            <a:pPr marL="0" indent="457200">
              <a:buNone/>
            </a:pPr>
            <a:r>
              <a:rPr lang="en-US" altLang="en-US"/>
              <a:t>typedef struct {</a:t>
            </a:r>
          </a:p>
          <a:p>
            <a:pPr marL="0" indent="457200">
              <a:buNone/>
            </a:pPr>
            <a:r>
              <a:rPr lang="en-US" altLang="en-US"/>
              <a:t>    int x;</a:t>
            </a:r>
          </a:p>
          <a:p>
            <a:pPr marL="0" indent="457200">
              <a:buNone/>
            </a:pPr>
            <a:r>
              <a:rPr lang="en-US" altLang="en-US"/>
              <a:t>    int y;</a:t>
            </a:r>
          </a:p>
          <a:p>
            <a:pPr marL="0" indent="457200">
              <a:buNone/>
            </a:pPr>
            <a:r>
              <a:rPr lang="en-US" altLang="en-US"/>
              <a:t>} Point;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Point p1 = {10, 20}; // No need to write 'struct' anymore</a:t>
            </a:r>
          </a:p>
          <a:p>
            <a:pPr marL="0" indent="457200">
              <a:buNone/>
            </a:pPr>
            <a:r>
              <a:rPr lang="en-US" altLang="en-US"/>
              <a:t>    printf("X: %d, Y: %d", p1.x, p1.y);</a:t>
            </a:r>
          </a:p>
          <a:p>
            <a:pPr marL="0" indent="457200">
              <a:buNone/>
            </a:pPr>
            <a:r>
              <a:rPr lang="en-US" altLang="en-US"/>
              <a:t>    return 0;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 Padding and Memory Alignment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total size of a structure is often larger than the sum of its individual members. This happens because the CPU reads memory in word blocks (e.g., 4 or 8 bytes). To optimize speed, the compiler inserts invisible empty bytes called padding to align data types with memory boundaries.</a:t>
            </a:r>
          </a:p>
          <a:p>
            <a:r>
              <a:rPr lang="en-US" altLang="en-US"/>
              <a:t>Rule of Thumb: Order your structure members from largest data type to smallest to minimize padding and save memory.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5519310" cy="4873625"/>
          </a:xfrm>
        </p:spPr>
        <p:txBody>
          <a:bodyPr>
            <a:noAutofit/>
          </a:bodyPr>
          <a:lstStyle/>
          <a:p>
            <a:pPr marL="0" indent="457200">
              <a:buNone/>
            </a:pPr>
            <a:r>
              <a:rPr lang="en-US" altLang="en-US" sz="2000" dirty="0"/>
              <a:t>struct Example1 {</a:t>
            </a:r>
          </a:p>
          <a:p>
            <a:pPr marL="0" indent="457200">
              <a:buNone/>
            </a:pPr>
            <a:r>
              <a:rPr lang="en-US" altLang="en-US" sz="2000" dirty="0"/>
              <a:t>    char a;    // 1 byte</a:t>
            </a:r>
          </a:p>
          <a:p>
            <a:pPr marL="0" indent="457200">
              <a:buNone/>
            </a:pPr>
            <a:r>
              <a:rPr lang="en-US" altLang="en-US" sz="2000" dirty="0"/>
              <a:t>               // 3 bytes of padding inserted here</a:t>
            </a:r>
          </a:p>
          <a:p>
            <a:pPr marL="0" indent="457200">
              <a:buNone/>
            </a:pPr>
            <a:r>
              <a:rPr lang="en-US" altLang="en-US" sz="2000" dirty="0"/>
              <a:t>    int b;     // 4 bytes</a:t>
            </a:r>
          </a:p>
          <a:p>
            <a:pPr marL="0" indent="457200">
              <a:buNone/>
            </a:pPr>
            <a:r>
              <a:rPr lang="en-US" altLang="en-US" sz="2000" dirty="0"/>
              <a:t>    char c;    // 1 byte</a:t>
            </a:r>
          </a:p>
          <a:p>
            <a:pPr marL="0" indent="457200">
              <a:buNone/>
            </a:pPr>
            <a:r>
              <a:rPr lang="en-US" altLang="en-US" sz="2000" dirty="0"/>
              <a:t>               // 3 bytes of padding inserted here</a:t>
            </a:r>
          </a:p>
          <a:p>
            <a:pPr marL="0" indent="457200">
              <a:buNone/>
            </a:pPr>
            <a:r>
              <a:rPr lang="en-US" altLang="en-US" sz="2000" dirty="0"/>
              <a:t>}; // Total size: 12 bytes (instead of 6!)</a:t>
            </a:r>
          </a:p>
          <a:p>
            <a:pPr marL="0" indent="457200">
              <a:buNone/>
            </a:pPr>
            <a:endParaRPr lang="en-US" altLang="en-US" sz="2000" dirty="0"/>
          </a:p>
          <a:p>
            <a:pPr marL="0" indent="457200">
              <a:buNone/>
            </a:pPr>
            <a:endParaRPr lang="en-US" altLang="en-US" sz="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5E96C3-BC6B-4949-8044-76DB081ADC31}"/>
              </a:ext>
            </a:extLst>
          </p:cNvPr>
          <p:cNvSpPr/>
          <p:nvPr/>
        </p:nvSpPr>
        <p:spPr>
          <a:xfrm>
            <a:off x="6215270" y="904241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7200"/>
            <a:r>
              <a:rPr lang="en-US" altLang="en-US" sz="2000" dirty="0"/>
              <a:t>struct Example2 {</a:t>
            </a:r>
          </a:p>
          <a:p>
            <a:pPr indent="457200"/>
            <a:r>
              <a:rPr lang="en-US" altLang="en-US" sz="2000" dirty="0"/>
              <a:t>    int b;     // 4 bytes</a:t>
            </a:r>
          </a:p>
          <a:p>
            <a:pPr indent="457200"/>
            <a:r>
              <a:rPr lang="en-US" altLang="en-US" sz="2000" dirty="0"/>
              <a:t>    char a;    // 1 byte</a:t>
            </a:r>
          </a:p>
          <a:p>
            <a:pPr indent="457200"/>
            <a:r>
              <a:rPr lang="en-US" altLang="en-US" sz="2000" dirty="0"/>
              <a:t>    char c;    // 1 byte</a:t>
            </a:r>
          </a:p>
          <a:p>
            <a:pPr indent="457200"/>
            <a:r>
              <a:rPr lang="en-US" altLang="en-US" sz="2000" dirty="0"/>
              <a:t>               // 2 bytes of padding inserted here</a:t>
            </a:r>
          </a:p>
          <a:p>
            <a:pPr indent="457200"/>
            <a:r>
              <a:rPr lang="en-US" altLang="en-US" sz="2000" dirty="0"/>
              <a:t>}; // Total size: 8 bytes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6AA420-0CF9-4987-9EFC-C3B0F5FF97D1}"/>
              </a:ext>
            </a:extLst>
          </p:cNvPr>
          <p:cNvCxnSpPr>
            <a:cxnSpLocks/>
          </p:cNvCxnSpPr>
          <p:nvPr/>
        </p:nvCxnSpPr>
        <p:spPr>
          <a:xfrm>
            <a:off x="6215270" y="1080134"/>
            <a:ext cx="132521" cy="566522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Structures to Functions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You can pass structures to functions in two ways: </a:t>
            </a:r>
          </a:p>
          <a:p>
            <a:pPr marL="457200" indent="-457200">
              <a:buAutoNum type="arabicPeriod"/>
            </a:pPr>
            <a:r>
              <a:rPr lang="en-US" altLang="en-US"/>
              <a:t>By Value or </a:t>
            </a:r>
          </a:p>
          <a:p>
            <a:pPr marL="457200" indent="-457200">
              <a:buAutoNum type="arabicPeriod"/>
            </a:pPr>
            <a:r>
              <a:rPr lang="en-US" altLang="en-US"/>
              <a:t>By Reference (Pointers).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By Value (Creates a Copy)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When you pass a structure by value, the compiler creates a complete, independent copy of the entire structure on the stack frame of the called function.</a:t>
            </a:r>
          </a:p>
          <a:p>
            <a:r>
              <a:rPr lang="en-US" altLang="en-US"/>
              <a:t>How It Works in Memory</a:t>
            </a:r>
          </a:p>
          <a:p>
            <a:pPr marL="514350" indent="-514350">
              <a:buFont typeface="+mj-lt"/>
              <a:buAutoNum type="romanUcPeriod"/>
            </a:pPr>
            <a:r>
              <a:rPr lang="en-US" altLang="en-US"/>
              <a:t>Imagine your structure holds a large array of data or many fields. If the structure is (128 bytes) in size, passing it by value means C actively copies all (128 bytes) to a new memory location for the function to use.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>
            <a:normAutofit fontScale="57500" lnSpcReduction="10000"/>
          </a:bodyPr>
          <a:lstStyle/>
          <a:p>
            <a:pPr marL="0" indent="457200">
              <a:buNone/>
            </a:pPr>
            <a:r>
              <a:rPr lang="en-US" altLang="en-US"/>
              <a:t>// Function takes a complete copy of the structure</a:t>
            </a:r>
          </a:p>
          <a:p>
            <a:pPr marL="0" indent="457200">
              <a:buNone/>
            </a:pPr>
            <a:r>
              <a:rPr lang="en-US" altLang="en-US"/>
              <a:t>void modifyByValue(Point p) {</a:t>
            </a:r>
          </a:p>
          <a:p>
            <a:pPr marL="0" indent="457200">
              <a:buNone/>
            </a:pPr>
            <a:r>
              <a:rPr lang="en-US" altLang="en-US"/>
              <a:t>    p.x = 99; // Modifying the local copy</a:t>
            </a:r>
          </a:p>
          <a:p>
            <a:pPr marL="0" indent="457200">
              <a:buNone/>
            </a:pPr>
            <a:r>
              <a:rPr lang="en-US" altLang="en-US"/>
              <a:t>    p.y = 100;</a:t>
            </a:r>
          </a:p>
          <a:p>
            <a:pPr marL="0" indent="457200">
              <a:buNone/>
            </a:pPr>
            <a:r>
              <a:rPr lang="en-US" altLang="en-US"/>
              <a:t>    printf("Inside function (Copy): x = %d, y = %d\n", p.x, p.y);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Point original = {10, 20};</a:t>
            </a:r>
          </a:p>
          <a:p>
            <a:pPr marL="0" indent="457200">
              <a:buNone/>
            </a:pPr>
            <a:r>
              <a:rPr lang="en-US" altLang="en-US"/>
              <a:t>    modifyByValue(original);</a:t>
            </a:r>
          </a:p>
          <a:p>
            <a:pPr marL="0" indent="457200">
              <a:buNone/>
            </a:pPr>
            <a:r>
              <a:rPr lang="en-US" altLang="en-US"/>
              <a:t>    // The original structure remains completely untouched</a:t>
            </a:r>
          </a:p>
          <a:p>
            <a:pPr marL="0" indent="457200">
              <a:buNone/>
            </a:pPr>
            <a:r>
              <a:rPr lang="en-US" altLang="en-US"/>
              <a:t>    printf("Inside main (Original): x = %d, y = %d\n", original.x, original.y);</a:t>
            </a:r>
          </a:p>
          <a:p>
            <a:pPr marL="0" indent="457200">
              <a:buNone/>
            </a:pPr>
            <a:r>
              <a:rPr lang="en-US" altLang="en-US"/>
              <a:t>    return 0;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lstStyle/>
          <a:p>
            <a:pPr marL="0" indent="457200">
              <a:buNone/>
            </a:pPr>
            <a:r>
              <a:rPr lang="en-US" altLang="en-US"/>
              <a:t>Inside function (Copy): x = 99, y = 100</a:t>
            </a:r>
          </a:p>
          <a:p>
            <a:pPr marL="0" indent="457200">
              <a:buNone/>
            </a:pPr>
            <a:r>
              <a:rPr lang="en-US" altLang="en-US"/>
              <a:t>Inside main (Original): x = 10, y = 20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Pros And Cons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Pro: Safety. The function cannot accidentally corrupt or modify the original data in your program.</a:t>
            </a:r>
          </a:p>
          <a:p>
            <a:r>
              <a:rPr lang="en-US" altLang="en-US"/>
              <a:t>Con: Performance hit. Copying large structures consumes extra CPU cycles and stack memory.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Passing Structures By Reference (Using Pointers)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Instead of copying the entire structure, you pass the memory address of the original structure. The function receives a pointer (which is only (4 bytes) on a 32-bit system or (8 bytes) on a 64-bit system), regardless of how massive the structure itself is.</a:t>
            </a:r>
          </a:p>
          <a:p>
            <a:r>
              <a:rPr lang="en-US" altLang="en-US"/>
              <a:t>The Arrow Operator (-&gt;)</a:t>
            </a:r>
          </a:p>
          <a:p>
            <a:pPr marL="514350" indent="-514350">
              <a:buFont typeface="+mj-lt"/>
              <a:buAutoNum type="romanUcPeriod"/>
            </a:pPr>
            <a:r>
              <a:rPr lang="en-US" altLang="en-US"/>
              <a:t>Inside the function, you cannot use the standard dot (.) operator directly because you are dealing with an address, not the object. You must use the arrow operator (-&gt;) to dereference the pointer and access the member variables.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7500" lnSpcReduction="10000"/>
          </a:bodyPr>
          <a:lstStyle/>
          <a:p>
            <a:pPr marL="0" indent="457200">
              <a:buNone/>
            </a:pPr>
            <a:r>
              <a:rPr lang="en-US" altLang="en-US"/>
              <a:t>// Function takes the memory address of the structure</a:t>
            </a:r>
          </a:p>
          <a:p>
            <a:pPr marL="0" indent="457200">
              <a:buNone/>
            </a:pPr>
            <a:r>
              <a:rPr lang="en-US" altLang="en-US"/>
              <a:t>void modifyByReference(Point *p) {</a:t>
            </a:r>
          </a:p>
          <a:p>
            <a:pPr marL="0" indent="457200">
              <a:buNone/>
            </a:pPr>
            <a:r>
              <a:rPr lang="en-US" altLang="en-US"/>
              <a:t>    p-&gt;x = 99; // Directly alters the original memory location</a:t>
            </a:r>
          </a:p>
          <a:p>
            <a:pPr marL="0" indent="457200">
              <a:buNone/>
            </a:pPr>
            <a:r>
              <a:rPr lang="en-US" altLang="en-US"/>
              <a:t>    p-&gt;y = 100; 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Point original = {10, 20};</a:t>
            </a:r>
          </a:p>
          <a:p>
            <a:pPr marL="0" indent="457200">
              <a:buNone/>
            </a:pPr>
            <a:r>
              <a:rPr lang="en-US" altLang="en-US"/>
              <a:t>    // Pass the address using the address-of operator (&amp;)</a:t>
            </a:r>
          </a:p>
          <a:p>
            <a:pPr marL="0" indent="457200">
              <a:buNone/>
            </a:pPr>
            <a:r>
              <a:rPr lang="en-US" altLang="en-US"/>
              <a:t>    modifyByReference(&amp;original);</a:t>
            </a:r>
          </a:p>
          <a:p>
            <a:pPr marL="0" indent="457200">
              <a:buNone/>
            </a:pPr>
            <a:r>
              <a:rPr lang="en-US" altLang="en-US"/>
              <a:t>    // The original structure has been changed permanently</a:t>
            </a:r>
          </a:p>
          <a:p>
            <a:pPr marL="0" indent="457200">
              <a:buNone/>
            </a:pPr>
            <a:r>
              <a:rPr lang="en-US" altLang="en-US"/>
              <a:t>    printf("Inside main (Original): x = %d, y = %d\n", original.x, original.y);</a:t>
            </a:r>
          </a:p>
          <a:p>
            <a:pPr marL="0" indent="457200">
              <a:buNone/>
            </a:pPr>
            <a:r>
              <a:rPr lang="en-US" altLang="en-US"/>
              <a:t>    return 0;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/>
              <a:t>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en-US"/>
              <a:t>Inside main (Original): x = 99, y = 100</a:t>
            </a:r>
          </a:p>
          <a:p>
            <a:pPr marL="0" indent="0" algn="ctr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Pros and Cons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Pro: Blazing fast performance. No data is duplicated in memory.</a:t>
            </a:r>
          </a:p>
          <a:p>
            <a:r>
              <a:rPr lang="en-US" altLang="en-US"/>
              <a:t>Con: High risk of accidental modification. The function has full permission to rewrite the original data.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Read-Only Efficiency: Pass by Reference with const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if you want the speed of passing a pointer, but you also want the safety of passing by value? C provides the const keyword to achieve this hybrid approach.</a:t>
            </a:r>
          </a:p>
          <a:p>
            <a:r>
              <a:rPr lang="en-US" altLang="en-US"/>
              <a:t>By marking the pointer parameter as const, you tell the compiler to throw an error if anyone tries to modify the data inside that function.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250"/>
          </a:xfrm>
        </p:spPr>
        <p:txBody>
          <a:bodyPr>
            <a:normAutofit fontScale="97500" lnSpcReduction="10000"/>
          </a:bodyPr>
          <a:lstStyle/>
          <a:p>
            <a:pPr marL="0" indent="457200">
              <a:buNone/>
            </a:pPr>
            <a:r>
              <a:rPr lang="en-US" altLang="en-US"/>
              <a:t>// Fast execution (pointer) + high safety (const)</a:t>
            </a:r>
          </a:p>
          <a:p>
            <a:pPr marL="0" indent="457200">
              <a:buNone/>
            </a:pPr>
            <a:r>
              <a:rPr lang="en-US" altLang="en-US"/>
              <a:t>void printPointSecure(const Point *p) {</a:t>
            </a:r>
          </a:p>
          <a:p>
            <a:pPr marL="0" indent="457200">
              <a:buNone/>
            </a:pPr>
            <a:r>
              <a:rPr lang="en-US" altLang="en-US"/>
              <a:t>    // p-&gt;x = 50; // COMPILER ERROR: Assignment of read-only location</a:t>
            </a:r>
          </a:p>
          <a:p>
            <a:pPr marL="0" indent="457200">
              <a:buNone/>
            </a:pPr>
            <a:r>
              <a:rPr lang="en-US" altLang="en-US"/>
              <a:t>    printf("Point coordinates: (%d, %d)\n", p-&gt;x, p-&gt;y);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Point original = {10, 20};</a:t>
            </a:r>
          </a:p>
          <a:p>
            <a:pPr marL="0" indent="457200">
              <a:buNone/>
            </a:pPr>
            <a:r>
              <a:rPr lang="en-US" altLang="en-US"/>
              <a:t>    printPointSecure(&amp;original);</a:t>
            </a:r>
          </a:p>
          <a:p>
            <a:pPr marL="0" indent="457200">
              <a:buNone/>
            </a:pPr>
            <a:r>
              <a:rPr lang="en-US" altLang="en-US"/>
              <a:t>    return 0;</a:t>
            </a:r>
          </a:p>
          <a:p>
            <a:pPr marL="0" indent="457200">
              <a:buNone/>
            </a:pPr>
            <a:r>
              <a:rPr lang="en-US" altLang="en-US"/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Arrays of Structures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Array of Structures is a collection where every single index holds an entire structure record. This acts like a lightweight, in-memory database table where each row is an object, and each column is a structure member.</a:t>
            </a:r>
          </a:p>
          <a:p>
            <a:r>
              <a:rPr lang="en-US" altLang="en-US"/>
              <a:t>How It Looks in Memory</a:t>
            </a:r>
          </a:p>
          <a:p>
            <a:r>
              <a:rPr lang="en-US" altLang="en-US"/>
              <a:t>If you have an array of 3 Book structures, the compiler allocates a single contiguous block of memory large enough to hold all three books consecutively:[ Book 0 | Book 1 | Book 2 ]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0" y="1301750"/>
            <a:ext cx="5909310" cy="4873625"/>
          </a:xfrm>
        </p:spPr>
        <p:txBody>
          <a:bodyPr>
            <a:normAutofit fontScale="72500" lnSpcReduction="10000"/>
          </a:bodyPr>
          <a:lstStyle/>
          <a:p>
            <a:pPr marL="0" indent="457200">
              <a:buNone/>
            </a:pPr>
            <a:r>
              <a:rPr lang="en-US" altLang="en-US"/>
              <a:t>typedef struct {</a:t>
            </a:r>
          </a:p>
          <a:p>
            <a:pPr marL="0" indent="457200">
              <a:buNone/>
            </a:pPr>
            <a:r>
              <a:rPr lang="en-US" altLang="en-US"/>
              <a:t>    char title[30];</a:t>
            </a:r>
          </a:p>
          <a:p>
            <a:pPr marL="0" indent="457200">
              <a:buNone/>
            </a:pPr>
            <a:r>
              <a:rPr lang="en-US" altLang="en-US"/>
              <a:t>    float price;</a:t>
            </a:r>
          </a:p>
          <a:p>
            <a:pPr marL="0" indent="457200">
              <a:buNone/>
            </a:pPr>
            <a:r>
              <a:rPr lang="en-US" altLang="en-US"/>
              <a:t>} Book;</a:t>
            </a:r>
          </a:p>
          <a:p>
            <a:pPr marL="0" indent="457200">
              <a:buNone/>
            </a:pPr>
            <a:r>
              <a:rPr lang="en-US" altLang="en-US"/>
              <a:t>int main() {</a:t>
            </a:r>
          </a:p>
          <a:p>
            <a:pPr marL="0" indent="457200">
              <a:buNone/>
            </a:pPr>
            <a:r>
              <a:rPr lang="en-US" altLang="en-US"/>
              <a:t>    // Declaring and initializing an array of 3 Book structures</a:t>
            </a:r>
          </a:p>
          <a:p>
            <a:pPr marL="0" indent="457200">
              <a:buNone/>
            </a:pPr>
            <a:r>
              <a:rPr lang="en-US" altLang="en-US"/>
              <a:t>    Book store[3] = {</a:t>
            </a:r>
          </a:p>
          <a:p>
            <a:pPr marL="0" indent="457200">
              <a:buNone/>
            </a:pPr>
            <a:r>
              <a:rPr lang="en-US" altLang="en-US"/>
              <a:t>        {"C Programming", 29.99},</a:t>
            </a:r>
          </a:p>
          <a:p>
            <a:pPr marL="0" indent="457200">
              <a:buNone/>
            </a:pPr>
            <a:r>
              <a:rPr lang="en-US" altLang="en-US"/>
              <a:t>        {"Data Structures", 45.50},</a:t>
            </a:r>
          </a:p>
          <a:p>
            <a:pPr marL="0" indent="457200">
              <a:buNone/>
            </a:pPr>
            <a:r>
              <a:rPr lang="en-US" altLang="en-US"/>
              <a:t>        {"Algorithms", 50.00}</a:t>
            </a:r>
          </a:p>
          <a:p>
            <a:pPr marL="0" indent="457200">
              <a:buNone/>
            </a:pPr>
            <a:r>
              <a:rPr lang="en-US" altLang="en-US"/>
              <a:t>    };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885"/>
          </a:xfrm>
        </p:spPr>
        <p:txBody>
          <a:bodyPr>
            <a:normAutofit fontScale="87500" lnSpcReduction="10000"/>
          </a:bodyPr>
          <a:lstStyle/>
          <a:p>
            <a:pPr marL="0" indent="457200">
              <a:buNone/>
            </a:pPr>
            <a:r>
              <a:rPr lang="en-US" altLang="en-US">
                <a:sym typeface="+mn-ea"/>
              </a:rPr>
              <a:t>    // Accessing elements using an index and the dot operator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for (int i = 0; i &lt; 3; i++) {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    printf("Book %d: %s Costs: $%.2f\n", i + 1, store[i].title, store[i].price);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// Modifying a specific element in the array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store[0].price = 24.99; 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printf("\nUpdated Price of %s: $%.2f\n", store[0].title, store[0].price);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return 0;</a:t>
            </a:r>
            <a:endParaRPr lang="en-US" altLang="en-US"/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ctr" anchorCtr="0"/>
          <a:lstStyle/>
          <a:p>
            <a:pPr marL="0" indent="457200">
              <a:buNone/>
            </a:pPr>
            <a:r>
              <a:rPr lang="en-US" altLang="en-US"/>
              <a:t>Book 1: C Programming Costs: $29.99</a:t>
            </a:r>
          </a:p>
          <a:p>
            <a:pPr marL="0" indent="457200">
              <a:buNone/>
            </a:pPr>
            <a:r>
              <a:rPr lang="en-US" altLang="en-US"/>
              <a:t>Book 2: Data Structures Costs: $45.50</a:t>
            </a:r>
          </a:p>
          <a:p>
            <a:pPr marL="0" indent="457200">
              <a:buNone/>
            </a:pPr>
            <a:r>
              <a:rPr lang="en-US" altLang="en-US"/>
              <a:t>Book 3: Algorithms Costs: $50.00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Updated Price of C Programming: $24.99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Bit Fields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Standard data types like int take up 4 bytes (32 bits), even if you only need to store a simple true/false value (1 bit). </a:t>
            </a:r>
          </a:p>
          <a:p>
            <a:r>
              <a:rPr lang="en-US" altLang="en-US"/>
              <a:t>Bit Fields allow you to explicitly declare exactly how many bits a structure member should use. </a:t>
            </a:r>
          </a:p>
          <a:p>
            <a:r>
              <a:rPr lang="en-US" altLang="en-US"/>
              <a:t>This is highly useful in embedded systems, microcontrollers, or network packet layouts where memory is severely limited.</a:t>
            </a:r>
          </a:p>
          <a:p>
            <a:r>
              <a:rPr lang="en-US" altLang="en-US"/>
              <a:t>Syntax</a:t>
            </a:r>
          </a:p>
          <a:p>
            <a:pPr marL="0" indent="457200">
              <a:buNone/>
            </a:pPr>
            <a:r>
              <a:rPr lang="en-US" altLang="en-US"/>
              <a:t>You specify the bit width by placing a colon (:) followed by the number of bits after the variable name.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10000"/>
          </a:bodyPr>
          <a:lstStyle/>
          <a:p>
            <a:pPr marL="0" indent="457200">
              <a:buNone/>
            </a:pPr>
            <a:r>
              <a:rPr lang="en-US" altLang="en-US"/>
              <a:t>struct StandardStatus {</a:t>
            </a:r>
          </a:p>
          <a:p>
            <a:pPr marL="0" indent="457200">
              <a:buNone/>
            </a:pPr>
            <a:r>
              <a:rPr lang="en-US" altLang="en-US"/>
              <a:t>    unsigned int isConnected;  // Takes 4 bytes (32 bits)</a:t>
            </a:r>
          </a:p>
          <a:p>
            <a:pPr marL="0" indent="457200">
              <a:buNone/>
            </a:pPr>
            <a:r>
              <a:rPr lang="en-US" altLang="en-US"/>
              <a:t>    unsigned int batteryLevel; // Takes 4 bytes (32 bits)</a:t>
            </a:r>
          </a:p>
          <a:p>
            <a:pPr marL="0" indent="457200">
              <a:buNone/>
            </a:pPr>
            <a:r>
              <a:rPr lang="en-US" altLang="en-US"/>
              <a:t>}; // Total size = 8 bytes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// Structure using Bit Fields</a:t>
            </a:r>
          </a:p>
          <a:p>
            <a:pPr marL="0" indent="457200">
              <a:buNone/>
            </a:pPr>
            <a:r>
              <a:rPr lang="en-US" altLang="en-US"/>
              <a:t>struct PackedStatus {</a:t>
            </a:r>
          </a:p>
          <a:p>
            <a:pPr marL="0" indent="457200">
              <a:buNone/>
            </a:pPr>
            <a:r>
              <a:rPr lang="en-US" altLang="en-US"/>
              <a:t>    unsigned int isConnected  : 1; // Uses exactly 1 bit (Values: 0 to 1)</a:t>
            </a:r>
          </a:p>
          <a:p>
            <a:pPr marL="0" indent="457200">
              <a:buNone/>
            </a:pPr>
            <a:r>
              <a:rPr lang="en-US" altLang="en-US"/>
              <a:t>    unsigned int batteryLevel : 7; // Uses exactly 7 bits (Values: 0 to 127)</a:t>
            </a:r>
          </a:p>
          <a:p>
            <a:pPr marL="0" indent="457200">
              <a:buNone/>
            </a:pPr>
            <a:r>
              <a:rPr lang="en-US" altLang="en-US"/>
              <a:t>}; // Total size = 4 bytes (The compiler groups them into a single 32-bit integer block)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Crucial Warning About Bit Fields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If you try to assign a value that is too large for the allocated bits, the value will overflow, wrap around, or corrupt. For example, if you allocate 3 bits         (max value (2^3 - 1 = 7) and try to store the number 8, you will experience data loss: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457200">
              <a:buNone/>
            </a:pPr>
            <a:r>
              <a:rPr lang="en-US" altLang="en-US"/>
              <a:t>struct Test {</a:t>
            </a:r>
          </a:p>
          <a:p>
            <a:pPr marL="0" indent="457200">
              <a:buNone/>
            </a:pPr>
            <a:r>
              <a:rPr lang="en-US" altLang="en-US"/>
              <a:t>    unsigned int code : 3; // Max value is 7</a:t>
            </a:r>
          </a:p>
          <a:p>
            <a:pPr marL="0" indent="457200">
              <a:buNone/>
            </a:pPr>
            <a:r>
              <a:rPr lang="en-US" altLang="en-US"/>
              <a:t>};</a:t>
            </a:r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struct Test t;</a:t>
            </a:r>
          </a:p>
          <a:p>
            <a:pPr marL="0" indent="457200">
              <a:buNone/>
            </a:pPr>
            <a:r>
              <a:rPr lang="en-US" altLang="en-US"/>
              <a:t>t.code = 8; </a:t>
            </a:r>
          </a:p>
          <a:p>
            <a:pPr marL="0" indent="457200">
              <a:buNone/>
            </a:pPr>
            <a:r>
              <a:rPr lang="en-US" altLang="en-US"/>
              <a:t>// ERROR  OVERFLOW: 8 in binary is 1000. 3 bits can only hold 000, so it              //    becomes 0!</a:t>
            </a:r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2504"/>
            <a:ext cx="10800000" cy="4873625"/>
          </a:xfrm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8000"/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1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1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g"/>
  <p:tag name="KSO_WM_UNIT_PRESET_TEXT" val="公司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PRESET_TEXT" val="署名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811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112"/>
  <p:tag name="KSO_WM_SLIDE_LAYOUT" val="a_f"/>
  <p:tag name="KSO_WM_SLIDE_LAYOUT_CNT" val="1_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112_1*a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The title goes her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NUMDGMTITLE" val="0"/>
  <p:tag name="KSO_WM_UNIT_SUBTYPE" val="b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112_1*f*1"/>
  <p:tag name="KSO_WM_TEMPLATE_CATEGORY" val="custom"/>
  <p:tag name="KSO_WM_TEMPLATE_INDEX" val="20238112"/>
  <p:tag name="KSO_WM_UNIT_LAYERLEVEL" val="1"/>
  <p:tag name="KSO_WM_TAG_VERSION" val="3.0"/>
  <p:tag name="KSO_WM_BEAUTIFY_FLAG" val="#wm#"/>
  <p:tag name="KSO_WM_UNIT_PRESET_TEXT" val="Nam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12"/>
</p:tagLst>
</file>

<file path=ppt/theme/theme1.xml><?xml version="1.0" encoding="utf-8"?>
<a:theme xmlns:a="http://schemas.openxmlformats.org/drawingml/2006/main" name="Office Theme">
  <a:themeElements>
    <a:clrScheme name="0313-13">
      <a:dk1>
        <a:srgbClr val="333333"/>
      </a:dk1>
      <a:lt1>
        <a:sysClr val="window" lastClr="FFFFFF"/>
      </a:lt1>
      <a:dk2>
        <a:srgbClr val="1D1D1D"/>
      </a:dk2>
      <a:lt2>
        <a:srgbClr val="F1FAF4"/>
      </a:lt2>
      <a:accent1>
        <a:srgbClr val="80D290"/>
      </a:accent1>
      <a:accent2>
        <a:srgbClr val="9CDC5C"/>
      </a:accent2>
      <a:accent3>
        <a:srgbClr val="F2BA02"/>
      </a:accent3>
      <a:accent4>
        <a:srgbClr val="7FD9EA"/>
      </a:accent4>
      <a:accent5>
        <a:srgbClr val="4CB3D8"/>
      </a:accent5>
      <a:accent6>
        <a:srgbClr val="5672FF"/>
      </a:accent6>
      <a:hlink>
        <a:srgbClr val="0026E5"/>
      </a:hlink>
      <a:folHlink>
        <a:srgbClr val="7E1FAD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 lnSpcReduction="10000"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1962</Words>
  <Application>Microsoft Office PowerPoint</Application>
  <PresentationFormat>Widescreen</PresentationFormat>
  <Paragraphs>199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Charis SIL</vt:lpstr>
      <vt:lpstr>Crimson Text SemiBold</vt:lpstr>
      <vt:lpstr>Office Theme</vt:lpstr>
      <vt:lpstr>STRUCTURES</vt:lpstr>
      <vt:lpstr>Struct</vt:lpstr>
      <vt:lpstr>Structure Definition &amp; Syntax</vt:lpstr>
      <vt:lpstr>Declaring and Initializing Variables</vt:lpstr>
      <vt:lpstr>Example</vt:lpstr>
      <vt:lpstr>Accessing Structure Members</vt:lpstr>
      <vt:lpstr>Example</vt:lpstr>
      <vt:lpstr>Pointers to Structures</vt:lpstr>
      <vt:lpstr>Example</vt:lpstr>
      <vt:lpstr>Simplifying Syntax with typedef</vt:lpstr>
      <vt:lpstr>Example</vt:lpstr>
      <vt:lpstr>Structure Padding and Memory Alignment</vt:lpstr>
      <vt:lpstr>Example</vt:lpstr>
      <vt:lpstr>Passing Structures to Functions</vt:lpstr>
      <vt:lpstr>By Value (Creates a Copy)</vt:lpstr>
      <vt:lpstr>Example</vt:lpstr>
      <vt:lpstr>Output</vt:lpstr>
      <vt:lpstr>Pros And Cons</vt:lpstr>
      <vt:lpstr>Passing Structures By Reference (Using Pointers)</vt:lpstr>
      <vt:lpstr>Example</vt:lpstr>
      <vt:lpstr>Output</vt:lpstr>
      <vt:lpstr>Pros and Cons</vt:lpstr>
      <vt:lpstr>Read-Only Efficiency: Pass by Reference with const</vt:lpstr>
      <vt:lpstr>Example</vt:lpstr>
      <vt:lpstr>Arrays of Structures</vt:lpstr>
      <vt:lpstr>Example</vt:lpstr>
      <vt:lpstr>Example</vt:lpstr>
      <vt:lpstr>Output</vt:lpstr>
      <vt:lpstr>Bit Fields</vt:lpstr>
      <vt:lpstr>Example</vt:lpstr>
      <vt:lpstr>Crucial Warning About Bit Fields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/>
  <cp:lastModifiedBy>hp</cp:lastModifiedBy>
  <cp:revision>2</cp:revision>
  <dcterms:created xsi:type="dcterms:W3CDTF">2026-06-28T11:51:34Z</dcterms:created>
  <dcterms:modified xsi:type="dcterms:W3CDTF">2026-07-18T22:08:30Z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3CFCE81A3A804EFFB810DBDF3B37CA3A_12</vt:lpwstr>
  </property>
</Properties>
</file>