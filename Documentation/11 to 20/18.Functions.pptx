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microsoft.com/office/2007/relationships/hdphoto" Target="../media/image4.wdp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microsoft.com/office/2007/relationships/hdphoto" Target="../media/image2.wdp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image" Target="../media/image5.png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9000">
                <a:schemeClr val="bg2">
                  <a:alpha val="0"/>
                </a:schemeClr>
              </a:gs>
              <a:gs pos="0">
                <a:schemeClr val="bg2">
                  <a:alpha val="99000"/>
                </a:schemeClr>
              </a:gs>
              <a:gs pos="100000">
                <a:schemeClr val="bg2">
                  <a:lumMod val="90000"/>
                  <a:alpha val="27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28000"/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443401"/>
            <a:ext cx="12192000" cy="4407408"/>
          </a:xfrm>
          <a:prstGeom prst="rect">
            <a:avLst/>
          </a:prstGeom>
          <a:effectLst>
            <a:softEdge rad="0"/>
          </a:effectLst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duotone>
              <a:prstClr val="black"/>
              <a:schemeClr val="accent1">
                <a:lumMod val="60000"/>
                <a:lumOff val="4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2067"/>
            <a:ext cx="12192000" cy="4410075"/>
          </a:xfrm>
          <a:prstGeom prst="rect">
            <a:avLst/>
          </a:prstGeom>
        </p:spPr>
      </p:pic>
      <p:sp>
        <p:nvSpPr>
          <p:cNvPr id="23" name="图形 21"/>
          <p:cNvSpPr/>
          <p:nvPr>
            <p:custDataLst>
              <p:tags r:id="rId9"/>
            </p:custDataLst>
          </p:nvPr>
        </p:nvSpPr>
        <p:spPr>
          <a:xfrm>
            <a:off x="2861210" y="3881380"/>
            <a:ext cx="9559390" cy="2840095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8245"/>
            <a:ext cx="12192000" cy="44100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1047750" y="1998900"/>
            <a:ext cx="10096500" cy="1296750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1047750" y="871061"/>
            <a:ext cx="10096500" cy="991949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1047750" y="3437514"/>
            <a:ext cx="10096500" cy="2067935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8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9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20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microsoft.com/office/2007/relationships/hdphoto" Target="../media/image7.wdp"/><Relationship Id="rId5" Type="http://schemas.openxmlformats.org/officeDocument/2006/relationships/image" Target="../media/image6.png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175" y="-635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80000"/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02710" y="-5186"/>
            <a:ext cx="5097893" cy="1190836"/>
          </a:xfrm>
          <a:prstGeom prst="rect">
            <a:avLst/>
          </a:prstGeom>
        </p:spPr>
      </p:pic>
      <p:sp>
        <p:nvSpPr>
          <p:cNvPr id="12" name="图形 21"/>
          <p:cNvSpPr/>
          <p:nvPr userDrawn="1">
            <p:custDataLst>
              <p:tags r:id="rId7"/>
            </p:custDataLst>
          </p:nvPr>
        </p:nvSpPr>
        <p:spPr>
          <a:xfrm flipV="1">
            <a:off x="7798584" y="-171480"/>
            <a:ext cx="3997108" cy="1187541"/>
          </a:xfrm>
          <a:custGeom>
            <a:avLst/>
            <a:gdLst>
              <a:gd name="connsiteX0" fmla="*/ 0 w 9464139"/>
              <a:gd name="connsiteY0" fmla="*/ 3103598 h 3103598"/>
              <a:gd name="connsiteX1" fmla="*/ 3653356 w 9464139"/>
              <a:gd name="connsiteY1" fmla="*/ 136216 h 3103598"/>
              <a:gd name="connsiteX2" fmla="*/ 8901332 w 9464139"/>
              <a:gd name="connsiteY2" fmla="*/ 0 h 3103598"/>
              <a:gd name="connsiteX3" fmla="*/ 9464140 w 9464139"/>
              <a:gd name="connsiteY3" fmla="*/ 2829536 h 3103598"/>
              <a:gd name="connsiteX0-1" fmla="*/ 0 w 7311490"/>
              <a:gd name="connsiteY0-2" fmla="*/ 1770098 h 2834342"/>
              <a:gd name="connsiteX1-3" fmla="*/ 1500706 w 7311490"/>
              <a:gd name="connsiteY1-4" fmla="*/ 136216 h 2834342"/>
              <a:gd name="connsiteX2-5" fmla="*/ 6748682 w 7311490"/>
              <a:gd name="connsiteY2-6" fmla="*/ 0 h 2834342"/>
              <a:gd name="connsiteX3-7" fmla="*/ 7311490 w 7311490"/>
              <a:gd name="connsiteY3-8" fmla="*/ 2829536 h 2834342"/>
              <a:gd name="connsiteX4" fmla="*/ 0 w 7311490"/>
              <a:gd name="connsiteY4" fmla="*/ 1770098 h 2834342"/>
              <a:gd name="connsiteX0-9" fmla="*/ 0 w 9997540"/>
              <a:gd name="connsiteY0-10" fmla="*/ 2874998 h 2874998"/>
              <a:gd name="connsiteX1-11" fmla="*/ 4186756 w 9997540"/>
              <a:gd name="connsiteY1-12" fmla="*/ 136216 h 2874998"/>
              <a:gd name="connsiteX2-13" fmla="*/ 9434732 w 9997540"/>
              <a:gd name="connsiteY2-14" fmla="*/ 0 h 2874998"/>
              <a:gd name="connsiteX3-15" fmla="*/ 9997540 w 9997540"/>
              <a:gd name="connsiteY3-16" fmla="*/ 2829536 h 2874998"/>
              <a:gd name="connsiteX4-17" fmla="*/ 0 w 9997540"/>
              <a:gd name="connsiteY4-18" fmla="*/ 2874998 h 2874998"/>
              <a:gd name="connsiteX0-19" fmla="*/ 0 w 9997540"/>
              <a:gd name="connsiteY0-20" fmla="*/ 2874998 h 2874998"/>
              <a:gd name="connsiteX1-21" fmla="*/ 4186756 w 9997540"/>
              <a:gd name="connsiteY1-22" fmla="*/ 136216 h 2874998"/>
              <a:gd name="connsiteX2-23" fmla="*/ 9434732 w 9997540"/>
              <a:gd name="connsiteY2-24" fmla="*/ 0 h 2874998"/>
              <a:gd name="connsiteX3-25" fmla="*/ 9997540 w 9997540"/>
              <a:gd name="connsiteY3-26" fmla="*/ 2829536 h 2874998"/>
              <a:gd name="connsiteX4-27" fmla="*/ 0 w 9997540"/>
              <a:gd name="connsiteY4-28" fmla="*/ 2874998 h 2874998"/>
              <a:gd name="connsiteX0-29" fmla="*/ 0 w 9787990"/>
              <a:gd name="connsiteY0-30" fmla="*/ 2874998 h 2874998"/>
              <a:gd name="connsiteX1-31" fmla="*/ 4186756 w 9787990"/>
              <a:gd name="connsiteY1-32" fmla="*/ 136216 h 2874998"/>
              <a:gd name="connsiteX2-33" fmla="*/ 9434732 w 9787990"/>
              <a:gd name="connsiteY2-34" fmla="*/ 0 h 2874998"/>
              <a:gd name="connsiteX3-35" fmla="*/ 9787990 w 9787990"/>
              <a:gd name="connsiteY3-36" fmla="*/ 2791436 h 2874998"/>
              <a:gd name="connsiteX4-37" fmla="*/ 0 w 9787990"/>
              <a:gd name="connsiteY4-38" fmla="*/ 2874998 h 2874998"/>
              <a:gd name="connsiteX0-39" fmla="*/ 0 w 9787990"/>
              <a:gd name="connsiteY0-40" fmla="*/ 2738782 h 2738782"/>
              <a:gd name="connsiteX1-41" fmla="*/ 4186756 w 9787990"/>
              <a:gd name="connsiteY1-42" fmla="*/ 0 h 2738782"/>
              <a:gd name="connsiteX2-43" fmla="*/ 9301382 w 9787990"/>
              <a:gd name="connsiteY2-44" fmla="*/ 35234 h 2738782"/>
              <a:gd name="connsiteX3-45" fmla="*/ 9787990 w 9787990"/>
              <a:gd name="connsiteY3-46" fmla="*/ 2655220 h 2738782"/>
              <a:gd name="connsiteX4-47" fmla="*/ 0 w 9787990"/>
              <a:gd name="connsiteY4-48" fmla="*/ 2738782 h 2738782"/>
              <a:gd name="connsiteX0-49" fmla="*/ 0 w 9787990"/>
              <a:gd name="connsiteY0-50" fmla="*/ 2703548 h 2703548"/>
              <a:gd name="connsiteX1-51" fmla="*/ 4434406 w 9787990"/>
              <a:gd name="connsiteY1-52" fmla="*/ 269566 h 2703548"/>
              <a:gd name="connsiteX2-53" fmla="*/ 9301382 w 9787990"/>
              <a:gd name="connsiteY2-54" fmla="*/ 0 h 2703548"/>
              <a:gd name="connsiteX3-55" fmla="*/ 9787990 w 9787990"/>
              <a:gd name="connsiteY3-56" fmla="*/ 2619986 h 2703548"/>
              <a:gd name="connsiteX4-57" fmla="*/ 0 w 9787990"/>
              <a:gd name="connsiteY4-58" fmla="*/ 2703548 h 2703548"/>
              <a:gd name="connsiteX0-59" fmla="*/ 0 w 9787990"/>
              <a:gd name="connsiteY0-60" fmla="*/ 2493998 h 2493998"/>
              <a:gd name="connsiteX1-61" fmla="*/ 4434406 w 9787990"/>
              <a:gd name="connsiteY1-62" fmla="*/ 60016 h 2493998"/>
              <a:gd name="connsiteX2-63" fmla="*/ 8748932 w 9787990"/>
              <a:gd name="connsiteY2-64" fmla="*/ 0 h 2493998"/>
              <a:gd name="connsiteX3-65" fmla="*/ 9787990 w 9787990"/>
              <a:gd name="connsiteY3-66" fmla="*/ 2410436 h 2493998"/>
              <a:gd name="connsiteX4-67" fmla="*/ 0 w 9787990"/>
              <a:gd name="connsiteY4-68" fmla="*/ 2493998 h 2493998"/>
              <a:gd name="connsiteX0-69" fmla="*/ 0 w 9787990"/>
              <a:gd name="connsiteY0-70" fmla="*/ 2669396 h 2669396"/>
              <a:gd name="connsiteX1-71" fmla="*/ 4434406 w 9787990"/>
              <a:gd name="connsiteY1-72" fmla="*/ 235414 h 2669396"/>
              <a:gd name="connsiteX2-73" fmla="*/ 8748932 w 9787990"/>
              <a:gd name="connsiteY2-74" fmla="*/ 175398 h 2669396"/>
              <a:gd name="connsiteX3-75" fmla="*/ 9787990 w 9787990"/>
              <a:gd name="connsiteY3-76" fmla="*/ 2585834 h 2669396"/>
              <a:gd name="connsiteX4-77" fmla="*/ 0 w 9787990"/>
              <a:gd name="connsiteY4-78" fmla="*/ 2669396 h 2669396"/>
              <a:gd name="connsiteX0-79" fmla="*/ 0 w 9787990"/>
              <a:gd name="connsiteY0-80" fmla="*/ 2669396 h 2669396"/>
              <a:gd name="connsiteX1-81" fmla="*/ 4434406 w 9787990"/>
              <a:gd name="connsiteY1-82" fmla="*/ 235414 h 2669396"/>
              <a:gd name="connsiteX2-83" fmla="*/ 8748932 w 9787990"/>
              <a:gd name="connsiteY2-84" fmla="*/ 175398 h 2669396"/>
              <a:gd name="connsiteX3-85" fmla="*/ 9787990 w 9787990"/>
              <a:gd name="connsiteY3-86" fmla="*/ 2585834 h 2669396"/>
              <a:gd name="connsiteX4-87" fmla="*/ 0 w 9787990"/>
              <a:gd name="connsiteY4-88" fmla="*/ 2669396 h 2669396"/>
              <a:gd name="connsiteX0-89" fmla="*/ 0 w 9787990"/>
              <a:gd name="connsiteY0-90" fmla="*/ 2880175 h 2880175"/>
              <a:gd name="connsiteX1-91" fmla="*/ 4434406 w 9787990"/>
              <a:gd name="connsiteY1-92" fmla="*/ 446193 h 2880175"/>
              <a:gd name="connsiteX2-93" fmla="*/ 8748932 w 9787990"/>
              <a:gd name="connsiteY2-94" fmla="*/ 386177 h 2880175"/>
              <a:gd name="connsiteX3-95" fmla="*/ 9787990 w 9787990"/>
              <a:gd name="connsiteY3-96" fmla="*/ 2796613 h 2880175"/>
              <a:gd name="connsiteX4-97" fmla="*/ 0 w 9787990"/>
              <a:gd name="connsiteY4-98" fmla="*/ 2880175 h 2880175"/>
              <a:gd name="connsiteX0-99" fmla="*/ 0 w 9787990"/>
              <a:gd name="connsiteY0-100" fmla="*/ 2880175 h 2880175"/>
              <a:gd name="connsiteX1-101" fmla="*/ 4434406 w 9787990"/>
              <a:gd name="connsiteY1-102" fmla="*/ 446193 h 2880175"/>
              <a:gd name="connsiteX2-103" fmla="*/ 8748932 w 9787990"/>
              <a:gd name="connsiteY2-104" fmla="*/ 386177 h 2880175"/>
              <a:gd name="connsiteX3-105" fmla="*/ 9787990 w 9787990"/>
              <a:gd name="connsiteY3-106" fmla="*/ 2796613 h 2880175"/>
              <a:gd name="connsiteX4-107" fmla="*/ 0 w 9787990"/>
              <a:gd name="connsiteY4-108" fmla="*/ 2880175 h 2880175"/>
              <a:gd name="connsiteX0-109" fmla="*/ 0 w 9787990"/>
              <a:gd name="connsiteY0-110" fmla="*/ 2880175 h 2880175"/>
              <a:gd name="connsiteX1-111" fmla="*/ 4434406 w 9787990"/>
              <a:gd name="connsiteY1-112" fmla="*/ 446193 h 2880175"/>
              <a:gd name="connsiteX2-113" fmla="*/ 8748932 w 9787990"/>
              <a:gd name="connsiteY2-114" fmla="*/ 386177 h 2880175"/>
              <a:gd name="connsiteX3-115" fmla="*/ 9787990 w 9787990"/>
              <a:gd name="connsiteY3-116" fmla="*/ 2796613 h 2880175"/>
              <a:gd name="connsiteX4-117" fmla="*/ 0 w 9787990"/>
              <a:gd name="connsiteY4-118" fmla="*/ 2880175 h 2880175"/>
              <a:gd name="connsiteX0-119" fmla="*/ 0 w 9787990"/>
              <a:gd name="connsiteY0-120" fmla="*/ 2840095 h 2840095"/>
              <a:gd name="connsiteX1-121" fmla="*/ 4434406 w 9787990"/>
              <a:gd name="connsiteY1-122" fmla="*/ 406113 h 2840095"/>
              <a:gd name="connsiteX2-123" fmla="*/ 8558432 w 9787990"/>
              <a:gd name="connsiteY2-124" fmla="*/ 441347 h 2840095"/>
              <a:gd name="connsiteX3-125" fmla="*/ 9787990 w 9787990"/>
              <a:gd name="connsiteY3-126" fmla="*/ 2756533 h 2840095"/>
              <a:gd name="connsiteX4-127" fmla="*/ 0 w 9787990"/>
              <a:gd name="connsiteY4-128" fmla="*/ 2840095 h 2840095"/>
              <a:gd name="connsiteX0-129" fmla="*/ 0 w 9787990"/>
              <a:gd name="connsiteY0-130" fmla="*/ 2840095 h 2840095"/>
              <a:gd name="connsiteX1-131" fmla="*/ 4434406 w 9787990"/>
              <a:gd name="connsiteY1-132" fmla="*/ 406113 h 2840095"/>
              <a:gd name="connsiteX2-133" fmla="*/ 8558432 w 9787990"/>
              <a:gd name="connsiteY2-134" fmla="*/ 441347 h 2840095"/>
              <a:gd name="connsiteX3-135" fmla="*/ 9787990 w 9787990"/>
              <a:gd name="connsiteY3-136" fmla="*/ 2756533 h 2840095"/>
              <a:gd name="connsiteX4-137" fmla="*/ 0 w 9787990"/>
              <a:gd name="connsiteY4-138" fmla="*/ 2840095 h 2840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9787990" h="2840095">
                <a:moveTo>
                  <a:pt x="0" y="2840095"/>
                </a:moveTo>
                <a:cubicBezTo>
                  <a:pt x="1478135" y="2028768"/>
                  <a:pt x="2822921" y="1198390"/>
                  <a:pt x="4434406" y="406113"/>
                </a:cubicBezTo>
                <a:cubicBezTo>
                  <a:pt x="5815431" y="-280642"/>
                  <a:pt x="7044057" y="23202"/>
                  <a:pt x="8558432" y="441347"/>
                </a:cubicBezTo>
                <a:cubicBezTo>
                  <a:pt x="9590585" y="1111476"/>
                  <a:pt x="9746437" y="2010204"/>
                  <a:pt x="9787990" y="2756533"/>
                </a:cubicBezTo>
                <a:cubicBezTo>
                  <a:pt x="6633277" y="2847887"/>
                  <a:pt x="4831113" y="2710641"/>
                  <a:pt x="0" y="284009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9000"/>
            </a:schemeClr>
          </a:solidFill>
          <a:ln w="81537" cap="flat">
            <a:noFill/>
            <a:prstDash val="solid"/>
            <a:miter/>
          </a:ln>
          <a:effectLst>
            <a:glow>
              <a:schemeClr val="accent1">
                <a:lumMod val="60000"/>
                <a:lumOff val="40000"/>
              </a:schemeClr>
            </a:glow>
            <a:softEdge rad="444500"/>
          </a:effectLst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516" y="-5186"/>
            <a:ext cx="5097893" cy="1190836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1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8000"/>
                </a:schemeClr>
              </a:gs>
              <a:gs pos="100000">
                <a:schemeClr val="accent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wrap="square" anchor="ctr" anchorCtr="0">
            <a:normAutofit/>
          </a:bodyPr>
          <a:lstStyle/>
          <a:p>
            <a:r>
              <a:rPr lang="en-US"/>
              <a:t>FUNCTIONS</a:t>
            </a:r>
            <a:endParaRPr 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3 Core Elements of a Function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A complete user-defined function involves three main parts: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1. Function Declaration (Prototype):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Tells the compiler the function's name, its return type, and its expected input data types. It usually sits above the main() function.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Example: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int addNumbers(int a, int b);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3 Core Elements of a Function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/>
              <a:t>2. Function Definition: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Contains the actual code block (body) that executes when the function is called.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Example: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int addNumbers(int a, int b) {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    int sum = a + b;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    return sum; // Returns the result to the caller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}</a:t>
            </a:r>
            <a:endParaRPr lang="en-US" altLang="en-US" sz="2400"/>
          </a:p>
          <a:p>
            <a:pPr marL="457200" lvl="1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The 3 Core Elements of a Function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/>
              <a:t>3. Function Call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Invokes the function from elsewhere in the program (like inside main()) to execute its code.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Example: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int result = addNumbers(5, 3);</a:t>
            </a:r>
            <a:endParaRPr lang="en-US" altLang="en-US" sz="2400"/>
          </a:p>
          <a:p>
            <a:pPr marL="457200" lvl="1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pPr marL="0" indent="457200">
              <a:buNone/>
            </a:pPr>
            <a:r>
              <a:rPr lang="en-US" altLang="en-US" sz="2400"/>
              <a:t>#include &lt;stdio.h&gt;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// 1. Function Declaration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int calculateSquare(int num);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int main() {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int input = 6;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int output;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marL="0" indent="457200">
              <a:buNone/>
            </a:pPr>
            <a:r>
              <a:rPr lang="en-US" altLang="en-US" sz="2400">
                <a:sym typeface="+mn-ea"/>
              </a:rPr>
              <a:t>   // 3. Function Call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    output = calculateSquare(input);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    printf("The square of %d is %d\n", input, output);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    return 0;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}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0">
              <a:buNone/>
            </a:pPr>
            <a:endParaRPr lang="en-US" sz="24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457200">
              <a:buNone/>
            </a:pPr>
            <a:r>
              <a:rPr lang="en-US" altLang="en-US" sz="2400">
                <a:sym typeface="+mn-ea"/>
              </a:rPr>
              <a:t>// 2. Function Definition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int calculateSquare(int num) {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    return num * num;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}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0">
              <a:buNone/>
            </a:pPr>
            <a:endParaRPr lang="en-US" sz="2400"/>
          </a:p>
          <a:p>
            <a:pPr marL="0" indent="457200">
              <a:buNone/>
            </a:pPr>
            <a:endParaRPr lang="en-US" sz="24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</p:spPr>
        <p:txBody>
          <a:bodyPr>
            <a:normAutofit/>
          </a:bodyPr>
          <a:p>
            <a:r>
              <a:rPr lang="en-US" altLang="en-US"/>
              <a:t>Types of Functions in C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</p:spPr>
        <p:txBody>
          <a:bodyPr/>
          <a:p>
            <a:r>
              <a:rPr lang="en-US" altLang="en-US" sz="2400"/>
              <a:t>Functions broadly fall into two main categories: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Standard Library Functions: Pre-defined functions built into C libraries. Examples include printf() and scanf() from &lt;stdio.h&gt;, or sqrt() from &lt;math.h&gt;.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User-Defined Functions: Custom functions created by the programmer to solve specific problems.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Types of Functions in C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en-US" altLang="en-US" sz="2400"/>
              <a:t>Depending on their input parameters and outputs, user-defined functions are structured in four ways: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No arguments &amp; No return value: Uses void for both parameters and return type (e.g., void greet(void);).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Arguments &amp; No return value: Takes inputs but performs an action without sending a value back (e.g., void printAge(int age);).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No arguments &amp; A return value: Takes no inputs but generates data back to the program (e.g., int getSystemStatus(void);).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Arguments &amp; A return value: Accepts inputs, processes them, and returns a final result (e.g., float divide(float x, float y);).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Stack Frames and Memory Architecture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 sz="2400"/>
              <a:t>When you call a function, the CPU allocates a dedicated block of memory on the Runtime Stack called a Stack Frame (or Activation Record).</a:t>
            </a:r>
            <a:endParaRPr lang="en-US" altLang="en-US" sz="2400"/>
          </a:p>
          <a:p>
            <a:pPr marL="457200" indent="-457200">
              <a:buFont typeface="+mj-lt"/>
              <a:buAutoNum type="alphaLcParenR"/>
            </a:pPr>
            <a:r>
              <a:rPr lang="en-US" altLang="en-US" sz="2400"/>
              <a:t>The Allocation: The frame stores parameters, local variables, and the return address (where the CPU goes after the function finishes).</a:t>
            </a:r>
            <a:endParaRPr lang="en-US" altLang="en-US" sz="2400"/>
          </a:p>
          <a:p>
            <a:pPr marL="457200" indent="-457200">
              <a:buFont typeface="+mj-lt"/>
              <a:buAutoNum type="alphaLcParenR"/>
            </a:pPr>
            <a:r>
              <a:rPr lang="en-US" altLang="en-US" sz="2400"/>
              <a:t>Stack Overflow: Every nested or recursive call pushes a new frame. If functions call each other infinitely, stack memory runs out, crashing the program.</a:t>
            </a:r>
            <a:endParaRPr lang="en-US" altLang="en-US" sz="2400"/>
          </a:p>
          <a:p>
            <a:pPr marL="457200" indent="-457200">
              <a:buFont typeface="+mj-lt"/>
              <a:buAutoNum type="alphaLcParenR"/>
            </a:pPr>
            <a:r>
              <a:rPr lang="en-US" altLang="en-US" sz="2400"/>
              <a:t>Scope Isolation: Variables inside a stack frame are invisible to other functions. When a function hits return, its entire stack frame is destroyed, and that memory is reclaimed.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Passing Arguments: Value vs. Reference	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US" sz="2400"/>
              <a:t>C strictly uses Pass by Value. However, you can simulate Pass by Reference using pointers.</a:t>
            </a:r>
            <a:endParaRPr lang="en-US" altLang="en-US" sz="2400"/>
          </a:p>
          <a:p>
            <a:r>
              <a:rPr lang="en-US" altLang="en-US" sz="2400"/>
              <a:t>Pass by Value: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The function receives a copy of the data. Modifying it inside the function has zero effect on the original variable.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Example: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void modifyValue(int x) {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x = 100; // Modifies only the local copy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}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Passing Arguments: Value vs. Reference	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Pass by Reference (Using Pointers):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The function receives a copy of the memory address. Accessing that address allows you to modify the original variable directly.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342900" indent="-342900"/>
            <a:r>
              <a:rPr lang="en-US" altLang="en-US" sz="2400"/>
              <a:t>Example: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void modifyReference(int *x) {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    *x = 100; // Overwrites the original variable's memory</a:t>
            </a:r>
            <a:endParaRPr lang="en-US" altLang="en-US" sz="2400"/>
          </a:p>
          <a:p>
            <a:pPr marL="457200" lvl="1" indent="457200">
              <a:buNone/>
            </a:pPr>
            <a:r>
              <a:rPr lang="en-US" altLang="en-US" sz="2400"/>
              <a:t>}</a:t>
            </a:r>
            <a:endParaRPr lang="en-US" altLang="en-US" sz="2400"/>
          </a:p>
          <a:p>
            <a:pPr marL="457200" lvl="1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Function Pointers (Passing Behavior as Data)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In C, functions reside in the code segment of memory. You can store a function's address in a Function Pointer, allowing you to pass functions as arguments to other functions (callbacks).</a:t>
            </a:r>
            <a:endParaRPr lang="en-US" altLang="en-US" sz="2400"/>
          </a:p>
          <a:p>
            <a:r>
              <a:rPr lang="en-US" altLang="en-US" sz="2400"/>
              <a:t>We covered it in pointers also.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pPr marL="0" indent="457200">
              <a:buNone/>
            </a:pPr>
            <a:r>
              <a:rPr lang="en-US" altLang="en-US" sz="2400"/>
              <a:t>#include &lt;stdio.h&gt;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int add(int a, int b) { return a + b; }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// A function that accepts a function pointer as its third parameter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int compute(int x, int y, int (*operation)(int, int)) {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return operation(x, y);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}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457200">
              <a:buNone/>
            </a:pPr>
            <a:r>
              <a:rPr lang="en-US" altLang="en-US" sz="2400">
                <a:sym typeface="+mn-ea"/>
              </a:rPr>
              <a:t>int main() {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    // Declaring and pointing to 'add'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    int (*ptr)(int, int) = add;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   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    // Outputs 15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    printf("Result: %d\n", compute(10, 5, ptr)); 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    return 0;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>
                <a:sym typeface="+mn-ea"/>
              </a:rPr>
              <a:t>}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  <a:p>
            <a:pPr marL="0" indent="457200">
              <a:buNone/>
            </a:pPr>
            <a:endParaRPr lang="en-US" sz="240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Recursion vs. Iteration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556885"/>
          </a:xfrm>
        </p:spPr>
        <p:txBody>
          <a:bodyPr>
            <a:noAutofit/>
          </a:bodyPr>
          <a:p>
            <a:r>
              <a:rPr lang="en-US" altLang="en-US" sz="2400"/>
              <a:t>A recursive function calls itself. Every recursive call must approach a base case to stop, or it will trigger a stack overflow.</a:t>
            </a:r>
            <a:endParaRPr lang="en-US" altLang="en-US" sz="2400"/>
          </a:p>
          <a:p>
            <a:r>
              <a:rPr lang="en-US" altLang="en-US" sz="2400"/>
              <a:t>The Cost: Recursion looks elegant but consumes O(n) stack memory. Loops (iteration) reuse the exact same memory, making them faster and safer for deep operations.</a:t>
            </a:r>
            <a:endParaRPr lang="en-US" altLang="en-US" sz="2400"/>
          </a:p>
          <a:p>
            <a:r>
              <a:rPr lang="en-US" altLang="en-US" sz="2400"/>
              <a:t>Example: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int factorial(int n) {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if (n &lt;= 1) return 1; // Base case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    return n * factorial(n - 1); // Recursive call</a:t>
            </a:r>
            <a:endParaRPr lang="en-US" altLang="en-US" sz="2400"/>
          </a:p>
          <a:p>
            <a:pPr marL="0" indent="457200">
              <a:buNone/>
            </a:pPr>
            <a:r>
              <a:rPr lang="en-US" altLang="en-US" sz="2400"/>
              <a:t>}</a:t>
            </a:r>
            <a:endParaRPr lang="en-US" altLang="en-US" sz="2400"/>
          </a:p>
          <a:p>
            <a:pPr marL="0" indent="457200">
              <a:buNone/>
            </a:pP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Advanced modifiers and keywords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sz="2400"/>
              <a:t>They </a:t>
            </a:r>
            <a:r>
              <a:rPr lang="en-US" altLang="en-US" sz="2400"/>
              <a:t>change how the C compiler handles a function's visibility (linkage), memory allocation, and execution speed.</a:t>
            </a:r>
            <a:endParaRPr lang="en-US" altLang="en-US" sz="2400"/>
          </a:p>
          <a:p>
            <a:r>
              <a:rPr lang="en-US" altLang="en-US" sz="2400"/>
              <a:t>There are 4 advanced keywords: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static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inline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extern</a:t>
            </a:r>
            <a:endParaRPr lang="en-US" altLang="en-US" sz="2400"/>
          </a:p>
          <a:p>
            <a:pPr marL="457200" indent="-457200">
              <a:buAutoNum type="arabicPeriod"/>
            </a:pPr>
            <a:r>
              <a:rPr lang="en-US" altLang="en-US" sz="2400"/>
              <a:t>_Noreturn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Static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By default, any function you write in C is global. It can be accessed by any other file in your project. Adding the static keyword restricts the function’s visibility strictly to the source file (.c) where it is defined.</a:t>
            </a:r>
            <a:endParaRPr lang="en-US" altLang="en-US" sz="2400"/>
          </a:p>
          <a:p>
            <a:r>
              <a:rPr lang="en-US" altLang="en-US" sz="2400"/>
              <a:t>Why use it?</a:t>
            </a:r>
            <a:endParaRPr lang="en-US" altLang="en-US" sz="2400"/>
          </a:p>
          <a:p>
            <a:pPr marL="457200" indent="-457200">
              <a:buFont typeface="+mj-lt"/>
              <a:buAutoNum type="alphaLcPeriod"/>
            </a:pPr>
            <a:r>
              <a:rPr lang="en-US" altLang="en-US" sz="2400"/>
              <a:t>Encapsulation: It hides internal helper functions from the rest of the codebase.</a:t>
            </a:r>
            <a:endParaRPr lang="en-US" altLang="en-US" sz="2400"/>
          </a:p>
          <a:p>
            <a:pPr marL="457200" indent="-457200">
              <a:buFont typeface="+mj-lt"/>
              <a:buAutoNum type="alphaLcPeriod"/>
            </a:pPr>
            <a:r>
              <a:rPr lang="en-US" altLang="en-US" sz="2400"/>
              <a:t>Avoids Name Clashes: Two different .c files can have a function named static void log_error() without causing a linker collision.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pPr marL="0" indent="457200">
              <a:buNone/>
            </a:pPr>
            <a:r>
              <a:rPr lang="en-US" altLang="en-US"/>
              <a:t>// inside math_helpers.c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static int validate_input(int x)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return (x &gt; 0); // Only functions inside math_helpers.c can call this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int double_value(int x)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if (validate_input(x))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return x * 2;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}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return 0;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inline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When a function is called, the CPU spends time pushing arguments to the stack frame and jumping instructions. The inline keyword acts as a request to the compiler to replace the function call directly with the function's actual code.</a:t>
            </a:r>
            <a:endParaRPr lang="en-US" altLang="en-US"/>
          </a:p>
          <a:p>
            <a:r>
              <a:rPr lang="en-US" altLang="en-US"/>
              <a:t>Why use it?</a:t>
            </a:r>
            <a:endParaRPr lang="en-US" altLang="en-US"/>
          </a:p>
          <a:p>
            <a:pPr marL="457200" indent="-457200">
              <a:buFont typeface="+mj-lt"/>
              <a:buAutoNum type="alphaLcParenR"/>
            </a:pPr>
            <a:r>
              <a:rPr lang="en-US" altLang="en-US"/>
              <a:t>Eliminates Overhead: Saves CPU clock cycles by removing the stack frame setup for small, frequently called functions.</a:t>
            </a:r>
            <a:endParaRPr lang="en-US" altLang="en-US"/>
          </a:p>
          <a:p>
            <a:pPr marL="457200" indent="-457200">
              <a:buFont typeface="+mj-lt"/>
              <a:buAutoNum type="alphaLcParenR"/>
            </a:pPr>
            <a:r>
              <a:rPr lang="en-US" altLang="en-US"/>
              <a:t>Compiler Choice: The compiler treats this as a hint, not a command. It may ignore inline if the function is too complex (e.g., contains loops or recursion).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457200">
              <a:buNone/>
            </a:pPr>
            <a:r>
              <a:rPr lang="en-US" altLang="en-US"/>
              <a:t>inline int max(int a, int b)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return (a &gt; b) ? a : b;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int main()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int x = max(5, 10);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// The compiler optimizes this under the hood to: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// int x = (5 &gt; 10) ? 5 : 10;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extern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 sz="2400"/>
              <a:t>The extern keyword tells the compiler that a function exists, but its actual declaration and implementation live in a completely different source file.</a:t>
            </a:r>
            <a:endParaRPr lang="en-US" altLang="en-US" sz="2400"/>
          </a:p>
          <a:p>
            <a:r>
              <a:rPr lang="en-US" altLang="en-US" sz="2400"/>
              <a:t>Why use it?</a:t>
            </a:r>
            <a:endParaRPr lang="en-US" altLang="en-US" sz="2400"/>
          </a:p>
          <a:p>
            <a:r>
              <a:rPr lang="en-US" altLang="en-US" sz="2400"/>
              <a:t>Cross-File Communication: It allows File A to call a function defined in File B.</a:t>
            </a:r>
            <a:endParaRPr lang="en-US" altLang="en-US" sz="2400"/>
          </a:p>
          <a:p>
            <a:r>
              <a:rPr lang="en-US" altLang="en-US" sz="2400"/>
              <a:t>Note: In modern C, putting function prototypes in header files (.h) and using #include implicitly marks them as extern, so typing the keyword out manually is rare for functions today.</a:t>
            </a:r>
            <a:endParaRPr lang="en-US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/>
          </a:bodyPr>
          <a:p>
            <a:pPr marL="0" indent="457200">
              <a:buNone/>
            </a:pPr>
            <a:r>
              <a:rPr lang="en-US" altLang="en-US"/>
              <a:t>// File: graphics.c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void draw_circle(int radius)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// Implementation here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// File: main.c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extern void draw_circle(int radius); // Tells compiler: "Trust me, it exists elsewhere."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int main()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draw_circle(5); // Linker connects this call to graphics.c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return 0;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_Noreturn 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Introduced in the C11 standard (and updated to [[noreturn]] in C23), this modifier tells the compiler that the function will never return control back to the caller. It will either terminate the program or enter an infinite loop.</a:t>
            </a:r>
            <a:endParaRPr lang="en-US" altLang="en-US"/>
          </a:p>
          <a:p>
            <a:r>
              <a:rPr lang="en-US" altLang="en-US"/>
              <a:t>Why use it?</a:t>
            </a:r>
            <a:endParaRPr lang="en-US" altLang="en-US"/>
          </a:p>
          <a:p>
            <a:pPr marL="457200" indent="-457200">
              <a:buFont typeface="+mj-lt"/>
              <a:buAutoNum type="alphaLcParenR"/>
            </a:pPr>
            <a:r>
              <a:rPr lang="en-US" altLang="en-US"/>
              <a:t>Compiler Optimization: Allows the compiler to optimize dead-code paths (it knows any code written immediately after calling this function is unreachable).</a:t>
            </a:r>
            <a:endParaRPr lang="en-US" altLang="en-US"/>
          </a:p>
          <a:p>
            <a:pPr marL="457200" indent="-457200">
              <a:buFont typeface="+mj-lt"/>
              <a:buAutoNum type="alphaLcParenR"/>
            </a:pPr>
            <a:r>
              <a:rPr lang="en-US" altLang="en-US"/>
              <a:t>Suppresses Warnings: Prevents "missing return statement" warnings in paths that exit early.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457200">
              <a:buNone/>
            </a:pPr>
            <a:r>
              <a:rPr lang="en-US" altLang="en-US"/>
              <a:t>#include &lt;stdio.h&gt;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#include &lt;stdlib.h&gt;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#include &lt;stdnoreturn.h&gt; // Required for C11 '_Noreturn' macro mapping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_Noreturn void terminate_with_error(const char *msg)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printf("Fatal Error: %s\n", msg);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exit(1); // Program ends here; control never returns to main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992504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 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1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23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23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23_1*a*1"/>
  <p:tag name="KSO_WM_TEMPLATE_CATEGORY" val="custom"/>
  <p:tag name="KSO_WM_TEMPLATE_INDEX" val="20238023"/>
  <p:tag name="KSO_WM_UNIT_LAYERLEVEL" val="1"/>
  <p:tag name="KSO_WM_TAG_VERSION" val="3.0"/>
  <p:tag name="KSO_WM_BEAUTIFY_FLAG" val="#wm#"/>
  <p:tag name="KSO_WM_UNIT_PRESET_TEXT" val="The title goes here"/>
</p:tagLst>
</file>

<file path=ppt/tags/tag23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23_1*f*4"/>
  <p:tag name="KSO_WM_TEMPLATE_CATEGORY" val="custom"/>
  <p:tag name="KSO_WM_TEMPLATE_INDEX" val="20238023"/>
  <p:tag name="KSO_WM_UNIT_LAYERLEVEL" val="1"/>
  <p:tag name="KSO_WM_TAG_VERSION" val="3.0"/>
  <p:tag name="KSO_WM_BEAUTIFY_FLAG" val="#wm#"/>
  <p:tag name="KSO_WM_UNIT_PRESET_TEXT" val="Name"/>
</p:tagLst>
</file>

<file path=ppt/tags/tag24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2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23"/>
  <p:tag name="KSO_WM_SLIDE_LAYOUT" val="a_b_f"/>
  <p:tag name="KSO_WM_SLIDE_LAYOUT_CNT" val="1_1_1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heme/theme1.xml><?xml version="1.0" encoding="utf-8"?>
<a:theme xmlns:a="http://schemas.openxmlformats.org/drawingml/2006/main" name="Office Theme">
  <a:themeElements>
    <a:clrScheme name="自定义 54">
      <a:dk1>
        <a:srgbClr val="000000"/>
      </a:dk1>
      <a:lt1>
        <a:srgbClr val="FFFFFF"/>
      </a:lt1>
      <a:dk2>
        <a:srgbClr val="071A00"/>
      </a:dk2>
      <a:lt2>
        <a:srgbClr val="F7FFF7"/>
      </a:lt2>
      <a:accent1>
        <a:srgbClr val="00B212"/>
      </a:accent1>
      <a:accent2>
        <a:srgbClr val="EEC120"/>
      </a:accent2>
      <a:accent3>
        <a:srgbClr val="1F77C8"/>
      </a:accent3>
      <a:accent4>
        <a:srgbClr val="00B6B6"/>
      </a:accent4>
      <a:accent5>
        <a:srgbClr val="E58C06"/>
      </a:accent5>
      <a:accent6>
        <a:srgbClr val="B25D00"/>
      </a:accent6>
      <a:hlink>
        <a:srgbClr val="5FCBFB"/>
      </a:hlink>
      <a:folHlink>
        <a:srgbClr val="B759BC"/>
      </a:folHlink>
    </a:clrScheme>
    <a:fontScheme name="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1">
                <a:alpha val="18000"/>
              </a:schemeClr>
            </a:gs>
            <a:gs pos="100000">
              <a:schemeClr val="accent1">
                <a:alpha val="25000"/>
              </a:schemeClr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 lang="en-US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>
              <a:alpha val="32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b">
        <a:normAutofit/>
      </a:bodyPr>
      <a:lstStyle>
        <a:defPPr algn="r">
          <a:lnSpc>
            <a:spcPct val="100000"/>
          </a:lnSpc>
          <a:defRPr lang="en-US" sz="2000" b="1" spc="300" dirty="0">
            <a:solidFill>
              <a:schemeClr val="accent1">
                <a:lumMod val="50000"/>
              </a:schemeClr>
            </a:solidFill>
            <a:latin typeface="+mj-ea"/>
            <a:ea typeface="+mj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7427</Words>
  <Application>WPS Presentation</Application>
  <PresentationFormat>Widescreen</PresentationFormat>
  <Paragraphs>249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Nunito Sans ExtraBold</vt:lpstr>
      <vt:lpstr>Nunito Sans</vt:lpstr>
      <vt:lpstr>Google Sans</vt:lpstr>
      <vt:lpstr>Segoe Print</vt:lpstr>
      <vt:lpstr>Office Theme</vt:lpstr>
      <vt:lpstr>The title goes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dc:creator/>
  <cp:lastModifiedBy>chatbotislive</cp:lastModifiedBy>
  <cp:revision>2</cp:revision>
  <dcterms:created xsi:type="dcterms:W3CDTF">2026-06-27T16:13:50Z</dcterms:created>
  <dcterms:modified xsi:type="dcterms:W3CDTF">2026-06-27T16:39:54Z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C4B08FCDE894417BB8DCFEBEFE06B301_12</vt:lpwstr>
  </property>
</Properties>
</file>