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8" r:id="rId3"/>
    <p:sldId id="262" r:id="rId4"/>
    <p:sldId id="263" r:id="rId5"/>
    <p:sldId id="264" r:id="rId6"/>
    <p:sldId id="265" r:id="rId7"/>
    <p:sldId id="266" r:id="rId8"/>
    <p:sldId id="267" r:id="rId9"/>
    <p:sldId id="269" r:id="rId10"/>
    <p:sldId id="271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@svg_bg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3636390"/>
              <a:gd name="connsiteY0" fmla="*/ 0 h 7969250"/>
              <a:gd name="connsiteX1" fmla="*/ 13636390 w 13636390"/>
              <a:gd name="connsiteY1" fmla="*/ 0 h 7969250"/>
              <a:gd name="connsiteX2" fmla="*/ 13636390 w 13636390"/>
              <a:gd name="connsiteY2" fmla="*/ 7969250 h 7969250"/>
              <a:gd name="connsiteX3" fmla="*/ 0 w 13636390"/>
              <a:gd name="connsiteY3" fmla="*/ 7969250 h 796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36390" h="7969250">
                <a:moveTo>
                  <a:pt x="0" y="0"/>
                </a:moveTo>
                <a:lnTo>
                  <a:pt x="13636390" y="0"/>
                </a:lnTo>
                <a:lnTo>
                  <a:pt x="13636390" y="7969250"/>
                </a:lnTo>
                <a:lnTo>
                  <a:pt x="0" y="7969250"/>
                </a:lnTo>
                <a:close/>
              </a:path>
            </a:pathLst>
          </a:custGeom>
          <a:gradFill>
            <a:gsLst>
              <a:gs pos="38098">
                <a:schemeClr val="accent5">
                  <a:alpha val="5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1"/>
          </a:gra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pic>
        <p:nvPicPr>
          <p:cNvPr id="8" name="@png2x_0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895350" y="385445"/>
            <a:ext cx="6307455" cy="3255010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800" b="0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r>
              <a:rPr lang="en-US" dirty="0">
                <a:sym typeface="+mn-ea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895350" y="3810878"/>
            <a:ext cx="5657850" cy="656148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895350" y="4636922"/>
            <a:ext cx="5657850" cy="844045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aseline="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image" Target="../media/image2.png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@svg_bg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3636390"/>
              <a:gd name="connsiteY0" fmla="*/ 0 h 7969250"/>
              <a:gd name="connsiteX1" fmla="*/ 13636390 w 13636390"/>
              <a:gd name="connsiteY1" fmla="*/ 0 h 7969250"/>
              <a:gd name="connsiteX2" fmla="*/ 13636390 w 13636390"/>
              <a:gd name="connsiteY2" fmla="*/ 7969250 h 7969250"/>
              <a:gd name="connsiteX3" fmla="*/ 0 w 13636390"/>
              <a:gd name="connsiteY3" fmla="*/ 7969250 h 796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36390" h="7969250">
                <a:moveTo>
                  <a:pt x="0" y="0"/>
                </a:moveTo>
                <a:lnTo>
                  <a:pt x="13636390" y="0"/>
                </a:lnTo>
                <a:lnTo>
                  <a:pt x="13636390" y="7969250"/>
                </a:lnTo>
                <a:lnTo>
                  <a:pt x="0" y="7969250"/>
                </a:lnTo>
                <a:close/>
              </a:path>
            </a:pathLst>
          </a:custGeom>
          <a:gradFill>
            <a:gsLst>
              <a:gs pos="42000">
                <a:schemeClr val="accent1">
                  <a:alpha val="0"/>
                </a:schemeClr>
              </a:gs>
              <a:gs pos="100000">
                <a:schemeClr val="accent1">
                  <a:alpha val="50000"/>
                </a:schemeClr>
              </a:gs>
            </a:gsLst>
            <a:lin ang="16200000" scaled="1"/>
          </a:gra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@png2x_0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739884" y="5641848"/>
            <a:ext cx="1837944" cy="1216152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4">
              <a:lumMod val="50000"/>
            </a:schemeClr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b="0" kern="1200">
          <a:solidFill>
            <a:schemeClr val="accent4">
              <a:lumMod val="50000"/>
            </a:schemeClr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b="0" kern="1200">
          <a:solidFill>
            <a:schemeClr val="accent4">
              <a:lumMod val="50000"/>
            </a:schemeClr>
          </a:solidFill>
          <a:latin typeface="+mn-ea"/>
          <a:ea typeface="+mn-ea"/>
          <a:cs typeface="仓耳渔阳体 W04" panose="02020400000000000000" charset="-122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accent4">
              <a:lumMod val="50000"/>
            </a:schemeClr>
          </a:solidFill>
          <a:latin typeface="+mn-ea"/>
          <a:ea typeface="+mn-ea"/>
          <a:cs typeface="仓耳渔阳体 W04" panose="02020400000000000000" charset="-122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b="0" kern="1200">
          <a:solidFill>
            <a:schemeClr val="accent4">
              <a:lumMod val="50000"/>
            </a:schemeClr>
          </a:solidFill>
          <a:latin typeface="+mn-ea"/>
          <a:ea typeface="+mn-ea"/>
          <a:cs typeface="仓耳渔阳体 W04" panose="02020400000000000000" charset="-122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100" b="0" kern="1200">
          <a:solidFill>
            <a:schemeClr val="accent4">
              <a:lumMod val="50000"/>
            </a:schemeClr>
          </a:solidFill>
          <a:latin typeface="+mn-ea"/>
          <a:ea typeface="+mn-ea"/>
          <a:cs typeface="仓耳渔阳体 W04" panose="020204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DATA TYPE</a:t>
            </a:r>
            <a:endParaRPr lang="en-US" dirty="0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ANISH A R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Data Types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In C, a Data Type is an architectural blueprint that tells the compiler two critical things: </a:t>
            </a:r>
            <a:endParaRPr lang="en-US" altLang="en-US" sz="2400"/>
          </a:p>
          <a:p>
            <a:pPr marL="342900" indent="-342900">
              <a:buAutoNum type="arabicPeriod"/>
            </a:pPr>
            <a:r>
              <a:rPr lang="en-US" altLang="en-US" sz="2400"/>
              <a:t>how much memory (RAM) to allocate for a variable, and </a:t>
            </a:r>
            <a:endParaRPr lang="en-US" altLang="en-US" sz="2400"/>
          </a:p>
          <a:p>
            <a:pPr marL="342900" indent="-342900">
              <a:buAutoNum type="arabicPeriod"/>
            </a:pPr>
            <a:r>
              <a:rPr lang="en-US" altLang="en-US" sz="2400"/>
              <a:t>how to interpret the raw binary bits stored inside that memory space.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The 4 Primary Data Type Classifications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2400"/>
              <a:t>Basic / Primary Types: 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  	    The fundamental arithmetic types built directly into the compiler (int, char, float, double).</a:t>
            </a:r>
            <a:endParaRPr lang="en-US" altLang="en-US" sz="2400"/>
          </a:p>
          <a:p>
            <a:r>
              <a:rPr lang="en-US" altLang="en-US" sz="2400"/>
              <a:t>Void Type (void): 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 	     A special type meaning "empty" or "no value." Used mostly to state that a function does not return any data.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Integer (int)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Memory Size: Usually 4 bytes (32 bits) on modern operating systems.</a:t>
            </a:r>
            <a:endParaRPr lang="en-US" altLang="en-US" sz="2400"/>
          </a:p>
          <a:p>
            <a:r>
              <a:rPr lang="en-US" altLang="en-US" sz="2400"/>
              <a:t>What it holds: Whole numbers without any decimal fractions (e.g., -45, 0, 202).</a:t>
            </a:r>
            <a:endParaRPr lang="en-US" altLang="en-US" sz="2400"/>
          </a:p>
          <a:p>
            <a:r>
              <a:rPr lang="en-US" altLang="en-US" sz="2400"/>
              <a:t>Format Specifier: %d (decimal) or %i (integer).</a:t>
            </a:r>
            <a:endParaRPr lang="en-US" altLang="en-US" sz="2400"/>
          </a:p>
          <a:p>
            <a:r>
              <a:rPr lang="en-US" altLang="en-US" sz="2400"/>
              <a:t>The Math Limit: Can store any number from -2,147,483,648 to 2,147,483,647.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Character (char)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Memory Size: Exactly 1 byte (8 bits).</a:t>
            </a:r>
            <a:endParaRPr lang="en-US" altLang="en-US" sz="2400"/>
          </a:p>
          <a:p>
            <a:r>
              <a:rPr lang="en-US" altLang="en-US" sz="2400"/>
              <a:t>What it holds: A single character enclosed in single quotes (e.g., 'A', '7', '$').</a:t>
            </a:r>
            <a:endParaRPr lang="en-US" altLang="en-US" sz="2400"/>
          </a:p>
          <a:p>
            <a:r>
              <a:rPr lang="en-US" altLang="en-US" sz="2400"/>
              <a:t>Format Specifier: %cThe Secret: Under the hood, C doesn't store letters; it stores numbers. </a:t>
            </a:r>
            <a:endParaRPr lang="en-US" altLang="en-US" sz="2400"/>
          </a:p>
          <a:p>
            <a:r>
              <a:rPr lang="en-US" altLang="en-US" sz="2400"/>
              <a:t>The character 'A' is literally stored as the integer value 65 based on the ASCII mapping standard.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Floating-Point (float)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Memory Size: 4 bytes (32 bits).</a:t>
            </a:r>
            <a:endParaRPr lang="en-US" altLang="en-US" sz="2400"/>
          </a:p>
          <a:p>
            <a:r>
              <a:rPr lang="en-US" altLang="en-US" sz="2400"/>
              <a:t>What it holds: Single-precision decimal/fractional numbers.</a:t>
            </a:r>
            <a:endParaRPr lang="en-US" altLang="en-US" sz="2400"/>
          </a:p>
          <a:p>
            <a:r>
              <a:rPr lang="en-US" altLang="en-US" sz="2400"/>
              <a:t>Format Specifier: %f</a:t>
            </a:r>
            <a:endParaRPr lang="en-US" altLang="en-US" sz="2400"/>
          </a:p>
          <a:p>
            <a:r>
              <a:rPr lang="en-US" altLang="en-US" sz="2400"/>
              <a:t>Precision Limit: Safe for up to 6 decimal places of accuracy.</a:t>
            </a:r>
            <a:endParaRPr lang="en-US" altLang="en-US" sz="2400"/>
          </a:p>
          <a:p>
            <a:r>
              <a:rPr lang="en-US" altLang="en-US" sz="2400"/>
              <a:t>Coding Tip: You must append an f to the literal value (e.g., 3.14f), otherwise C treats it as a double.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Double Precision (double)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Memory Size: 8 bytes (64 bits).</a:t>
            </a:r>
            <a:endParaRPr lang="en-US" altLang="en-US" sz="2400"/>
          </a:p>
          <a:p>
            <a:r>
              <a:rPr lang="en-US" altLang="en-US" sz="2400"/>
              <a:t>What it holds: High-precision decimal/fractional numbers.</a:t>
            </a:r>
            <a:endParaRPr lang="en-US" altLang="en-US" sz="2400"/>
          </a:p>
          <a:p>
            <a:r>
              <a:rPr lang="en-US" altLang="en-US" sz="2400"/>
              <a:t>Format Specifier: %lf (Long Float).</a:t>
            </a:r>
            <a:endParaRPr lang="en-US" altLang="en-US" sz="2400"/>
          </a:p>
          <a:p>
            <a:r>
              <a:rPr lang="en-US" altLang="en-US" sz="2400"/>
              <a:t>Precision Limit: Safe for up to 15 decimal places of accuracy. This is the default choice for most mathematical applications.</a:t>
            </a:r>
            <a:endParaRPr lang="en-US" altLang="en-US" sz="2400"/>
          </a:p>
          <a:p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Void Data Type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The void keyword in C literally means "nothing" or "no type". It is used to tell the compiler that a data type is intentionally missing.</a:t>
            </a:r>
            <a:endParaRPr lang="en-US" altLang="en-US" sz="2400"/>
          </a:p>
          <a:p>
            <a:r>
              <a:rPr lang="en-US" altLang="en-US" sz="2400"/>
              <a:t>When a function performs an action but does not send any data back to the program, its return type is void.</a:t>
            </a:r>
            <a:endParaRPr lang="en-US" altLang="en-US" sz="2400"/>
          </a:p>
          <a:p>
            <a:r>
              <a:rPr lang="en-US" altLang="en-US" sz="2400"/>
              <a:t>Placing void inside a function's parentheses explicitly states that the function accepts absolutely zero arguments.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Void Data Type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1301750"/>
            <a:ext cx="10800080" cy="5307965"/>
          </a:xfrm>
        </p:spPr>
        <p:txBody>
          <a:bodyPr>
            <a:noAutofit/>
          </a:bodyPr>
          <a:p>
            <a:pPr marL="285750" indent="-285750"/>
            <a:r>
              <a:rPr lang="en-US" altLang="en-US" sz="2000"/>
              <a:t>Function Return Types (No Return Value):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void printMessage() {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    printf("Hello World!");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    // No return statement needed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}</a:t>
            </a:r>
            <a:endParaRPr lang="en-US" altLang="en-US" sz="2000"/>
          </a:p>
          <a:p>
            <a:pPr marL="0" indent="457200">
              <a:buNone/>
            </a:pPr>
            <a:endParaRPr lang="en-US" altLang="en-US" sz="2000"/>
          </a:p>
          <a:p>
            <a:pPr marL="285750" indent="-285750"/>
            <a:r>
              <a:rPr lang="en-US" altLang="en-US" sz="2000"/>
              <a:t>Function Arguments (No Parameters):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int getValue(void) {     		//No arrguments needed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    return 42;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}</a:t>
            </a:r>
            <a:endParaRPr lang="en-US" altLang="en-US" sz="2000"/>
          </a:p>
          <a:p>
            <a:pPr marL="0" indent="457200">
              <a:buNone/>
            </a:pPr>
            <a:endParaRPr lang="en-US" altLang="en-US" sz="2000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991869"/>
            <a:ext cx="10800000" cy="4873625"/>
          </a:xfrm>
        </p:spPr>
        <p:txBody>
          <a:bodyPr anchor="ctr" anchorCtr="0"/>
          <a:p>
            <a:pPr marL="0" indent="0" algn="ctr">
              <a:buNone/>
            </a:pPr>
            <a:r>
              <a:rPr lang="en-US" sz="8000"/>
              <a:t>THANK YOU</a:t>
            </a:r>
            <a:endParaRPr lang="en-US" sz="80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02"/>
</p:tagLst>
</file>

<file path=ppt/tags/tag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02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02"/>
  <p:tag name="KSO_WM_TEMPLATE_THUMBS_INDEX" val="1、9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02_1*a*1"/>
  <p:tag name="KSO_WM_TEMPLATE_CATEGORY" val="custom"/>
  <p:tag name="KSO_WM_TEMPLATE_INDEX" val="20238002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SUBTYPE" val="b"/>
  <p:tag name="KSO_WM_UNIT_PRESET_TEXT" val="Name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8002_1*f*4"/>
  <p:tag name="KSO_WM_TEMPLATE_CATEGORY" val="custom"/>
  <p:tag name="KSO_WM_TEMPLATE_INDEX" val="20238002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SPECIAL_SOURCE" val="bdnull"/>
  <p:tag name="KSO_WM_SLIDE_ID" val="custom20238002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002"/>
  <p:tag name="KSO_WM_SLIDE_LAYOUT" val="a_b_f"/>
  <p:tag name="KSO_WM_SLIDE_LAYOUT_CNT" val="1_1_1"/>
  <p:tag name="KSO_WM_TEMPLATE_THUMBS_INDEX" val="1、9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2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2"/>
</p:tagLst>
</file>

<file path=ppt/tags/tag19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2"/>
</p:tagLst>
</file>

<file path=ppt/tags/tag20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2"/>
</p:tagLst>
</file>

<file path=ppt/tags/tag21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2"/>
</p:tagLst>
</file>

<file path=ppt/tags/tag22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2"/>
</p:tagLst>
</file>

<file path=ppt/tags/tag23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2"/>
</p:tagLst>
</file>

<file path=ppt/tags/tag24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2"/>
</p:tagLst>
</file>

<file path=ppt/tags/tag25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2"/>
</p:tagLst>
</file>

<file path=ppt/theme/theme1.xml><?xml version="1.0" encoding="utf-8"?>
<a:theme xmlns:a="http://schemas.openxmlformats.org/drawingml/2006/main" name="Office Theme">
  <a:themeElements>
    <a:clrScheme name="自定义 158">
      <a:dk1>
        <a:srgbClr val="000000"/>
      </a:dk1>
      <a:lt1>
        <a:srgbClr val="FFFFFF"/>
      </a:lt1>
      <a:dk2>
        <a:srgbClr val="071A00"/>
      </a:dk2>
      <a:lt2>
        <a:srgbClr val="FFFFFF"/>
      </a:lt2>
      <a:accent1>
        <a:srgbClr val="81C631"/>
      </a:accent1>
      <a:accent2>
        <a:srgbClr val="EEA332"/>
      </a:accent2>
      <a:accent3>
        <a:srgbClr val="E96E6E"/>
      </a:accent3>
      <a:accent4>
        <a:srgbClr val="12A25D"/>
      </a:accent4>
      <a:accent5>
        <a:srgbClr val="C9D614"/>
      </a:accent5>
      <a:accent6>
        <a:srgbClr val="8A5A20"/>
      </a:accent6>
      <a:hlink>
        <a:srgbClr val="304FFE"/>
      </a:hlink>
      <a:folHlink>
        <a:srgbClr val="492067"/>
      </a:folHlink>
    </a:clrScheme>
    <a:fontScheme name="可爱风组合">
      <a:majorFont>
        <a:latin typeface="Mali SemiBold"/>
        <a:ea typeface="Mali SemiBold"/>
        <a:cs typeface=""/>
      </a:majorFont>
      <a:minorFont>
        <a:latin typeface="Mali"/>
        <a:ea typeface="Mal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72000" rIns="0" bIns="0" rtlCol="0" anchor="ctr">
        <a:noAutofit/>
      </a:bodyPr>
      <a:lstStyle>
        <a:defPPr>
          <a:lnSpc>
            <a:spcPct val="100000"/>
          </a:lnSpc>
          <a:defRPr lang="en-US" sz="2800" spc="300" dirty="0">
            <a:solidFill>
              <a:schemeClr val="accent4">
                <a:lumMod val="50000"/>
              </a:schemeClr>
            </a:solidFill>
            <a:latin typeface="+mn-ea"/>
            <a:cs typeface="仓耳渔阳体 W04" panose="02020400000000000000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2329</Words>
  <Application>WPS Presentation</Application>
  <PresentationFormat>Widescreen</PresentationFormat>
  <Paragraphs>70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仓耳渔阳体 W04</vt:lpstr>
      <vt:lpstr>Mali</vt:lpstr>
      <vt:lpstr>Mali SemiBold</vt:lpstr>
      <vt:lpstr>Microsoft YaHei</vt:lpstr>
      <vt:lpstr>Arial Unicode MS</vt:lpstr>
      <vt:lpstr>Calibri</vt:lpstr>
      <vt:lpstr>Office Theme</vt:lpstr>
      <vt:lpstr>DATA TYPE</vt:lpstr>
      <vt:lpstr>Data Types</vt:lpstr>
      <vt:lpstr>The 4 Primary Data Type Classifications</vt:lpstr>
      <vt:lpstr>Integer (int)</vt:lpstr>
      <vt:lpstr>Character (char)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TYPE</dc:title>
  <dc:creator/>
  <cp:lastModifiedBy>chatbotislive</cp:lastModifiedBy>
  <cp:revision>7</cp:revision>
  <dcterms:created xsi:type="dcterms:W3CDTF">2026-06-20T20:25:00Z</dcterms:created>
  <dcterms:modified xsi:type="dcterms:W3CDTF">2026-06-21T10:16:55Z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63EC2DD3D41345748408562976847B25_12</vt:lpwstr>
  </property>
</Properties>
</file>