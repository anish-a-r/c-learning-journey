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3"/>
    <p:sldId id="260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microsoft.com/office/2007/relationships/hdphoto" Target="../media/image4.wdp"/><Relationship Id="rId7" Type="http://schemas.openxmlformats.org/officeDocument/2006/relationships/image" Target="../media/image3.png"/><Relationship Id="rId6" Type="http://schemas.openxmlformats.org/officeDocument/2006/relationships/tags" Target="../tags/tag3.xml"/><Relationship Id="rId5" Type="http://schemas.microsoft.com/office/2007/relationships/hdphoto" Target="../media/image2.wdp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tags" Target="../tags/tag11.xml"/><Relationship Id="rId18" Type="http://schemas.openxmlformats.org/officeDocument/2006/relationships/tags" Target="../tags/tag10.xml"/><Relationship Id="rId17" Type="http://schemas.openxmlformats.org/officeDocument/2006/relationships/tags" Target="../tags/tag9.xml"/><Relationship Id="rId16" Type="http://schemas.openxmlformats.org/officeDocument/2006/relationships/tags" Target="../tags/tag8.xml"/><Relationship Id="rId15" Type="http://schemas.openxmlformats.org/officeDocument/2006/relationships/tags" Target="../tags/tag7.xml"/><Relationship Id="rId14" Type="http://schemas.openxmlformats.org/officeDocument/2006/relationships/image" Target="../media/image6.png"/><Relationship Id="rId13" Type="http://schemas.openxmlformats.org/officeDocument/2006/relationships/tags" Target="../tags/tag6.xml"/><Relationship Id="rId12" Type="http://schemas.openxmlformats.org/officeDocument/2006/relationships/tags" Target="../tags/tag5.xml"/><Relationship Id="rId11" Type="http://schemas.openxmlformats.org/officeDocument/2006/relationships/image" Target="NULL" TargetMode="External"/><Relationship Id="rId10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2"/>
            </p:custDataLst>
          </p:nvPr>
        </p:nvSpPr>
        <p:spPr>
          <a:xfrm flipH="1" flipV="1">
            <a:off x="-1270" y="0"/>
            <a:ext cx="12191365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44000">
                <a:schemeClr val="accent2">
                  <a:lumMod val="60000"/>
                  <a:lumOff val="40000"/>
                </a:schemeClr>
              </a:gs>
              <a:gs pos="81000">
                <a:schemeClr val="bg1"/>
              </a:gs>
            </a:gsLst>
            <a:lin ang="195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77775" y="5528120"/>
            <a:ext cx="2414225" cy="134733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85267" y="0"/>
            <a:ext cx="4956478" cy="4895512"/>
          </a:xfrm>
          <a:prstGeom prst="rect">
            <a:avLst/>
          </a:prstGeom>
        </p:spPr>
      </p:pic>
      <p:pic>
        <p:nvPicPr>
          <p:cNvPr id="9" name="@png2x_01_封面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 r:link="rId11"/>
          <a:stretch>
            <a:fillRect/>
          </a:stretch>
        </p:blipFill>
        <p:spPr>
          <a:xfrm>
            <a:off x="0" y="18514"/>
            <a:ext cx="89789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1013460" y="2205355"/>
            <a:ext cx="10515600" cy="211518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1"/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0551" y="5785011"/>
            <a:ext cx="2560542" cy="1072989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5"/>
            </p:custDataLst>
          </p:nvPr>
        </p:nvSpPr>
        <p:spPr>
          <a:xfrm>
            <a:off x="1019175" y="819150"/>
            <a:ext cx="10515600" cy="1371600"/>
          </a:xfrm>
        </p:spPr>
        <p:txBody>
          <a:bodyPr anchor="b">
            <a:normAutofit/>
          </a:bodyPr>
          <a:lstStyle>
            <a:lvl1pPr marL="0" indent="0" algn="just">
              <a:lnSpc>
                <a:spcPct val="100000"/>
              </a:lnSpc>
              <a:buNone/>
              <a:defRPr sz="2000">
                <a:latin typeface="+mj-lt"/>
                <a:sym typeface="Arial" panose="020B0604020202020204" pitchFamily="34" charset="0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1015681" y="4327980"/>
            <a:ext cx="10525125" cy="1745274"/>
          </a:xfrm>
        </p:spPr>
        <p:txBody>
          <a:bodyPr anchor="t">
            <a:normAutofit/>
          </a:bodyPr>
          <a:lstStyle>
            <a:lvl1pPr marL="0" indent="0" algn="just">
              <a:lnSpc>
                <a:spcPct val="100000"/>
              </a:lnSpc>
              <a:buNone/>
              <a:defRPr sz="20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8"/>
            <p:custDataLst>
              <p:tags r:id="rId1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23" name="页脚占位符 22"/>
          <p:cNvSpPr>
            <a:spLocks noGrp="1"/>
          </p:cNvSpPr>
          <p:nvPr>
            <p:ph type="ftr" sz="quarter" idx="19"/>
            <p:custDataLst>
              <p:tags r:id="rId1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5" name="灯片编号占位符 24"/>
          <p:cNvSpPr>
            <a:spLocks noGrp="1"/>
          </p:cNvSpPr>
          <p:nvPr>
            <p:ph type="sldNum" sz="quarter" idx="20"/>
            <p:custDataLst>
              <p:tags r:id="rId1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image" Target="../media/image8.png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image" Target="NULL" TargetMode="External"/><Relationship Id="rId4" Type="http://schemas.openxmlformats.org/officeDocument/2006/relationships/image" Target="../media/image7.png"/><Relationship Id="rId3" Type="http://schemas.openxmlformats.org/officeDocument/2006/relationships/tags" Target="../tags/tag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@png2x_01_正文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r:link="rId5"/>
          <a:stretch>
            <a:fillRect/>
          </a:stretch>
        </p:blipFill>
        <p:spPr>
          <a:xfrm>
            <a:off x="5140007" y="317"/>
            <a:ext cx="4434840" cy="4425315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6"/>
            </p:custDataLst>
          </p:nvPr>
        </p:nvSpPr>
        <p:spPr>
          <a:xfrm>
            <a:off x="-635" y="-635"/>
            <a:ext cx="12190730" cy="3536950"/>
          </a:xfrm>
          <a:prstGeom prst="rect">
            <a:avLst/>
          </a:prstGeom>
          <a:gradFill>
            <a:gsLst>
              <a:gs pos="0">
                <a:schemeClr val="accent1"/>
              </a:gs>
              <a:gs pos="49000">
                <a:schemeClr val="accent4">
                  <a:lumMod val="67000"/>
                  <a:lumOff val="3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40847" y="-727"/>
            <a:ext cx="2121592" cy="1883827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857250" y="509270"/>
            <a:ext cx="10515600" cy="61404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0" name="任意多边形 9"/>
          <p:cNvSpPr/>
          <p:nvPr userDrawn="1">
            <p:custDataLst>
              <p:tags r:id="rId10"/>
            </p:custDataLst>
          </p:nvPr>
        </p:nvSpPr>
        <p:spPr>
          <a:xfrm>
            <a:off x="1270" y="1122680"/>
            <a:ext cx="12190730" cy="5735955"/>
          </a:xfrm>
          <a:custGeom>
            <a:avLst/>
            <a:gdLst>
              <a:gd name="adj" fmla="val 837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198" h="8977">
                <a:moveTo>
                  <a:pt x="861" y="0"/>
                </a:moveTo>
                <a:lnTo>
                  <a:pt x="18337" y="0"/>
                </a:lnTo>
                <a:cubicBezTo>
                  <a:pt x="18813" y="0"/>
                  <a:pt x="19198" y="385"/>
                  <a:pt x="19198" y="861"/>
                </a:cubicBezTo>
                <a:lnTo>
                  <a:pt x="19198" y="8977"/>
                </a:lnTo>
                <a:lnTo>
                  <a:pt x="0" y="8977"/>
                </a:lnTo>
                <a:lnTo>
                  <a:pt x="0" y="861"/>
                </a:lnTo>
                <a:cubicBezTo>
                  <a:pt x="0" y="385"/>
                  <a:pt x="385" y="0"/>
                  <a:pt x="86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838200" y="1406525"/>
            <a:ext cx="10515600" cy="477139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1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bg1"/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1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13460" y="2205355"/>
            <a:ext cx="10515600" cy="2115185"/>
          </a:xfrm>
        </p:spPr>
        <p:txBody>
          <a:bodyPr anchor="ctr" anchorCtr="0"/>
          <a:lstStyle/>
          <a:p>
            <a:r>
              <a:rPr lang="en-US" dirty="0"/>
              <a:t>PRINT STATEMENTS P-2</a:t>
            </a:r>
            <a:endParaRPr lang="en-US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1015681" y="4327980"/>
            <a:ext cx="10525125" cy="1745274"/>
          </a:xfrm>
        </p:spPr>
        <p:txBody>
          <a:bodyPr/>
          <a:lstStyle/>
          <a:p>
            <a:r>
              <a:rPr lang="en-US"/>
              <a:t>ANISH A R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200"/>
              <a:t> Width (Field Space Allocator)</a:t>
            </a:r>
            <a:endParaRPr lang="en-US" altLang="en-US" sz="320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20000"/>
          </a:bodyPr>
          <a:p>
            <a:r>
              <a:rPr lang="en-US" altLang="en-US" sz="2400">
                <a:solidFill>
                  <a:schemeClr val="tx1"/>
                </a:solidFill>
                <a:cs typeface="Arial" panose="020B0604020202020204" pitchFamily="34" charset="0"/>
              </a:rPr>
              <a:t>The Width defines the minimum number of character spaces the output will occupy on the screen. Think of it as creating an invisible text box.</a:t>
            </a:r>
            <a:endParaRPr lang="en-US" alt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altLang="en-US" sz="2400">
                <a:solidFill>
                  <a:schemeClr val="tx1"/>
                </a:solidFill>
                <a:cs typeface="Arial" panose="020B0604020202020204" pitchFamily="34" charset="0"/>
              </a:rPr>
              <a:t>The Core Rules:</a:t>
            </a:r>
            <a:endParaRPr lang="en-US" alt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914400" lvl="1" indent="-457200">
              <a:buAutoNum type="arabicPeriod"/>
            </a:pPr>
            <a:r>
              <a:rPr lang="en-US" altLang="en-US" sz="2400">
                <a:solidFill>
                  <a:schemeClr val="tx1"/>
                </a:solidFill>
                <a:cs typeface="Arial" panose="020B0604020202020204" pitchFamily="34" charset="0"/>
              </a:rPr>
              <a:t>Right-Aligned by Default: </a:t>
            </a:r>
            <a:endParaRPr lang="en-US" alt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371600" lvl="3" indent="457200">
              <a:buNone/>
            </a:pPr>
            <a:r>
              <a:rPr lang="en-US" altLang="en-US" sz="2400">
                <a:solidFill>
                  <a:schemeClr val="tx1"/>
                </a:solidFill>
                <a:cs typeface="Arial" panose="020B0604020202020204" pitchFamily="34" charset="0"/>
              </a:rPr>
              <a:t>If the value is shorter than the width, empty spaces are added to the left side.</a:t>
            </a:r>
            <a:endParaRPr lang="en-US" alt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914400" lvl="1" indent="-457200">
              <a:buAutoNum type="arabicPeriod"/>
            </a:pPr>
            <a:r>
              <a:rPr lang="en-US" altLang="en-US" sz="2400">
                <a:solidFill>
                  <a:schemeClr val="tx1"/>
                </a:solidFill>
                <a:cs typeface="Arial" panose="020B0604020202020204" pitchFamily="34" charset="0"/>
              </a:rPr>
              <a:t>No Truncation: </a:t>
            </a:r>
            <a:endParaRPr lang="en-US" alt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371600" lvl="3" indent="457200">
              <a:buNone/>
            </a:pPr>
            <a:r>
              <a:rPr lang="en-US" altLang="en-US" sz="2400">
                <a:solidFill>
                  <a:schemeClr val="tx1"/>
                </a:solidFill>
                <a:cs typeface="Arial" panose="020B0604020202020204" pitchFamily="34" charset="0"/>
              </a:rPr>
              <a:t>If the value is longer than your specified width, printf will not cut it off. It will automatically expand the box to show the whole value.</a:t>
            </a:r>
            <a:endParaRPr lang="en-US" altLang="en-US" sz="24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509270"/>
            <a:ext cx="10515600" cy="614045"/>
          </a:xfrm>
        </p:spPr>
        <p:txBody>
          <a:bodyPr/>
          <a:p>
            <a:r>
              <a:rPr lang="en-US" sz="3200"/>
              <a:t>EXAMPLE</a:t>
            </a:r>
            <a:endParaRPr lang="en-US" sz="320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anchor="ctr" anchorCtr="0">
            <a:noAutofit/>
          </a:bodyPr>
          <a:p>
            <a:pPr marL="0" indent="0">
              <a:buNone/>
            </a:pPr>
            <a:r>
              <a:rPr lang="en-US" altLang="en-US" sz="2400"/>
              <a:t>int num = 42;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printf("|%5d|\n", num);   // Outputs: |   42|  (Pads 3 spaces to the left)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printf("|%1d|\n", num);   // Outputs: |42|     (Width is 1, but value is 2 chars; expands!)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200"/>
              <a:t>Precision (The Fractional &amp; Size Cap)</a:t>
            </a:r>
            <a:endParaRPr lang="en-US" sz="320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2400"/>
              <a:t>Precision is always written with a period (.) followed by a number or an asterisk. Its behavior changes completely depending on the data type you are printing:</a:t>
            </a:r>
            <a:endParaRPr lang="en-US" altLang="en-US" sz="2400"/>
          </a:p>
          <a:p>
            <a:r>
              <a:rPr lang="en-US" altLang="en-US" sz="2400" b="1"/>
              <a:t>Behavior Matrix:</a:t>
            </a:r>
            <a:endParaRPr lang="en-US" altLang="en-US" sz="2400" b="1"/>
          </a:p>
          <a:p>
            <a:r>
              <a:rPr lang="en-US" altLang="en-US" sz="2400"/>
              <a:t>For Floating Points (%f, %lf): Dictates exactly how many digits appear after the decimal point. It automatically rounds the last digit.</a:t>
            </a:r>
            <a:endParaRPr lang="en-US" altLang="en-US" sz="2400"/>
          </a:p>
          <a:p>
            <a:r>
              <a:rPr lang="en-US" altLang="en-US" sz="2400"/>
              <a:t>For Strings (%s): Acts as a maximum ceiling limit. It will forcefully truncate (cut off) any characters beyond this number.’</a:t>
            </a:r>
            <a:endParaRPr lang="en-US" altLang="en-US" sz="2400"/>
          </a:p>
          <a:p>
            <a:r>
              <a:rPr lang="en-US" altLang="en-US" sz="2400"/>
              <a:t>For Integers (%d, %x): Dictates the minimum number of digits to print. If the number has fewer digits, it adds leading zeros to the left.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/>
              <a:t>EXAMPLE</a:t>
            </a:r>
            <a:endParaRPr lang="en-US" sz="320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400"/>
              <a:t>double pi = 3.141592;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char name[] = "ComputerScience";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int ID = 7;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printf("%.2f\n", pi);    // Outputs: 3.14   (Rounds to 2 decimal places)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printf("%.5s\n", name);  // Outputs: Compu  (Cuts off after 5 characters)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printf("%.4d\n", ID);    // Outputs: 0007   (Forces integer to be 4 digits long)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57250" y="341630"/>
            <a:ext cx="10515600" cy="614045"/>
          </a:xfrm>
        </p:spPr>
        <p:txBody>
          <a:bodyPr/>
          <a:p>
            <a:r>
              <a:rPr lang="en-US" altLang="en-US" sz="3200"/>
              <a:t>Length Modifiers (Data Size Checkers)</a:t>
            </a:r>
            <a:endParaRPr lang="en-US" altLang="en-US" sz="320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8200" y="955675"/>
            <a:ext cx="10515600" cy="4771390"/>
          </a:xfrm>
        </p:spPr>
        <p:txBody>
          <a:bodyPr>
            <a:noAutofit/>
          </a:bodyPr>
          <a:p>
            <a:r>
              <a:rPr lang="en-US" altLang="en-US" sz="2400"/>
              <a:t>When you pass variables to printf, the machine passes them as raw chunks of bytes in memory. A Length Modifier tells printf precisely how many bytes to read so it doesn't accidentally read neighboring data.</a:t>
            </a:r>
            <a:endParaRPr lang="en-US" altLang="en-US" sz="2400"/>
          </a:p>
          <a:p>
            <a:r>
              <a:rPr lang="en-US" altLang="en-US" sz="2400"/>
              <a:t>hh (1 Byte): Instructs printf to evaluate the parameter as a standard char size integer.</a:t>
            </a:r>
            <a:endParaRPr lang="en-US" altLang="en-US" sz="2400"/>
          </a:p>
          <a:p>
            <a:r>
              <a:rPr lang="en-US" altLang="en-US" sz="2400"/>
              <a:t>h (2 Bytes): Instructs printf to evaluate the parameter as a short int.</a:t>
            </a:r>
            <a:endParaRPr lang="en-US" altLang="en-US" sz="2400"/>
          </a:p>
          <a:p>
            <a:r>
              <a:rPr lang="en-US" altLang="en-US" sz="2400"/>
              <a:t>l (4 or 8 Bytes): Instructs printf to read a standard long int or a double float value.</a:t>
            </a:r>
            <a:endParaRPr lang="en-US" altLang="en-US" sz="2400"/>
          </a:p>
          <a:p>
            <a:r>
              <a:rPr lang="en-US" altLang="en-US" sz="2400"/>
              <a:t>ll (8 Bytes): Instructs printf to read a massive long long int.</a:t>
            </a:r>
            <a:endParaRPr lang="en-US" altLang="en-US" sz="2400"/>
          </a:p>
          <a:p>
            <a:r>
              <a:rPr lang="en-US" altLang="en-US" sz="2400"/>
              <a:t>z (System Word Size): Instructs printf to read a variable of type size_t (commonly used for sizes returned by the sizeof operator).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/>
              <a:t>EXAMPLE</a:t>
            </a:r>
            <a:endParaRPr lang="en-US" sz="320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anchor="ctr" anchorCtr="0"/>
          <a:p>
            <a:pPr marL="0" indent="0">
              <a:buNone/>
            </a:pPr>
            <a:r>
              <a:rPr lang="en-US" altLang="en-US" sz="2400"/>
              <a:t>long long giant_number = 9223372036854775807LL;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size_t array_size = 512;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printf("%lld\n", giant_number); // Reads all 8 bytes safely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printf("%zu\n", array_size);    // Reads standard unsigned size_t safely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8200" y="1043305"/>
            <a:ext cx="10515600" cy="4771390"/>
          </a:xfrm>
        </p:spPr>
        <p:txBody>
          <a:bodyPr anchor="ctr" anchorCtr="0"/>
          <a:p>
            <a:pPr marL="0" indent="0" algn="ctr">
              <a:buNone/>
            </a:pPr>
            <a:r>
              <a:rPr lang="en-US" sz="8000"/>
              <a:t>THANK YOU</a:t>
            </a:r>
            <a:endParaRPr lang="en-US" sz="80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802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802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21"/>
  <p:tag name="KSO_WM_TEMPLATE_THUMBS_INDEX" val="1、9"/>
  <p:tag name="KSO_WM_SPECIAL_SOURCE" val="bdnull"/>
</p:tagLst>
</file>

<file path=ppt/tags/tag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21_1*a*1"/>
  <p:tag name="KSO_WM_TEMPLATE_CATEGORY" val="custom"/>
  <p:tag name="KSO_WM_TEMPLATE_INDEX" val="20238021"/>
  <p:tag name="KSO_WM_UNIT_LAYERLEVEL" val="1"/>
  <p:tag name="KSO_WM_TAG_VERSION" val="3.0"/>
  <p:tag name="KSO_WM_BEAUTIFY_FLAG" val="#wm#"/>
  <p:tag name="KSO_WM_UNIT_PRESET_TEXT" val="The title goes here"/>
</p:tagLst>
</file>

<file path=ppt/tags/tag23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8021_1*f*4"/>
  <p:tag name="KSO_WM_TEMPLATE_CATEGORY" val="custom"/>
  <p:tag name="KSO_WM_TEMPLATE_INDEX" val="20238021"/>
  <p:tag name="KSO_WM_UNIT_LAYERLEVEL" val="1"/>
  <p:tag name="KSO_WM_TAG_VERSION" val="3.0"/>
  <p:tag name="KSO_WM_BEAUTIFY_FLAG" val="#wm#"/>
  <p:tag name="KSO_WM_UNIT_PRESET_TEXT" val="Name"/>
</p:tagLst>
</file>

<file path=ppt/tags/tag24.xml><?xml version="1.0" encoding="utf-8"?>
<p:tagLst xmlns:p="http://schemas.openxmlformats.org/presentationml/2006/main">
  <p:tag name="KSO_WM_SLIDE_ID" val="custom20238021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021"/>
  <p:tag name="KSO_WM_SLIDE_LAYOUT" val="a_b_f"/>
  <p:tag name="KSO_WM_SLIDE_LAYOUT_CNT" val="1_1_1"/>
  <p:tag name="KSO_WM_SLIDE_TYPE" val="title"/>
  <p:tag name="KSO_WM_SLIDE_SUBTYPE" val="pureTxt"/>
  <p:tag name="KSO_WM_TEMPLATE_THUMBS_INDEX" val="1、9"/>
  <p:tag name="KSO_WM_SPECIAL_SOURCE" val="bdnull"/>
</p:tagLst>
</file>

<file path=ppt/tags/tag25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1"/>
</p:tagLst>
</file>

<file path=ppt/tags/tag26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1"/>
</p:tagLst>
</file>

<file path=ppt/tags/tag27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1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1"/>
</p:tagLst>
</file>

<file path=ppt/tags/tag29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1"/>
</p:tagLst>
</file>

<file path=ppt/tags/tag30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1"/>
</p:tagLst>
</file>

<file path=ppt/tags/tag31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1"/>
</p:tagLst>
</file>

<file path=ppt/theme/theme1.xml><?xml version="1.0" encoding="utf-8"?>
<a:theme xmlns:a="http://schemas.openxmlformats.org/drawingml/2006/main" name="Office Theme">
  <a:themeElements>
    <a:clrScheme name="自定义 164">
      <a:dk1>
        <a:srgbClr val="000000"/>
      </a:dk1>
      <a:lt1>
        <a:srgbClr val="FFFFFF"/>
      </a:lt1>
      <a:dk2>
        <a:srgbClr val="000F3A"/>
      </a:dk2>
      <a:lt2>
        <a:srgbClr val="FFFFFF"/>
      </a:lt2>
      <a:accent1>
        <a:srgbClr val="2457D5"/>
      </a:accent1>
      <a:accent2>
        <a:srgbClr val="00B97D"/>
      </a:accent2>
      <a:accent3>
        <a:srgbClr val="DDC64F"/>
      </a:accent3>
      <a:accent4>
        <a:srgbClr val="2FC0EE"/>
      </a:accent4>
      <a:accent5>
        <a:srgbClr val="602FEE"/>
      </a:accent5>
      <a:accent6>
        <a:srgbClr val="89B900"/>
      </a:accent6>
      <a:hlink>
        <a:srgbClr val="304FFE"/>
      </a:hlink>
      <a:folHlink>
        <a:srgbClr val="492067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2465</Words>
  <Application>WPS Presentation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Inter Bold</vt:lpstr>
      <vt:lpstr>Inter</vt:lpstr>
      <vt:lpstr>Arial Black</vt:lpstr>
      <vt:lpstr>Office Theme</vt:lpstr>
      <vt:lpstr>The title goes here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PRINT STATEMENTS P-2</dc:title>
  <dc:creator/>
  <cp:lastModifiedBy>chatbotislive</cp:lastModifiedBy>
  <cp:revision>1</cp:revision>
  <dcterms:created xsi:type="dcterms:W3CDTF">2026-06-23T19:01:40Z</dcterms:created>
  <dcterms:modified xsi:type="dcterms:W3CDTF">2026-06-23T19:01:40Z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761D3EFAD67F45649AEA240523E18314_12</vt:lpwstr>
  </property>
</Properties>
</file>